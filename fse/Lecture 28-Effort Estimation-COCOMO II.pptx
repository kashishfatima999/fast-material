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5" r:id="rId25"/>
    <p:sldId id="296" r:id="rId26"/>
    <p:sldId id="297" r:id="rId27"/>
    <p:sldId id="298" r:id="rId28"/>
    <p:sldId id="299" r:id="rId29"/>
    <p:sldId id="300" r:id="rId30"/>
  </p:sldIdLst>
  <p:sldSz cy="6858000" cx="9144000"/>
  <p:notesSz cx="9144000" cy="6858000"/>
  <p:defaultTextStyle>
    <a:defPPr>
      <a:defRPr kern="0"/>
    </a:def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tableStyles" Target="tableStyle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3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44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45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46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47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4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9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1" sz="4100" i="0">
                <a:solidFill>
                  <a:srgbClr val="46464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730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1" sz="4800" i="0">
                <a:solidFill>
                  <a:srgbClr val="46464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731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732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1048733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00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7429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lstStyle>
            <a:lvl1pPr>
              <a:defRPr b="1" sz="4100" i="0">
                <a:solidFill>
                  <a:srgbClr val="46464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591" name="Holder 3"/>
          <p:cNvSpPr>
            <a:spLocks noGrp="1"/>
          </p:cNvSpPr>
          <p:nvPr>
            <p:ph type="body" idx="1"/>
          </p:nvPr>
        </p:nvSpPr>
        <p:spPr/>
        <p:txBody>
          <a:bodyPr bIns="0" lIns="0" rIns="0" tIns="0"/>
          <a:lstStyle>
            <a:lvl1pPr>
              <a:defRPr b="1" sz="4800" i="0">
                <a:solidFill>
                  <a:srgbClr val="46464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592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93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1048594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00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7429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4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lstStyle>
            <a:lvl1pPr>
              <a:defRPr b="1" sz="4100" i="0">
                <a:solidFill>
                  <a:srgbClr val="46464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735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736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737" name="Holder 5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738" name="Holder 6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1048739" name="Holder 7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00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7429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lstStyle>
            <a:lvl1pPr>
              <a:defRPr b="1" sz="4100" i="0">
                <a:solidFill>
                  <a:srgbClr val="46464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585" name="Holder 3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86" name="Holder 4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1048587" name="Holder 5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00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7429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0" name="Holder 2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741" name="Holder 3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1048742" name="Holder 4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00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7429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image" Target="../media/image1.png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bg object 16"/>
          <p:cNvSpPr/>
          <p:nvPr/>
        </p:nvSpPr>
        <p:spPr>
          <a:xfrm>
            <a:off x="499272" y="5944936"/>
            <a:ext cx="4897755" cy="913130"/>
          </a:xfrm>
          <a:custGeom>
            <a:avLst/>
            <a:ahLst/>
            <a:rect l="l" t="t" r="r" b="b"/>
            <a:pathLst>
              <a:path w="4897755" h="913129">
                <a:moveTo>
                  <a:pt x="85612" y="21332"/>
                </a:moveTo>
                <a:lnTo>
                  <a:pt x="0" y="5466"/>
                </a:lnTo>
                <a:lnTo>
                  <a:pt x="660" y="0"/>
                </a:lnTo>
                <a:lnTo>
                  <a:pt x="85612" y="21332"/>
                </a:lnTo>
                <a:close/>
              </a:path>
              <a:path w="4897755" h="913129">
                <a:moveTo>
                  <a:pt x="4897392" y="913064"/>
                </a:moveTo>
                <a:lnTo>
                  <a:pt x="3636764" y="913064"/>
                </a:lnTo>
                <a:lnTo>
                  <a:pt x="85612" y="21332"/>
                </a:lnTo>
                <a:lnTo>
                  <a:pt x="4897392" y="913064"/>
                </a:lnTo>
                <a:close/>
              </a:path>
            </a:pathLst>
          </a:custGeom>
          <a:solidFill>
            <a:srgbClr val="9BCADC">
              <a:alpha val="39999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77" name="bg object 17"/>
          <p:cNvSpPr/>
          <p:nvPr/>
        </p:nvSpPr>
        <p:spPr>
          <a:xfrm>
            <a:off x="485716" y="5939011"/>
            <a:ext cx="3652520" cy="919480"/>
          </a:xfrm>
          <a:custGeom>
            <a:avLst/>
            <a:ahLst/>
            <a:rect l="l" t="t" r="r" b="b"/>
            <a:pathLst>
              <a:path w="3652520" h="919479">
                <a:moveTo>
                  <a:pt x="3651910" y="918989"/>
                </a:moveTo>
                <a:lnTo>
                  <a:pt x="2868876" y="918989"/>
                </a:lnTo>
                <a:lnTo>
                  <a:pt x="7920" y="6349"/>
                </a:lnTo>
                <a:lnTo>
                  <a:pt x="0" y="0"/>
                </a:lnTo>
                <a:lnTo>
                  <a:pt x="3651910" y="918989"/>
                </a:lnTo>
                <a:close/>
              </a:path>
            </a:pathLst>
          </a:custGeom>
          <a:solidFill>
            <a:srgbClr val="000000"/>
          </a:solidFill>
        </p:spPr>
        <p:txBody>
          <a:bodyPr bIns="0" lIns="0" rIns="0" rtlCol="0" tIns="0" wrap="square"/>
          <a:p/>
        </p:txBody>
      </p:sp>
      <p:pic>
        <p:nvPicPr>
          <p:cNvPr id="2097152" name="bg object 18"/>
          <p:cNvPicPr>
            <a:picLocks/>
          </p:cNvPicPr>
          <p:nvPr/>
        </p:nvPicPr>
        <p:blipFill>
          <a:blip xmlns:r="http://schemas.openxmlformats.org/officeDocument/2006/relationships" r:embed="rId6" cstate="print"/>
          <a:stretch>
            <a:fillRect/>
          </a:stretch>
        </p:blipFill>
        <p:spPr>
          <a:xfrm>
            <a:off x="0" y="5793172"/>
            <a:ext cx="3351821" cy="1064827"/>
          </a:xfrm>
          <a:prstGeom prst="rect"/>
        </p:spPr>
      </p:pic>
      <p:sp>
        <p:nvSpPr>
          <p:cNvPr id="1048578" name="bg object 19"/>
          <p:cNvSpPr/>
          <p:nvPr/>
        </p:nvSpPr>
        <p:spPr>
          <a:xfrm>
            <a:off x="0" y="5790679"/>
            <a:ext cx="3352165" cy="1067435"/>
          </a:xfrm>
          <a:custGeom>
            <a:avLst/>
            <a:ahLst/>
            <a:rect l="l" t="t" r="r" b="b"/>
            <a:pathLst>
              <a:path w="3352165" h="1067434">
                <a:moveTo>
                  <a:pt x="0" y="0"/>
                </a:moveTo>
                <a:lnTo>
                  <a:pt x="3351925" y="1067320"/>
                </a:lnTo>
              </a:path>
            </a:pathLst>
          </a:custGeom>
          <a:ln w="12049">
            <a:solidFill>
              <a:srgbClr val="93C5D8"/>
            </a:solidFill>
          </a:ln>
        </p:spPr>
        <p:txBody>
          <a:bodyPr bIns="0" lIns="0" rIns="0" rtlCol="0" tIns="0" wrap="square"/>
          <a:p/>
        </p:txBody>
      </p:sp>
      <p:sp>
        <p:nvSpPr>
          <p:cNvPr id="1048579" name="Holder 2"/>
          <p:cNvSpPr>
            <a:spLocks noGrp="1"/>
          </p:cNvSpPr>
          <p:nvPr>
            <p:ph type="title"/>
          </p:nvPr>
        </p:nvSpPr>
        <p:spPr>
          <a:xfrm>
            <a:off x="457200" y="-148437"/>
            <a:ext cx="7922259" cy="1581556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1" sz="4100" i="0">
                <a:solidFill>
                  <a:srgbClr val="46464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580" name="Holder 3"/>
          <p:cNvSpPr>
            <a:spLocks noGrp="1"/>
          </p:cNvSpPr>
          <p:nvPr>
            <p:ph type="body" idx="1"/>
          </p:nvPr>
        </p:nvSpPr>
        <p:spPr>
          <a:xfrm>
            <a:off x="759737" y="2044138"/>
            <a:ext cx="7624524" cy="1488439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1" sz="4800" i="0">
                <a:solidFill>
                  <a:srgbClr val="46464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581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/>
        </p:spPr>
        <p:txBody>
          <a:bodyPr bIns="0" lIns="0" rIns="0" tIns="0" wrap="square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82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/>
        </p:spPr>
        <p:txBody>
          <a:bodyPr bIns="0" lIns="0" rIns="0" tIns="0" wrap="square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1048583" name="Holder 6"/>
          <p:cNvSpPr>
            <a:spLocks noGrp="1"/>
          </p:cNvSpPr>
          <p:nvPr>
            <p:ph type="sldNum" sz="quarter" idx="7"/>
          </p:nvPr>
        </p:nvSpPr>
        <p:spPr>
          <a:xfrm>
            <a:off x="8385274" y="6469562"/>
            <a:ext cx="266998" cy="223302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0" sz="100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7429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4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object 2"/>
          <p:cNvSpPr txBox="1">
            <a:spLocks noGrp="1"/>
          </p:cNvSpPr>
          <p:nvPr>
            <p:ph type="title"/>
          </p:nvPr>
        </p:nvSpPr>
        <p:spPr>
          <a:xfrm>
            <a:off x="1249875" y="2069592"/>
            <a:ext cx="6637020" cy="1841501"/>
          </a:xfrm>
          <a:prstGeom prst="rect"/>
        </p:spPr>
        <p:txBody>
          <a:bodyPr bIns="0" lIns="0" rIns="0" rtlCol="0" tIns="12700" vert="horz" wrap="square">
            <a:spAutoFit/>
          </a:bodyPr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380"/>
              <a:t>Planning</a:t>
            </a:r>
            <a:r>
              <a:rPr dirty="0" spc="5"/>
              <a:t> </a:t>
            </a:r>
            <a:r>
              <a:rPr dirty="0" spc="415"/>
              <a:t>and</a:t>
            </a:r>
            <a:r>
              <a:rPr dirty="0" spc="10"/>
              <a:t> </a:t>
            </a:r>
            <a:r>
              <a:rPr dirty="0" spc="490"/>
              <a:t>Managing </a:t>
            </a:r>
            <a:r>
              <a:rPr dirty="0" spc="229"/>
              <a:t>the</a:t>
            </a:r>
            <a:r>
              <a:rPr dirty="0" spc="-5"/>
              <a:t> </a:t>
            </a:r>
            <a:r>
              <a:rPr dirty="0" spc="150"/>
              <a:t>Project:</a:t>
            </a:r>
            <a:r>
              <a:rPr dirty="0"/>
              <a:t> </a:t>
            </a:r>
            <a:r>
              <a:rPr dirty="0" spc="295"/>
              <a:t>Effort </a:t>
            </a:r>
            <a:r>
              <a:rPr dirty="0" spc="345"/>
              <a:t>Estimation</a:t>
            </a:r>
          </a:p>
        </p:txBody>
      </p:sp>
      <p:sp>
        <p:nvSpPr>
          <p:cNvPr id="1048589" name="object 3" descr=""/>
          <p:cNvSpPr txBox="1"/>
          <p:nvPr/>
        </p:nvSpPr>
        <p:spPr>
          <a:xfrm>
            <a:off x="3357176" y="6454140"/>
            <a:ext cx="2428240" cy="3302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z="2000" spc="140">
                <a:solidFill>
                  <a:srgbClr val="464646"/>
                </a:solidFill>
                <a:latin typeface="Trebuchet MS"/>
                <a:cs typeface="Trebuchet MS"/>
              </a:rPr>
              <a:t>Dr.</a:t>
            </a:r>
            <a:r>
              <a:rPr b="1" dirty="0" sz="2000" spc="5">
                <a:solidFill>
                  <a:srgbClr val="464646"/>
                </a:solidFill>
                <a:latin typeface="Trebuchet MS"/>
                <a:cs typeface="Trebuchet MS"/>
              </a:rPr>
              <a:t> </a:t>
            </a:r>
            <a:r>
              <a:rPr b="1" dirty="0" sz="2000" spc="180">
                <a:solidFill>
                  <a:srgbClr val="464646"/>
                </a:solidFill>
                <a:latin typeface="Trebuchet MS"/>
                <a:cs typeface="Trebuchet MS"/>
              </a:rPr>
              <a:t>Zeeshan</a:t>
            </a:r>
            <a:r>
              <a:rPr b="1" dirty="0" sz="2000" spc="5">
                <a:solidFill>
                  <a:srgbClr val="464646"/>
                </a:solidFill>
                <a:latin typeface="Trebuchet MS"/>
                <a:cs typeface="Trebuchet MS"/>
              </a:rPr>
              <a:t> </a:t>
            </a:r>
            <a:r>
              <a:rPr b="1" dirty="0" sz="2000" spc="175">
                <a:solidFill>
                  <a:srgbClr val="464646"/>
                </a:solidFill>
                <a:latin typeface="Trebuchet MS"/>
                <a:cs typeface="Trebuchet MS"/>
              </a:rPr>
              <a:t>Rana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object 2" descr=""/>
          <p:cNvSpPr txBox="1"/>
          <p:nvPr/>
        </p:nvSpPr>
        <p:spPr>
          <a:xfrm>
            <a:off x="616677" y="1459484"/>
            <a:ext cx="7837170" cy="16891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indent="-279400" marL="291465" marR="5080">
              <a:lnSpc>
                <a:spcPct val="100000"/>
              </a:lnSpc>
              <a:spcBef>
                <a:spcPts val="100"/>
              </a:spcBef>
              <a:buClr>
                <a:srgbClr val="2DA2BE"/>
              </a:buClr>
              <a:buSzPct val="66666"/>
              <a:buChar char="□"/>
              <a:tabLst>
                <a:tab algn="l" pos="291465"/>
              </a:tabLst>
            </a:pPr>
            <a:r>
              <a:rPr dirty="0" sz="2700">
                <a:latin typeface="Lucida Sans Unicode"/>
                <a:cs typeface="Lucida Sans Unicode"/>
              </a:rPr>
              <a:t>Estimating</a:t>
            </a:r>
            <a:r>
              <a:rPr dirty="0" sz="2700" spc="-6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project</a:t>
            </a:r>
            <a:r>
              <a:rPr dirty="0" sz="2700" spc="-4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costs</a:t>
            </a:r>
            <a:r>
              <a:rPr dirty="0" sz="2700" spc="-4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is</a:t>
            </a:r>
            <a:r>
              <a:rPr dirty="0" sz="2700" spc="-4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one</a:t>
            </a:r>
            <a:r>
              <a:rPr dirty="0" sz="2700" spc="-4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of</a:t>
            </a:r>
            <a:r>
              <a:rPr dirty="0" sz="2700" spc="-4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the</a:t>
            </a:r>
            <a:r>
              <a:rPr dirty="0" sz="2700" spc="-45">
                <a:latin typeface="Lucida Sans Unicode"/>
                <a:cs typeface="Lucida Sans Unicode"/>
              </a:rPr>
              <a:t> </a:t>
            </a:r>
            <a:r>
              <a:rPr dirty="0" sz="2700" spc="-10">
                <a:latin typeface="Lucida Sans Unicode"/>
                <a:cs typeface="Lucida Sans Unicode"/>
              </a:rPr>
              <a:t>crucial </a:t>
            </a:r>
            <a:r>
              <a:rPr dirty="0" sz="2700">
                <a:latin typeface="Lucida Sans Unicode"/>
                <a:cs typeface="Lucida Sans Unicode"/>
              </a:rPr>
              <a:t>aspects</a:t>
            </a:r>
            <a:r>
              <a:rPr dirty="0" sz="2700" spc="-5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of</a:t>
            </a:r>
            <a:r>
              <a:rPr dirty="0" sz="2700" spc="-4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project</a:t>
            </a:r>
            <a:r>
              <a:rPr dirty="0" sz="2700" spc="-4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planning</a:t>
            </a:r>
            <a:r>
              <a:rPr dirty="0" sz="2700" spc="-4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and</a:t>
            </a:r>
            <a:r>
              <a:rPr dirty="0" sz="2700" spc="-45">
                <a:latin typeface="Lucida Sans Unicode"/>
                <a:cs typeface="Lucida Sans Unicode"/>
              </a:rPr>
              <a:t> </a:t>
            </a:r>
            <a:r>
              <a:rPr dirty="0" sz="2700" spc="-10">
                <a:latin typeface="Lucida Sans Unicode"/>
                <a:cs typeface="Lucida Sans Unicode"/>
              </a:rPr>
              <a:t>management</a:t>
            </a:r>
            <a:endParaRPr sz="2700">
              <a:latin typeface="Lucida Sans Unicode"/>
              <a:cs typeface="Lucida Sans Unicode"/>
            </a:endParaRPr>
          </a:p>
          <a:p>
            <a:pPr indent="-279400" marL="291465" marR="553720">
              <a:lnSpc>
                <a:spcPct val="100000"/>
              </a:lnSpc>
              <a:spcBef>
                <a:spcPts val="400"/>
              </a:spcBef>
              <a:buClr>
                <a:srgbClr val="2DA2BE"/>
              </a:buClr>
              <a:buSzPct val="66666"/>
              <a:buChar char="□"/>
              <a:tabLst>
                <a:tab algn="l" pos="291465"/>
              </a:tabLst>
            </a:pPr>
            <a:r>
              <a:rPr dirty="0" sz="2700">
                <a:latin typeface="Lucida Sans Unicode"/>
                <a:cs typeface="Lucida Sans Unicode"/>
              </a:rPr>
              <a:t>Estimating</a:t>
            </a:r>
            <a:r>
              <a:rPr dirty="0" sz="2700" spc="-3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cost</a:t>
            </a:r>
            <a:r>
              <a:rPr dirty="0" sz="2700" spc="-3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has</a:t>
            </a:r>
            <a:r>
              <a:rPr dirty="0" sz="2700" spc="-3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to</a:t>
            </a:r>
            <a:r>
              <a:rPr dirty="0" sz="2700" spc="-3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be</a:t>
            </a:r>
            <a:r>
              <a:rPr dirty="0" sz="2700" spc="-3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done</a:t>
            </a:r>
            <a:r>
              <a:rPr dirty="0" sz="2700" spc="-3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as</a:t>
            </a:r>
            <a:r>
              <a:rPr dirty="0" sz="2700" spc="-3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early</a:t>
            </a:r>
            <a:r>
              <a:rPr dirty="0" sz="2700" spc="-30">
                <a:latin typeface="Lucida Sans Unicode"/>
                <a:cs typeface="Lucida Sans Unicode"/>
              </a:rPr>
              <a:t> </a:t>
            </a:r>
            <a:r>
              <a:rPr dirty="0" sz="2700" spc="-25">
                <a:latin typeface="Lucida Sans Unicode"/>
                <a:cs typeface="Lucida Sans Unicode"/>
              </a:rPr>
              <a:t>as </a:t>
            </a:r>
            <a:r>
              <a:rPr dirty="0" sz="2700">
                <a:latin typeface="Lucida Sans Unicode"/>
                <a:cs typeface="Lucida Sans Unicode"/>
              </a:rPr>
              <a:t>possible</a:t>
            </a:r>
            <a:r>
              <a:rPr dirty="0" sz="2700" spc="-5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during</a:t>
            </a:r>
            <a:r>
              <a:rPr dirty="0" sz="2700" spc="-4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the</a:t>
            </a:r>
            <a:r>
              <a:rPr dirty="0" sz="2700" spc="-4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project</a:t>
            </a:r>
            <a:r>
              <a:rPr dirty="0" sz="2700" spc="-5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life</a:t>
            </a:r>
            <a:r>
              <a:rPr dirty="0" sz="2700" spc="-45">
                <a:latin typeface="Lucida Sans Unicode"/>
                <a:cs typeface="Lucida Sans Unicode"/>
              </a:rPr>
              <a:t> </a:t>
            </a:r>
            <a:r>
              <a:rPr dirty="0" sz="2700" spc="-10">
                <a:latin typeface="Lucida Sans Unicode"/>
                <a:cs typeface="Lucida Sans Unicode"/>
              </a:rPr>
              <a:t>cycle</a:t>
            </a:r>
            <a:endParaRPr sz="2700">
              <a:latin typeface="Lucida Sans Unicode"/>
              <a:cs typeface="Lucida Sans Unicode"/>
            </a:endParaRPr>
          </a:p>
        </p:txBody>
      </p:sp>
      <p:sp>
        <p:nvSpPr>
          <p:cNvPr id="1048596" name="object 3"/>
          <p:cNvSpPr txBox="1">
            <a:spLocks noGrp="1"/>
          </p:cNvSpPr>
          <p:nvPr>
            <p:ph type="title"/>
          </p:nvPr>
        </p:nvSpPr>
        <p:spPr>
          <a:xfrm>
            <a:off x="457200" y="-148437"/>
            <a:ext cx="7922259" cy="992321"/>
          </a:xfrm>
          <a:prstGeom prst="rect"/>
        </p:spPr>
        <p:txBody>
          <a:bodyPr bIns="0" lIns="0" rIns="0" rtlCol="0" tIns="382720" vert="horz" wrap="square">
            <a:spAutoFit/>
          </a:bodyPr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dirty="0" spc="305"/>
              <a:t>Effort</a:t>
            </a:r>
            <a:r>
              <a:rPr dirty="0" spc="15"/>
              <a:t> </a:t>
            </a:r>
            <a:r>
              <a:rPr dirty="0" spc="345"/>
              <a:t>Estimation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object 2"/>
          <p:cNvSpPr txBox="1">
            <a:spLocks noGrp="1"/>
          </p:cNvSpPr>
          <p:nvPr>
            <p:ph type="title"/>
          </p:nvPr>
        </p:nvSpPr>
        <p:spPr>
          <a:xfrm>
            <a:off x="457200" y="-148437"/>
            <a:ext cx="7922259" cy="1270927"/>
          </a:xfrm>
          <a:prstGeom prst="rect"/>
        </p:spPr>
        <p:txBody>
          <a:bodyPr bIns="0" lIns="0" rIns="0" rtlCol="0" tIns="661327" vert="horz" wrap="square">
            <a:spAutoFit/>
          </a:bodyPr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dirty="0" spc="465"/>
              <a:t>Types</a:t>
            </a:r>
            <a:r>
              <a:rPr dirty="0" spc="-5"/>
              <a:t> </a:t>
            </a:r>
            <a:r>
              <a:rPr dirty="0" spc="400"/>
              <a:t>of</a:t>
            </a:r>
            <a:r>
              <a:rPr dirty="0" spc="-5"/>
              <a:t> </a:t>
            </a:r>
            <a:r>
              <a:rPr dirty="0" spc="490"/>
              <a:t>Costs</a:t>
            </a:r>
          </a:p>
        </p:txBody>
      </p:sp>
      <p:sp>
        <p:nvSpPr>
          <p:cNvPr id="1048598" name="object 3" descr=""/>
          <p:cNvSpPr txBox="1"/>
          <p:nvPr/>
        </p:nvSpPr>
        <p:spPr>
          <a:xfrm>
            <a:off x="616677" y="1493011"/>
            <a:ext cx="7632700" cy="1739901"/>
          </a:xfrm>
          <a:prstGeom prst="rect"/>
        </p:spPr>
        <p:txBody>
          <a:bodyPr bIns="0" lIns="0" rIns="0" rtlCol="0" tIns="12700" vert="horz" wrap="square">
            <a:spAutoFit/>
          </a:bodyPr>
          <a:p>
            <a:pPr indent="-279400" marL="291465" marR="1185545">
              <a:lnSpc>
                <a:spcPct val="100000"/>
              </a:lnSpc>
              <a:spcBef>
                <a:spcPts val="100"/>
              </a:spcBef>
              <a:buClr>
                <a:srgbClr val="2DA2BE"/>
              </a:buClr>
              <a:buSzPct val="66666"/>
              <a:buChar char="□"/>
              <a:tabLst>
                <a:tab algn="l" pos="291465"/>
              </a:tabLst>
            </a:pPr>
            <a:r>
              <a:rPr dirty="0" sz="2700">
                <a:latin typeface="Lucida Sans Unicode"/>
                <a:cs typeface="Lucida Sans Unicode"/>
              </a:rPr>
              <a:t>Facilities:</a:t>
            </a:r>
            <a:r>
              <a:rPr dirty="0" sz="2700" spc="-5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hardware,</a:t>
            </a:r>
            <a:r>
              <a:rPr dirty="0" sz="2700" spc="-4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space,</a:t>
            </a:r>
            <a:r>
              <a:rPr dirty="0" sz="2700" spc="-40">
                <a:latin typeface="Lucida Sans Unicode"/>
                <a:cs typeface="Lucida Sans Unicode"/>
              </a:rPr>
              <a:t> </a:t>
            </a:r>
            <a:r>
              <a:rPr dirty="0" sz="2700" spc="-10">
                <a:latin typeface="Lucida Sans Unicode"/>
                <a:cs typeface="Lucida Sans Unicode"/>
              </a:rPr>
              <a:t>furniture, </a:t>
            </a:r>
            <a:r>
              <a:rPr dirty="0" sz="2700">
                <a:latin typeface="Lucida Sans Unicode"/>
                <a:cs typeface="Lucida Sans Unicode"/>
              </a:rPr>
              <a:t>telephone,</a:t>
            </a:r>
            <a:r>
              <a:rPr dirty="0" sz="2700" spc="-50">
                <a:latin typeface="Lucida Sans Unicode"/>
                <a:cs typeface="Lucida Sans Unicode"/>
              </a:rPr>
              <a:t> </a:t>
            </a:r>
            <a:r>
              <a:rPr dirty="0" sz="2700" spc="-20">
                <a:latin typeface="Lucida Sans Unicode"/>
                <a:cs typeface="Lucida Sans Unicode"/>
              </a:rPr>
              <a:t>etc.</a:t>
            </a:r>
            <a:endParaRPr sz="2700">
              <a:latin typeface="Lucida Sans Unicode"/>
              <a:cs typeface="Lucida Sans Unicode"/>
            </a:endParaRPr>
          </a:p>
          <a:p>
            <a:pPr indent="-278765" marL="291465">
              <a:lnSpc>
                <a:spcPct val="100000"/>
              </a:lnSpc>
              <a:spcBef>
                <a:spcPts val="400"/>
              </a:spcBef>
              <a:buClr>
                <a:srgbClr val="2DA2BE"/>
              </a:buClr>
              <a:buSzPct val="66666"/>
              <a:buChar char="□"/>
              <a:tabLst>
                <a:tab algn="l" pos="291465"/>
              </a:tabLst>
            </a:pPr>
            <a:r>
              <a:rPr dirty="0" sz="2700">
                <a:latin typeface="Lucida Sans Unicode"/>
                <a:cs typeface="Lucida Sans Unicode"/>
              </a:rPr>
              <a:t>Software</a:t>
            </a:r>
            <a:r>
              <a:rPr dirty="0" sz="2700" spc="-5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tools</a:t>
            </a:r>
            <a:r>
              <a:rPr dirty="0" sz="2700" spc="-4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for</a:t>
            </a:r>
            <a:r>
              <a:rPr dirty="0" sz="2700" spc="-5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designing</a:t>
            </a:r>
            <a:r>
              <a:rPr dirty="0" sz="2700" spc="-45">
                <a:latin typeface="Lucida Sans Unicode"/>
                <a:cs typeface="Lucida Sans Unicode"/>
              </a:rPr>
              <a:t> </a:t>
            </a:r>
            <a:r>
              <a:rPr dirty="0" sz="2700" spc="-10">
                <a:latin typeface="Lucida Sans Unicode"/>
                <a:cs typeface="Lucida Sans Unicode"/>
              </a:rPr>
              <a:t>software</a:t>
            </a:r>
            <a:endParaRPr sz="2700">
              <a:latin typeface="Lucida Sans Unicode"/>
              <a:cs typeface="Lucida Sans Unicode"/>
            </a:endParaRPr>
          </a:p>
          <a:p>
            <a:pPr indent="-278765" marL="291465">
              <a:lnSpc>
                <a:spcPct val="100000"/>
              </a:lnSpc>
              <a:spcBef>
                <a:spcPts val="400"/>
              </a:spcBef>
              <a:buClr>
                <a:srgbClr val="2DA2BE"/>
              </a:buClr>
              <a:buSzPct val="66666"/>
              <a:buChar char="□"/>
              <a:tabLst>
                <a:tab algn="l" pos="291465"/>
              </a:tabLst>
            </a:pPr>
            <a:r>
              <a:rPr dirty="0" sz="2700">
                <a:latin typeface="Lucida Sans Unicode"/>
                <a:cs typeface="Lucida Sans Unicode"/>
              </a:rPr>
              <a:t>Staff</a:t>
            </a:r>
            <a:r>
              <a:rPr dirty="0" sz="2700" spc="-5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(effort):</a:t>
            </a:r>
            <a:r>
              <a:rPr dirty="0" sz="2700" spc="-5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the</a:t>
            </a:r>
            <a:r>
              <a:rPr dirty="0" sz="2700" spc="-5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biggest</a:t>
            </a:r>
            <a:r>
              <a:rPr dirty="0" sz="2700" spc="-5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component</a:t>
            </a:r>
            <a:r>
              <a:rPr dirty="0" sz="2700" spc="-5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of</a:t>
            </a:r>
            <a:r>
              <a:rPr dirty="0" sz="2700" spc="-55">
                <a:latin typeface="Lucida Sans Unicode"/>
                <a:cs typeface="Lucida Sans Unicode"/>
              </a:rPr>
              <a:t> </a:t>
            </a:r>
            <a:r>
              <a:rPr dirty="0" sz="2700" spc="-20">
                <a:latin typeface="Lucida Sans Unicode"/>
                <a:cs typeface="Lucida Sans Unicode"/>
              </a:rPr>
              <a:t>cost</a:t>
            </a:r>
            <a:endParaRPr sz="2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object 2" descr=""/>
          <p:cNvSpPr txBox="1"/>
          <p:nvPr/>
        </p:nvSpPr>
        <p:spPr>
          <a:xfrm>
            <a:off x="616677" y="1460093"/>
            <a:ext cx="7571740" cy="2413634"/>
          </a:xfrm>
          <a:prstGeom prst="rect"/>
        </p:spPr>
        <p:txBody>
          <a:bodyPr bIns="0" lIns="0" rIns="0" rtlCol="0" tIns="59054" vert="horz" wrap="square">
            <a:spAutoFit/>
          </a:bodyPr>
          <a:p>
            <a:pPr indent="-279400" marL="291465" marR="5080">
              <a:lnSpc>
                <a:spcPts val="2920"/>
              </a:lnSpc>
              <a:spcBef>
                <a:spcPts val="464"/>
              </a:spcBef>
              <a:buClr>
                <a:srgbClr val="2DA2BE"/>
              </a:buClr>
              <a:buSzPct val="66666"/>
              <a:buChar char="□"/>
              <a:tabLst>
                <a:tab algn="l" pos="291465"/>
              </a:tabLst>
            </a:pPr>
            <a:r>
              <a:rPr dirty="0" sz="2700">
                <a:latin typeface="Lucida Sans Unicode"/>
                <a:cs typeface="Lucida Sans Unicode"/>
              </a:rPr>
              <a:t>S/W</a:t>
            </a:r>
            <a:r>
              <a:rPr dirty="0" sz="2700" spc="-5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cost</a:t>
            </a:r>
            <a:r>
              <a:rPr dirty="0" sz="2700" spc="-5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and</a:t>
            </a:r>
            <a:r>
              <a:rPr dirty="0" sz="2700" spc="-4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effort</a:t>
            </a:r>
            <a:r>
              <a:rPr dirty="0" sz="2700" spc="-5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estimation</a:t>
            </a:r>
            <a:r>
              <a:rPr dirty="0" sz="2700" spc="-4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will</a:t>
            </a:r>
            <a:r>
              <a:rPr dirty="0" sz="2700" spc="-5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never</a:t>
            </a:r>
            <a:r>
              <a:rPr dirty="0" sz="2700" spc="-45">
                <a:latin typeface="Lucida Sans Unicode"/>
                <a:cs typeface="Lucida Sans Unicode"/>
              </a:rPr>
              <a:t> </a:t>
            </a:r>
            <a:r>
              <a:rPr dirty="0" sz="2700" spc="-25">
                <a:latin typeface="Lucida Sans Unicode"/>
                <a:cs typeface="Lucida Sans Unicode"/>
              </a:rPr>
              <a:t>be </a:t>
            </a:r>
            <a:r>
              <a:rPr dirty="0" sz="2700">
                <a:latin typeface="Lucida Sans Unicode"/>
                <a:cs typeface="Lucida Sans Unicode"/>
              </a:rPr>
              <a:t>an</a:t>
            </a:r>
            <a:r>
              <a:rPr dirty="0" sz="2700" spc="-2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exact</a:t>
            </a:r>
            <a:r>
              <a:rPr dirty="0" sz="2700" spc="-15">
                <a:latin typeface="Lucida Sans Unicode"/>
                <a:cs typeface="Lucida Sans Unicode"/>
              </a:rPr>
              <a:t> </a:t>
            </a:r>
            <a:r>
              <a:rPr dirty="0" sz="2700" spc="-10">
                <a:latin typeface="Lucida Sans Unicode"/>
                <a:cs typeface="Lucida Sans Unicode"/>
              </a:rPr>
              <a:t>science</a:t>
            </a:r>
            <a:endParaRPr sz="2700">
              <a:latin typeface="Lucida Sans Unicode"/>
              <a:cs typeface="Lucida Sans Unicode"/>
            </a:endParaRPr>
          </a:p>
          <a:p>
            <a:pPr indent="-186055" lvl="1" marL="548005">
              <a:lnSpc>
                <a:spcPct val="100000"/>
              </a:lnSpc>
              <a:spcBef>
                <a:spcPts val="5"/>
              </a:spcBef>
              <a:buClr>
                <a:srgbClr val="2DA2BE"/>
              </a:buClr>
              <a:buFont typeface="Verdana"/>
              <a:buChar char="◦"/>
              <a:tabLst>
                <a:tab algn="l" pos="548005"/>
              </a:tabLst>
            </a:pPr>
            <a:r>
              <a:rPr dirty="0" sz="2300">
                <a:latin typeface="Lucida Sans Unicode"/>
                <a:cs typeface="Lucida Sans Unicode"/>
              </a:rPr>
              <a:t>Too</a:t>
            </a:r>
            <a:r>
              <a:rPr dirty="0" sz="2300" spc="-50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many</a:t>
            </a:r>
            <a:r>
              <a:rPr dirty="0" sz="2300" spc="-50">
                <a:latin typeface="Lucida Sans Unicode"/>
                <a:cs typeface="Lucida Sans Unicode"/>
              </a:rPr>
              <a:t> </a:t>
            </a:r>
            <a:r>
              <a:rPr dirty="0" sz="2300" spc="-10">
                <a:latin typeface="Lucida Sans Unicode"/>
                <a:cs typeface="Lucida Sans Unicode"/>
              </a:rPr>
              <a:t>variables</a:t>
            </a:r>
            <a:endParaRPr sz="2300">
              <a:latin typeface="Lucida Sans Unicode"/>
              <a:cs typeface="Lucida Sans Unicode"/>
            </a:endParaRPr>
          </a:p>
          <a:p>
            <a:pPr indent="-279400" lvl="2" marL="785495">
              <a:lnSpc>
                <a:spcPct val="100000"/>
              </a:lnSpc>
              <a:spcBef>
                <a:spcPts val="100"/>
              </a:spcBef>
              <a:buClr>
                <a:srgbClr val="DA1F28"/>
              </a:buClr>
              <a:buFont typeface="Arial MT"/>
              <a:buChar char="●"/>
              <a:tabLst>
                <a:tab algn="l" pos="785495"/>
              </a:tabLst>
            </a:pPr>
            <a:r>
              <a:rPr dirty="0" sz="2100" spc="-10">
                <a:latin typeface="Lucida Sans Unicode"/>
                <a:cs typeface="Lucida Sans Unicode"/>
              </a:rPr>
              <a:t>Human</a:t>
            </a:r>
            <a:endParaRPr sz="2100">
              <a:latin typeface="Lucida Sans Unicode"/>
              <a:cs typeface="Lucida Sans Unicode"/>
            </a:endParaRPr>
          </a:p>
          <a:p>
            <a:pPr indent="-279400" lvl="2" marL="785495">
              <a:lnSpc>
                <a:spcPct val="100000"/>
              </a:lnSpc>
              <a:spcBef>
                <a:spcPts val="100"/>
              </a:spcBef>
              <a:buClr>
                <a:srgbClr val="DA1F28"/>
              </a:buClr>
              <a:buFont typeface="Arial MT"/>
              <a:buChar char="●"/>
              <a:tabLst>
                <a:tab algn="l" pos="785495"/>
              </a:tabLst>
            </a:pPr>
            <a:r>
              <a:rPr dirty="0" sz="2100" spc="-10">
                <a:latin typeface="Lucida Sans Unicode"/>
                <a:cs typeface="Lucida Sans Unicode"/>
              </a:rPr>
              <a:t>Technical</a:t>
            </a:r>
            <a:endParaRPr sz="2100">
              <a:latin typeface="Lucida Sans Unicode"/>
              <a:cs typeface="Lucida Sans Unicode"/>
            </a:endParaRPr>
          </a:p>
          <a:p>
            <a:pPr indent="-279400" lvl="2" marL="785495">
              <a:lnSpc>
                <a:spcPct val="100000"/>
              </a:lnSpc>
              <a:spcBef>
                <a:spcPts val="95"/>
              </a:spcBef>
              <a:buClr>
                <a:srgbClr val="DA1F28"/>
              </a:buClr>
              <a:buFont typeface="Arial MT"/>
              <a:buChar char="●"/>
              <a:tabLst>
                <a:tab algn="l" pos="785495"/>
              </a:tabLst>
            </a:pPr>
            <a:r>
              <a:rPr dirty="0" sz="2100" spc="-10">
                <a:latin typeface="Lucida Sans Unicode"/>
                <a:cs typeface="Lucida Sans Unicode"/>
              </a:rPr>
              <a:t>Environmental</a:t>
            </a:r>
            <a:endParaRPr sz="2100">
              <a:latin typeface="Lucida Sans Unicode"/>
              <a:cs typeface="Lucida Sans Unicode"/>
            </a:endParaRPr>
          </a:p>
          <a:p>
            <a:pPr indent="-279400" lvl="2" marL="785495">
              <a:lnSpc>
                <a:spcPct val="100000"/>
              </a:lnSpc>
              <a:spcBef>
                <a:spcPts val="100"/>
              </a:spcBef>
              <a:buClr>
                <a:srgbClr val="DA1F28"/>
              </a:buClr>
              <a:buFont typeface="Arial MT"/>
              <a:buChar char="●"/>
              <a:tabLst>
                <a:tab algn="l" pos="785495"/>
              </a:tabLst>
            </a:pPr>
            <a:r>
              <a:rPr dirty="0" sz="2100" spc="-10">
                <a:latin typeface="Lucida Sans Unicode"/>
                <a:cs typeface="Lucida Sans Unicode"/>
              </a:rPr>
              <a:t>Political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1048600" name="object 3" descr=""/>
          <p:cNvSpPr txBox="1"/>
          <p:nvPr/>
        </p:nvSpPr>
        <p:spPr>
          <a:xfrm>
            <a:off x="8517771" y="6513194"/>
            <a:ext cx="96520" cy="1778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latin typeface="Arial MT"/>
                <a:cs typeface="Arial MT"/>
              </a:rPr>
              <a:t>4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48601" name="object 4"/>
          <p:cNvSpPr txBox="1">
            <a:spLocks noGrp="1"/>
          </p:cNvSpPr>
          <p:nvPr>
            <p:ph type="title"/>
          </p:nvPr>
        </p:nvSpPr>
        <p:spPr>
          <a:xfrm>
            <a:off x="457200" y="-148437"/>
            <a:ext cx="7922259" cy="1270927"/>
          </a:xfrm>
          <a:prstGeom prst="rect"/>
        </p:spPr>
        <p:txBody>
          <a:bodyPr bIns="0" lIns="0" rIns="0" rtlCol="0" tIns="661327" vert="horz" wrap="square">
            <a:spAutoFit/>
          </a:bodyPr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dirty="0" spc="290"/>
              <a:t>Software</a:t>
            </a:r>
            <a:r>
              <a:rPr dirty="0" spc="10"/>
              <a:t> </a:t>
            </a:r>
            <a:r>
              <a:rPr dirty="0" spc="195"/>
              <a:t>Project</a:t>
            </a:r>
            <a:r>
              <a:rPr dirty="0" spc="15"/>
              <a:t> </a:t>
            </a:r>
            <a:r>
              <a:rPr dirty="0" spc="345"/>
              <a:t>Estimation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object 2"/>
          <p:cNvSpPr txBox="1">
            <a:spLocks noGrp="1"/>
          </p:cNvSpPr>
          <p:nvPr>
            <p:ph type="title"/>
          </p:nvPr>
        </p:nvSpPr>
        <p:spPr>
          <a:xfrm>
            <a:off x="457200" y="-148437"/>
            <a:ext cx="7922259" cy="1490729"/>
          </a:xfrm>
          <a:prstGeom prst="rect"/>
        </p:spPr>
        <p:txBody>
          <a:bodyPr bIns="0" lIns="0" rIns="0" rtlCol="0" tIns="412204" vert="horz" wrap="square">
            <a:spAutoFit/>
          </a:bodyPr>
          <a:p>
            <a:pPr marL="85725" marR="5080">
              <a:lnSpc>
                <a:spcPct val="101099"/>
              </a:lnSpc>
              <a:spcBef>
                <a:spcPts val="90"/>
              </a:spcBef>
            </a:pPr>
            <a:r>
              <a:rPr dirty="0" sz="3650" spc="240"/>
              <a:t>Pre-</a:t>
            </a:r>
            <a:r>
              <a:rPr dirty="0" sz="3650" spc="229"/>
              <a:t>requisite</a:t>
            </a:r>
            <a:r>
              <a:rPr dirty="0" sz="3650" spc="25"/>
              <a:t> </a:t>
            </a:r>
            <a:r>
              <a:rPr dirty="0" sz="3650" spc="275"/>
              <a:t>to</a:t>
            </a:r>
            <a:r>
              <a:rPr dirty="0" sz="3650" spc="25"/>
              <a:t> </a:t>
            </a:r>
            <a:r>
              <a:rPr dirty="0" sz="3650" spc="355"/>
              <a:t>Estimating </a:t>
            </a:r>
            <a:r>
              <a:rPr dirty="0" sz="3650" spc="295"/>
              <a:t>Effort</a:t>
            </a:r>
            <a:endParaRPr sz="3650"/>
          </a:p>
        </p:txBody>
      </p:sp>
      <p:sp>
        <p:nvSpPr>
          <p:cNvPr id="1048605" name="object 3" descr=""/>
          <p:cNvSpPr txBox="1"/>
          <p:nvPr/>
        </p:nvSpPr>
        <p:spPr>
          <a:xfrm>
            <a:off x="616677" y="1493011"/>
            <a:ext cx="7259955" cy="12827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indent="-279400" marL="291465" marR="5080">
              <a:lnSpc>
                <a:spcPct val="100000"/>
              </a:lnSpc>
              <a:spcBef>
                <a:spcPts val="100"/>
              </a:spcBef>
              <a:buClr>
                <a:srgbClr val="2DA2BE"/>
              </a:buClr>
              <a:buSzPct val="66666"/>
              <a:buChar char="□"/>
              <a:tabLst>
                <a:tab algn="l" pos="291465"/>
              </a:tabLst>
            </a:pPr>
            <a:r>
              <a:rPr dirty="0" sz="2700">
                <a:latin typeface="Lucida Sans Unicode"/>
                <a:cs typeface="Lucida Sans Unicode"/>
              </a:rPr>
              <a:t>Understand</a:t>
            </a:r>
            <a:r>
              <a:rPr dirty="0" sz="2700" spc="-5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the</a:t>
            </a:r>
            <a:r>
              <a:rPr dirty="0" sz="2700" spc="-5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scope</a:t>
            </a:r>
            <a:r>
              <a:rPr dirty="0" sz="2700" spc="-5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of</a:t>
            </a:r>
            <a:r>
              <a:rPr dirty="0" sz="2700" spc="-5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the</a:t>
            </a:r>
            <a:r>
              <a:rPr dirty="0" sz="2700" spc="-5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project</a:t>
            </a:r>
            <a:r>
              <a:rPr dirty="0" sz="2700" spc="-5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to</a:t>
            </a:r>
            <a:r>
              <a:rPr dirty="0" sz="2700" spc="-50">
                <a:latin typeface="Lucida Sans Unicode"/>
                <a:cs typeface="Lucida Sans Unicode"/>
              </a:rPr>
              <a:t> </a:t>
            </a:r>
            <a:r>
              <a:rPr dirty="0" sz="2700" spc="-25">
                <a:latin typeface="Lucida Sans Unicode"/>
                <a:cs typeface="Lucida Sans Unicode"/>
              </a:rPr>
              <a:t>be </a:t>
            </a:r>
            <a:r>
              <a:rPr dirty="0" sz="2700" spc="-10">
                <a:latin typeface="Lucida Sans Unicode"/>
                <a:cs typeface="Lucida Sans Unicode"/>
              </a:rPr>
              <a:t>built</a:t>
            </a:r>
            <a:endParaRPr sz="2700">
              <a:latin typeface="Lucida Sans Unicode"/>
              <a:cs typeface="Lucida Sans Unicode"/>
            </a:endParaRPr>
          </a:p>
          <a:p>
            <a:pPr indent="-278765" marL="291465">
              <a:lnSpc>
                <a:spcPct val="100000"/>
              </a:lnSpc>
              <a:spcBef>
                <a:spcPts val="400"/>
              </a:spcBef>
              <a:buClr>
                <a:srgbClr val="2DA2BE"/>
              </a:buClr>
              <a:buSzPct val="66666"/>
              <a:buChar char="□"/>
              <a:tabLst>
                <a:tab algn="l" pos="291465"/>
              </a:tabLst>
            </a:pPr>
            <a:r>
              <a:rPr dirty="0" sz="2700">
                <a:latin typeface="Lucida Sans Unicode"/>
                <a:cs typeface="Lucida Sans Unicode"/>
              </a:rPr>
              <a:t>Generate</a:t>
            </a:r>
            <a:r>
              <a:rPr dirty="0" sz="2700" spc="-3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an</a:t>
            </a:r>
            <a:r>
              <a:rPr dirty="0" sz="2700" spc="-2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estimate</a:t>
            </a:r>
            <a:r>
              <a:rPr dirty="0" sz="2700" spc="-2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of</a:t>
            </a:r>
            <a:r>
              <a:rPr dirty="0" sz="2700" spc="-25">
                <a:latin typeface="Lucida Sans Unicode"/>
                <a:cs typeface="Lucida Sans Unicode"/>
              </a:rPr>
              <a:t> </a:t>
            </a:r>
            <a:r>
              <a:rPr dirty="0" sz="2700" spc="-20">
                <a:latin typeface="Lucida Sans Unicode"/>
                <a:cs typeface="Lucida Sans Unicode"/>
              </a:rPr>
              <a:t>size</a:t>
            </a:r>
            <a:endParaRPr sz="2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object 2" descr=""/>
          <p:cNvSpPr txBox="1"/>
          <p:nvPr/>
        </p:nvSpPr>
        <p:spPr>
          <a:xfrm>
            <a:off x="671413" y="2036165"/>
            <a:ext cx="6879590" cy="1598930"/>
          </a:xfrm>
          <a:prstGeom prst="rect"/>
        </p:spPr>
        <p:txBody>
          <a:bodyPr bIns="0" lIns="0" rIns="0" rtlCol="0" tIns="59054" vert="horz" wrap="square">
            <a:spAutoFit/>
          </a:bodyPr>
          <a:p>
            <a:pPr indent="-279400" marL="291465" marR="143510">
              <a:lnSpc>
                <a:spcPts val="2920"/>
              </a:lnSpc>
              <a:spcBef>
                <a:spcPts val="464"/>
              </a:spcBef>
              <a:buClr>
                <a:srgbClr val="2DA2BE"/>
              </a:buClr>
              <a:buSzPct val="66666"/>
              <a:buChar char="□"/>
              <a:tabLst>
                <a:tab algn="l" pos="291465"/>
              </a:tabLst>
            </a:pPr>
            <a:r>
              <a:rPr dirty="0" sz="2700">
                <a:latin typeface="Lucida Sans Unicode"/>
                <a:cs typeface="Lucida Sans Unicode"/>
              </a:rPr>
              <a:t>Sizing</a:t>
            </a:r>
            <a:r>
              <a:rPr dirty="0" sz="2700" spc="-6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represents</a:t>
            </a:r>
            <a:r>
              <a:rPr dirty="0" sz="2700" spc="-5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the</a:t>
            </a:r>
            <a:r>
              <a:rPr dirty="0" sz="2700" spc="-5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project</a:t>
            </a:r>
            <a:r>
              <a:rPr dirty="0" sz="2700" spc="-55">
                <a:latin typeface="Lucida Sans Unicode"/>
                <a:cs typeface="Lucida Sans Unicode"/>
              </a:rPr>
              <a:t> </a:t>
            </a:r>
            <a:r>
              <a:rPr dirty="0" sz="2700" spc="-10">
                <a:latin typeface="Lucida Sans Unicode"/>
                <a:cs typeface="Lucida Sans Unicode"/>
              </a:rPr>
              <a:t>planner’s </a:t>
            </a:r>
            <a:r>
              <a:rPr dirty="0" sz="2700">
                <a:latin typeface="Lucida Sans Unicode"/>
                <a:cs typeface="Lucida Sans Unicode"/>
              </a:rPr>
              <a:t>first</a:t>
            </a:r>
            <a:r>
              <a:rPr dirty="0" sz="2700" spc="-6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major</a:t>
            </a:r>
            <a:r>
              <a:rPr dirty="0" sz="2700" spc="-65">
                <a:latin typeface="Lucida Sans Unicode"/>
                <a:cs typeface="Lucida Sans Unicode"/>
              </a:rPr>
              <a:t> </a:t>
            </a:r>
            <a:r>
              <a:rPr dirty="0" sz="2700" spc="-10">
                <a:latin typeface="Lucida Sans Unicode"/>
                <a:cs typeface="Lucida Sans Unicode"/>
              </a:rPr>
              <a:t>challenge</a:t>
            </a:r>
            <a:endParaRPr sz="2700">
              <a:latin typeface="Lucida Sans Unicode"/>
              <a:cs typeface="Lucida Sans Unicode"/>
            </a:endParaRPr>
          </a:p>
          <a:p>
            <a:pPr indent="-279400" marL="291465" marR="5080">
              <a:lnSpc>
                <a:spcPts val="2920"/>
              </a:lnSpc>
              <a:spcBef>
                <a:spcPts val="390"/>
              </a:spcBef>
              <a:buClr>
                <a:srgbClr val="2DA2BE"/>
              </a:buClr>
              <a:buSzPct val="67272"/>
              <a:buFont typeface="Arial"/>
              <a:buChar char="□"/>
              <a:tabLst>
                <a:tab algn="l" pos="291465"/>
              </a:tabLst>
            </a:pPr>
            <a:r>
              <a:rPr dirty="0" sz="2750" i="1" spc="80">
                <a:latin typeface="Trebuchet MS"/>
                <a:cs typeface="Trebuchet MS"/>
              </a:rPr>
              <a:t>Size</a:t>
            </a:r>
            <a:r>
              <a:rPr dirty="0" sz="2750" i="1" spc="-20">
                <a:latin typeface="Trebuchet MS"/>
                <a:cs typeface="Trebuchet MS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refers</a:t>
            </a:r>
            <a:r>
              <a:rPr dirty="0" sz="2700" spc="-4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to</a:t>
            </a:r>
            <a:r>
              <a:rPr dirty="0" sz="2700" spc="-4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a</a:t>
            </a:r>
            <a:r>
              <a:rPr dirty="0" sz="2700" spc="-4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quantifiable</a:t>
            </a:r>
            <a:r>
              <a:rPr dirty="0" sz="2700" spc="-4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outcome</a:t>
            </a:r>
            <a:r>
              <a:rPr dirty="0" sz="2700" spc="-50">
                <a:latin typeface="Lucida Sans Unicode"/>
                <a:cs typeface="Lucida Sans Unicode"/>
              </a:rPr>
              <a:t> </a:t>
            </a:r>
            <a:r>
              <a:rPr dirty="0" sz="2700" spc="-25">
                <a:latin typeface="Lucida Sans Unicode"/>
                <a:cs typeface="Lucida Sans Unicode"/>
              </a:rPr>
              <a:t>of </a:t>
            </a:r>
            <a:r>
              <a:rPr dirty="0" sz="2700">
                <a:latin typeface="Lucida Sans Unicode"/>
                <a:cs typeface="Lucida Sans Unicode"/>
              </a:rPr>
              <a:t>the</a:t>
            </a:r>
            <a:r>
              <a:rPr dirty="0" sz="2700" spc="-7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s/w</a:t>
            </a:r>
            <a:r>
              <a:rPr dirty="0" sz="2700" spc="-7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project</a:t>
            </a:r>
            <a:r>
              <a:rPr dirty="0" sz="2700" spc="-7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(e.g.</a:t>
            </a:r>
            <a:r>
              <a:rPr dirty="0" sz="2700" spc="-7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LOC</a:t>
            </a:r>
            <a:r>
              <a:rPr dirty="0" sz="2700" spc="-7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and/or</a:t>
            </a:r>
            <a:r>
              <a:rPr dirty="0" sz="2700" spc="-65">
                <a:latin typeface="Lucida Sans Unicode"/>
                <a:cs typeface="Lucida Sans Unicode"/>
              </a:rPr>
              <a:t> </a:t>
            </a:r>
            <a:r>
              <a:rPr dirty="0" sz="2700" spc="-25">
                <a:latin typeface="Lucida Sans Unicode"/>
                <a:cs typeface="Lucida Sans Unicode"/>
              </a:rPr>
              <a:t>FP)</a:t>
            </a:r>
            <a:endParaRPr sz="2700">
              <a:latin typeface="Lucida Sans Unicode"/>
              <a:cs typeface="Lucida Sans Unicode"/>
            </a:endParaRPr>
          </a:p>
        </p:txBody>
      </p:sp>
      <p:sp>
        <p:nvSpPr>
          <p:cNvPr id="1048610" name="object 4" descr=""/>
          <p:cNvSpPr txBox="1"/>
          <p:nvPr/>
        </p:nvSpPr>
        <p:spPr>
          <a:xfrm>
            <a:off x="7463671" y="5702108"/>
            <a:ext cx="160020" cy="140336"/>
          </a:xfrm>
          <a:prstGeom prst="rect"/>
        </p:spPr>
        <p:txBody>
          <a:bodyPr bIns="0" lIns="0" rIns="0" rtlCol="0" tIns="635" vert="horz" wrap="square">
            <a:spAutoFit/>
          </a:bodyPr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z="1000" spc="-50">
                <a:latin typeface="Arial MT"/>
                <a:cs typeface="Arial MT"/>
              </a:rPr>
              <a:t>8</a:t>
            </a:fld>
            <a:endParaRPr sz="1000">
              <a:latin typeface="Arial MT"/>
              <a:cs typeface="Arial MT"/>
            </a:endParaRPr>
          </a:p>
        </p:txBody>
      </p:sp>
      <p:sp>
        <p:nvSpPr>
          <p:cNvPr id="1048611" name="object 3"/>
          <p:cNvSpPr txBox="1">
            <a:spLocks noGrp="1"/>
          </p:cNvSpPr>
          <p:nvPr>
            <p:ph type="title"/>
          </p:nvPr>
        </p:nvSpPr>
        <p:spPr>
          <a:xfrm>
            <a:off x="457200" y="-148437"/>
            <a:ext cx="7922259" cy="1270927"/>
          </a:xfrm>
          <a:prstGeom prst="rect"/>
        </p:spPr>
        <p:txBody>
          <a:bodyPr bIns="0" lIns="0" rIns="0" rtlCol="0" tIns="661327" vert="horz" wrap="square">
            <a:spAutoFit/>
          </a:bodyPr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dirty="0" spc="395"/>
              <a:t>Estimating</a:t>
            </a:r>
            <a:r>
              <a:rPr dirty="0" spc="-5"/>
              <a:t> </a:t>
            </a:r>
            <a:r>
              <a:rPr dirty="0" spc="229"/>
              <a:t>Size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object 2"/>
          <p:cNvSpPr txBox="1">
            <a:spLocks noGrp="1"/>
          </p:cNvSpPr>
          <p:nvPr>
            <p:ph type="title"/>
          </p:nvPr>
        </p:nvSpPr>
        <p:spPr>
          <a:xfrm>
            <a:off x="457200" y="-148437"/>
            <a:ext cx="7922259" cy="1270927"/>
          </a:xfrm>
          <a:prstGeom prst="rect"/>
        </p:spPr>
        <p:txBody>
          <a:bodyPr bIns="0" lIns="0" rIns="0" rtlCol="0" tIns="661327" vert="horz" wrap="square">
            <a:spAutoFit/>
          </a:bodyPr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dirty="0" spc="395"/>
              <a:t>Estimating</a:t>
            </a:r>
            <a:r>
              <a:rPr dirty="0" spc="-10"/>
              <a:t> </a:t>
            </a:r>
            <a:r>
              <a:rPr dirty="0" spc="250"/>
              <a:t>Size</a:t>
            </a:r>
            <a:r>
              <a:rPr dirty="0" spc="-5"/>
              <a:t> </a:t>
            </a:r>
            <a:r>
              <a:rPr dirty="0" spc="415"/>
              <a:t>and</a:t>
            </a:r>
            <a:r>
              <a:rPr dirty="0" spc="-5"/>
              <a:t> </a:t>
            </a:r>
            <a:r>
              <a:rPr dirty="0" spc="295"/>
              <a:t>Effort</a:t>
            </a:r>
          </a:p>
        </p:txBody>
      </p:sp>
      <p:sp>
        <p:nvSpPr>
          <p:cNvPr id="1048613" name="object 3" descr=""/>
          <p:cNvSpPr txBox="1"/>
          <p:nvPr/>
        </p:nvSpPr>
        <p:spPr>
          <a:xfrm>
            <a:off x="616677" y="1493011"/>
            <a:ext cx="7695565" cy="84836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indent="-279400" marL="291465" marR="5080">
              <a:lnSpc>
                <a:spcPct val="100000"/>
              </a:lnSpc>
              <a:spcBef>
                <a:spcPts val="100"/>
              </a:spcBef>
              <a:buClr>
                <a:srgbClr val="2DA2BE"/>
              </a:buClr>
              <a:buSzPct val="66666"/>
              <a:buChar char="□"/>
              <a:tabLst>
                <a:tab algn="l" pos="291465"/>
              </a:tabLst>
            </a:pPr>
            <a:r>
              <a:rPr dirty="0" sz="2700">
                <a:latin typeface="Lucida Sans Unicode"/>
                <a:cs typeface="Lucida Sans Unicode"/>
              </a:rPr>
              <a:t>Example</a:t>
            </a:r>
            <a:r>
              <a:rPr dirty="0" sz="2700" spc="-4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of</a:t>
            </a:r>
            <a:r>
              <a:rPr dirty="0" sz="2700" spc="-4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baseline</a:t>
            </a:r>
            <a:r>
              <a:rPr dirty="0" sz="2700" spc="-40">
                <a:latin typeface="Lucida Sans Unicode"/>
                <a:cs typeface="Lucida Sans Unicode"/>
              </a:rPr>
              <a:t> </a:t>
            </a:r>
            <a:r>
              <a:rPr dirty="0" sz="2700" spc="-10">
                <a:latin typeface="Lucida Sans Unicode"/>
                <a:cs typeface="Lucida Sans Unicode"/>
              </a:rPr>
              <a:t>productivity</a:t>
            </a:r>
            <a:r>
              <a:rPr dirty="0" sz="2700" spc="-4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metrics</a:t>
            </a:r>
            <a:r>
              <a:rPr dirty="0" sz="2700" spc="-45">
                <a:latin typeface="Lucida Sans Unicode"/>
                <a:cs typeface="Lucida Sans Unicode"/>
              </a:rPr>
              <a:t> </a:t>
            </a:r>
            <a:r>
              <a:rPr dirty="0" sz="2700" spc="-25">
                <a:latin typeface="Lucida Sans Unicode"/>
                <a:cs typeface="Lucida Sans Unicode"/>
              </a:rPr>
              <a:t>are </a:t>
            </a:r>
            <a:r>
              <a:rPr dirty="0" sz="2700">
                <a:latin typeface="Lucida Sans Unicode"/>
                <a:cs typeface="Lucida Sans Unicode"/>
              </a:rPr>
              <a:t>LOC/pm</a:t>
            </a:r>
            <a:r>
              <a:rPr dirty="0" sz="2700" spc="-8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or</a:t>
            </a:r>
            <a:r>
              <a:rPr dirty="0" sz="2700" spc="-75">
                <a:latin typeface="Lucida Sans Unicode"/>
                <a:cs typeface="Lucida Sans Unicode"/>
              </a:rPr>
              <a:t> </a:t>
            </a:r>
            <a:r>
              <a:rPr dirty="0" sz="2700" spc="-10">
                <a:latin typeface="Lucida Sans Unicode"/>
                <a:cs typeface="Lucida Sans Unicode"/>
              </a:rPr>
              <a:t>FP/pm</a:t>
            </a:r>
            <a:endParaRPr sz="2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object 2"/>
          <p:cNvSpPr txBox="1">
            <a:spLocks noGrp="1"/>
          </p:cNvSpPr>
          <p:nvPr>
            <p:ph type="title"/>
          </p:nvPr>
        </p:nvSpPr>
        <p:spPr>
          <a:xfrm>
            <a:off x="457200" y="-148437"/>
            <a:ext cx="7922259" cy="1270927"/>
          </a:xfrm>
          <a:prstGeom prst="rect"/>
        </p:spPr>
        <p:txBody>
          <a:bodyPr bIns="0" lIns="0" rIns="0" rtlCol="0" tIns="661327" vert="horz" wrap="square">
            <a:spAutoFit/>
          </a:bodyPr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dirty="0" spc="470"/>
              <a:t>An</a:t>
            </a:r>
            <a:r>
              <a:rPr dirty="0" spc="-5"/>
              <a:t> </a:t>
            </a:r>
            <a:r>
              <a:rPr dirty="0" spc="285"/>
              <a:t>Example</a:t>
            </a:r>
          </a:p>
        </p:txBody>
      </p:sp>
      <p:sp>
        <p:nvSpPr>
          <p:cNvPr id="1048615" name="object 5" descr=""/>
          <p:cNvSpPr txBox="1"/>
          <p:nvPr/>
        </p:nvSpPr>
        <p:spPr>
          <a:xfrm>
            <a:off x="8748000" y="6576819"/>
            <a:ext cx="230504" cy="140335"/>
          </a:xfrm>
          <a:prstGeom prst="rect"/>
        </p:spPr>
        <p:txBody>
          <a:bodyPr bIns="0" lIns="0" rIns="0" rtlCol="0" tIns="635" vert="horz" wrap="square">
            <a:spAutoFit/>
          </a:bodyPr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z="1000" spc="-25">
                <a:latin typeface="Arial MT"/>
                <a:cs typeface="Arial MT"/>
              </a:rPr>
              <a:t>10</a:t>
            </a:fld>
            <a:endParaRPr sz="1000">
              <a:latin typeface="Arial MT"/>
              <a:cs typeface="Arial MT"/>
            </a:endParaRPr>
          </a:p>
        </p:txBody>
      </p:sp>
      <p:graphicFrame>
        <p:nvGraphicFramePr>
          <p:cNvPr id="4194304" name="object 3" descr=""/>
          <p:cNvGraphicFramePr>
            <a:graphicFrameLocks noGrp="1"/>
          </p:cNvGraphicFramePr>
          <p:nvPr/>
        </p:nvGraphicFramePr>
        <p:xfrm>
          <a:off x="1528762" y="2043113"/>
          <a:ext cx="5876925" cy="2600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4800"/>
                <a:gridCol w="1657350"/>
              </a:tblGrid>
              <a:tr h="296545">
                <a:tc>
                  <a:txBody>
                    <a:bodyPr/>
                    <a:p>
                      <a:pPr marL="6667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b="1" dirty="0" sz="1500" spc="-10">
                          <a:latin typeface="Arial"/>
                          <a:cs typeface="Arial"/>
                        </a:rPr>
                        <a:t>Software</a:t>
                      </a:r>
                      <a:r>
                        <a:rPr b="1" dirty="0" sz="1500" spc="-25">
                          <a:latin typeface="Arial"/>
                          <a:cs typeface="Arial"/>
                        </a:rPr>
                        <a:t> </a:t>
                      </a:r>
                      <a:r>
                        <a:rPr b="1" dirty="0" sz="1500" spc="-10">
                          <a:latin typeface="Arial"/>
                          <a:cs typeface="Arial"/>
                        </a:rPr>
                        <a:t>Module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6667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b="1" dirty="0" sz="1500" spc="-10">
                          <a:latin typeface="Arial"/>
                          <a:cs typeface="Arial"/>
                        </a:rPr>
                        <a:t>Estimated</a:t>
                      </a:r>
                      <a:r>
                        <a:rPr b="1" dirty="0" sz="1500" spc="-30">
                          <a:latin typeface="Arial"/>
                          <a:cs typeface="Arial"/>
                        </a:rPr>
                        <a:t> </a:t>
                      </a:r>
                      <a:r>
                        <a:rPr b="1" dirty="0" sz="1500" spc="-25">
                          <a:latin typeface="Arial"/>
                          <a:cs typeface="Arial"/>
                        </a:rPr>
                        <a:t>LOC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8130">
                <a:tc>
                  <a:txBody>
                    <a:bodyPr/>
                    <a:p>
                      <a:pPr marL="6667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500">
                          <a:latin typeface="Arial MT"/>
                          <a:cs typeface="Arial MT"/>
                        </a:rPr>
                        <a:t>User</a:t>
                      </a:r>
                      <a:r>
                        <a:rPr dirty="0" sz="15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latin typeface="Arial MT"/>
                          <a:cs typeface="Arial MT"/>
                        </a:rPr>
                        <a:t>interface</a:t>
                      </a:r>
                      <a:r>
                        <a:rPr dirty="0" sz="15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5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latin typeface="Arial MT"/>
                          <a:cs typeface="Arial MT"/>
                        </a:rPr>
                        <a:t>control</a:t>
                      </a:r>
                      <a:r>
                        <a:rPr dirty="0" sz="15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latin typeface="Arial MT"/>
                          <a:cs typeface="Arial MT"/>
                        </a:rPr>
                        <a:t>facilities</a:t>
                      </a:r>
                      <a:r>
                        <a:rPr dirty="0" sz="15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-10">
                          <a:latin typeface="Arial MT"/>
                          <a:cs typeface="Arial MT"/>
                        </a:rPr>
                        <a:t>(UICF)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209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marL="6667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500" spc="-10">
                          <a:latin typeface="Arial MT"/>
                          <a:cs typeface="Arial MT"/>
                        </a:rPr>
                        <a:t>2,300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66700">
                <a:tc>
                  <a:txBody>
                    <a:bodyPr/>
                    <a:p>
                      <a:pPr marL="6667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500" spc="-40">
                          <a:latin typeface="Arial MT"/>
                          <a:cs typeface="Arial MT"/>
                        </a:rPr>
                        <a:t>Two-</a:t>
                      </a:r>
                      <a:r>
                        <a:rPr dirty="0" sz="1500" spc="-10">
                          <a:latin typeface="Arial MT"/>
                          <a:cs typeface="Arial MT"/>
                        </a:rPr>
                        <a:t>dimensional</a:t>
                      </a:r>
                      <a:r>
                        <a:rPr dirty="0" sz="15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latin typeface="Arial MT"/>
                          <a:cs typeface="Arial MT"/>
                        </a:rPr>
                        <a:t>geometric</a:t>
                      </a:r>
                      <a:r>
                        <a:rPr dirty="0" sz="15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latin typeface="Arial MT"/>
                          <a:cs typeface="Arial MT"/>
                        </a:rPr>
                        <a:t>analysis</a:t>
                      </a:r>
                      <a:r>
                        <a:rPr dirty="0" sz="15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-10">
                          <a:latin typeface="Arial MT"/>
                          <a:cs typeface="Arial MT"/>
                        </a:rPr>
                        <a:t>(2DGA)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6667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500" spc="-10">
                          <a:latin typeface="Arial MT"/>
                          <a:cs typeface="Arial MT"/>
                        </a:rPr>
                        <a:t>5,300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66700">
                <a:tc>
                  <a:txBody>
                    <a:bodyPr/>
                    <a:p>
                      <a:pPr marL="6667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500" spc="-20">
                          <a:latin typeface="Arial MT"/>
                          <a:cs typeface="Arial MT"/>
                        </a:rPr>
                        <a:t>Three-</a:t>
                      </a:r>
                      <a:r>
                        <a:rPr dirty="0" sz="1500" spc="-10">
                          <a:latin typeface="Arial MT"/>
                          <a:cs typeface="Arial MT"/>
                        </a:rPr>
                        <a:t>dimensional</a:t>
                      </a:r>
                      <a:r>
                        <a:rPr dirty="0" sz="15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latin typeface="Arial MT"/>
                          <a:cs typeface="Arial MT"/>
                        </a:rPr>
                        <a:t>geometric</a:t>
                      </a:r>
                      <a:r>
                        <a:rPr dirty="0" sz="15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latin typeface="Arial MT"/>
                          <a:cs typeface="Arial MT"/>
                        </a:rPr>
                        <a:t>analysis</a:t>
                      </a:r>
                      <a:r>
                        <a:rPr dirty="0" sz="15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-10">
                          <a:latin typeface="Arial MT"/>
                          <a:cs typeface="Arial MT"/>
                        </a:rPr>
                        <a:t>(3DGA)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6667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500" spc="-10">
                          <a:latin typeface="Arial MT"/>
                          <a:cs typeface="Arial MT"/>
                        </a:rPr>
                        <a:t>6,800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66700">
                <a:tc>
                  <a:txBody>
                    <a:bodyPr/>
                    <a:p>
                      <a:pPr marL="6667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500" spc="-10">
                          <a:latin typeface="Arial MT"/>
                          <a:cs typeface="Arial MT"/>
                        </a:rPr>
                        <a:t>Database</a:t>
                      </a:r>
                      <a:r>
                        <a:rPr dirty="0" sz="15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-10">
                          <a:latin typeface="Arial MT"/>
                          <a:cs typeface="Arial MT"/>
                        </a:rPr>
                        <a:t>management</a:t>
                      </a:r>
                      <a:r>
                        <a:rPr dirty="0" sz="15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-10">
                          <a:latin typeface="Arial MT"/>
                          <a:cs typeface="Arial MT"/>
                        </a:rPr>
                        <a:t>(DBM)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6667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500" spc="-10">
                          <a:latin typeface="Arial MT"/>
                          <a:cs typeface="Arial MT"/>
                        </a:rPr>
                        <a:t>3,350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66700">
                <a:tc>
                  <a:txBody>
                    <a:bodyPr/>
                    <a:p>
                      <a:pPr marL="6667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500">
                          <a:latin typeface="Arial MT"/>
                          <a:cs typeface="Arial MT"/>
                        </a:rPr>
                        <a:t>Computer</a:t>
                      </a:r>
                      <a:r>
                        <a:rPr dirty="0" sz="15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latin typeface="Arial MT"/>
                          <a:cs typeface="Arial MT"/>
                        </a:rPr>
                        <a:t>graphics</a:t>
                      </a:r>
                      <a:r>
                        <a:rPr dirty="0" sz="15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latin typeface="Arial MT"/>
                          <a:cs typeface="Arial MT"/>
                        </a:rPr>
                        <a:t>display</a:t>
                      </a:r>
                      <a:r>
                        <a:rPr dirty="0" sz="15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latin typeface="Arial MT"/>
                          <a:cs typeface="Arial MT"/>
                        </a:rPr>
                        <a:t>facilities</a:t>
                      </a:r>
                      <a:r>
                        <a:rPr dirty="0" sz="15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-10">
                          <a:latin typeface="Arial MT"/>
                          <a:cs typeface="Arial MT"/>
                        </a:rPr>
                        <a:t>(CGDF)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6667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500" spc="-10">
                          <a:latin typeface="Arial MT"/>
                          <a:cs typeface="Arial MT"/>
                        </a:rPr>
                        <a:t>4,950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66700">
                <a:tc>
                  <a:txBody>
                    <a:bodyPr/>
                    <a:p>
                      <a:pPr marL="6667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500" spc="-10">
                          <a:latin typeface="Arial MT"/>
                          <a:cs typeface="Arial MT"/>
                        </a:rPr>
                        <a:t>Peripheral</a:t>
                      </a:r>
                      <a:r>
                        <a:rPr dirty="0" sz="15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latin typeface="Arial MT"/>
                          <a:cs typeface="Arial MT"/>
                        </a:rPr>
                        <a:t>control</a:t>
                      </a:r>
                      <a:r>
                        <a:rPr dirty="0" sz="15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latin typeface="Arial MT"/>
                          <a:cs typeface="Arial MT"/>
                        </a:rPr>
                        <a:t>function</a:t>
                      </a:r>
                      <a:r>
                        <a:rPr dirty="0" sz="15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-10">
                          <a:latin typeface="Arial MT"/>
                          <a:cs typeface="Arial MT"/>
                        </a:rPr>
                        <a:t>(PCF)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6667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500" spc="-10">
                          <a:latin typeface="Arial MT"/>
                          <a:cs typeface="Arial MT"/>
                        </a:rPr>
                        <a:t>2,100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95605">
                <a:tc>
                  <a:txBody>
                    <a:bodyPr/>
                    <a:p>
                      <a:pPr marL="6667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500">
                          <a:latin typeface="Arial MT"/>
                          <a:cs typeface="Arial MT"/>
                        </a:rPr>
                        <a:t>Design</a:t>
                      </a:r>
                      <a:r>
                        <a:rPr dirty="0" sz="15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latin typeface="Arial MT"/>
                          <a:cs typeface="Arial MT"/>
                        </a:rPr>
                        <a:t>analysis</a:t>
                      </a:r>
                      <a:r>
                        <a:rPr dirty="0" sz="15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latin typeface="Arial MT"/>
                          <a:cs typeface="Arial MT"/>
                        </a:rPr>
                        <a:t>modules</a:t>
                      </a:r>
                      <a:r>
                        <a:rPr dirty="0" sz="15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-10">
                          <a:latin typeface="Arial MT"/>
                          <a:cs typeface="Arial MT"/>
                        </a:rPr>
                        <a:t>(DAM)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6667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500" spc="-10">
                          <a:latin typeface="Arial MT"/>
                          <a:cs typeface="Arial MT"/>
                        </a:rPr>
                        <a:t>8,400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6545">
                <a:tc>
                  <a:txBody>
                    <a:bodyPr/>
                    <a:p>
                      <a:pPr marL="6667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500" i="1" spc="-10">
                          <a:latin typeface="Arial"/>
                          <a:cs typeface="Arial"/>
                        </a:rPr>
                        <a:t>Estimated</a:t>
                      </a:r>
                      <a:r>
                        <a:rPr dirty="0" sz="1500" i="1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i="1">
                          <a:latin typeface="Arial"/>
                          <a:cs typeface="Arial"/>
                        </a:rPr>
                        <a:t>lines</a:t>
                      </a:r>
                      <a:r>
                        <a:rPr dirty="0" sz="1500" i="1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i="1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500" i="1" spc="-20">
                          <a:latin typeface="Arial"/>
                          <a:cs typeface="Arial"/>
                        </a:rPr>
                        <a:t> code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6667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500" i="1" spc="-10">
                          <a:latin typeface="Arial"/>
                          <a:cs typeface="Arial"/>
                        </a:rPr>
                        <a:t>33,200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48616" name="object 4" descr=""/>
          <p:cNvSpPr txBox="1"/>
          <p:nvPr/>
        </p:nvSpPr>
        <p:spPr>
          <a:xfrm>
            <a:off x="5288969" y="4756658"/>
            <a:ext cx="1769745" cy="7239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Arial MT"/>
                <a:cs typeface="Arial MT"/>
              </a:rPr>
              <a:t>Effort? Productivity?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object 2"/>
          <p:cNvSpPr txBox="1">
            <a:spLocks noGrp="1"/>
          </p:cNvSpPr>
          <p:nvPr>
            <p:ph type="title"/>
          </p:nvPr>
        </p:nvSpPr>
        <p:spPr>
          <a:xfrm>
            <a:off x="457200" y="-148437"/>
            <a:ext cx="7922259" cy="1490729"/>
          </a:xfrm>
          <a:prstGeom prst="rect"/>
        </p:spPr>
        <p:txBody>
          <a:bodyPr bIns="0" lIns="0" rIns="0" rtlCol="0" tIns="412204" vert="horz" wrap="square">
            <a:spAutoFit/>
          </a:bodyPr>
          <a:p>
            <a:pPr marL="85725" marR="5080">
              <a:lnSpc>
                <a:spcPct val="101099"/>
              </a:lnSpc>
              <a:spcBef>
                <a:spcPts val="90"/>
              </a:spcBef>
            </a:pPr>
            <a:r>
              <a:rPr dirty="0" sz="3650" spc="465"/>
              <a:t>An</a:t>
            </a:r>
            <a:r>
              <a:rPr dirty="0" sz="3650" spc="5"/>
              <a:t> </a:t>
            </a:r>
            <a:r>
              <a:rPr dirty="0" sz="3650" spc="305"/>
              <a:t>Example</a:t>
            </a:r>
            <a:r>
              <a:rPr dirty="0" sz="3650" spc="5"/>
              <a:t> </a:t>
            </a:r>
            <a:r>
              <a:rPr dirty="0" sz="3650" spc="370"/>
              <a:t>of</a:t>
            </a:r>
            <a:r>
              <a:rPr dirty="0" sz="3650" spc="5"/>
              <a:t> </a:t>
            </a:r>
            <a:r>
              <a:rPr dirty="0" sz="3650" spc="320"/>
              <a:t>LOC-</a:t>
            </a:r>
            <a:r>
              <a:rPr dirty="0" sz="3650" spc="300"/>
              <a:t>Based </a:t>
            </a:r>
            <a:r>
              <a:rPr dirty="0" sz="3650" spc="325"/>
              <a:t>Estimation</a:t>
            </a:r>
            <a:endParaRPr sz="3650"/>
          </a:p>
        </p:txBody>
      </p:sp>
      <p:sp>
        <p:nvSpPr>
          <p:cNvPr id="1048618" name="object 4" descr=""/>
          <p:cNvSpPr txBox="1"/>
          <p:nvPr/>
        </p:nvSpPr>
        <p:spPr>
          <a:xfrm>
            <a:off x="8748000" y="6576819"/>
            <a:ext cx="230504" cy="140335"/>
          </a:xfrm>
          <a:prstGeom prst="rect"/>
        </p:spPr>
        <p:txBody>
          <a:bodyPr bIns="0" lIns="0" rIns="0" rtlCol="0" tIns="635" vert="horz" wrap="square">
            <a:spAutoFit/>
          </a:bodyPr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z="1000" spc="-25">
                <a:latin typeface="Arial MT"/>
                <a:cs typeface="Arial MT"/>
              </a:rPr>
              <a:t>11</a:t>
            </a:fld>
            <a:endParaRPr sz="1000">
              <a:latin typeface="Arial MT"/>
              <a:cs typeface="Arial MT"/>
            </a:endParaRPr>
          </a:p>
        </p:txBody>
      </p:sp>
      <p:sp>
        <p:nvSpPr>
          <p:cNvPr id="1048619" name="object 3" descr=""/>
          <p:cNvSpPr txBox="1"/>
          <p:nvPr/>
        </p:nvSpPr>
        <p:spPr>
          <a:xfrm>
            <a:off x="616677" y="1460093"/>
            <a:ext cx="7036434" cy="2996566"/>
          </a:xfrm>
          <a:prstGeom prst="rect"/>
        </p:spPr>
        <p:txBody>
          <a:bodyPr bIns="0" lIns="0" rIns="0" rtlCol="0" tIns="12700" vert="horz" wrap="square">
            <a:spAutoFit/>
          </a:bodyPr>
          <a:p>
            <a:pPr indent="-278765" marL="291465">
              <a:lnSpc>
                <a:spcPct val="100000"/>
              </a:lnSpc>
              <a:spcBef>
                <a:spcPts val="100"/>
              </a:spcBef>
              <a:buClr>
                <a:srgbClr val="2DA2BE"/>
              </a:buClr>
              <a:buSzPct val="66666"/>
              <a:buChar char="□"/>
              <a:tabLst>
                <a:tab algn="l" pos="291465"/>
              </a:tabLst>
            </a:pPr>
            <a:r>
              <a:rPr dirty="0" sz="2700">
                <a:latin typeface="Lucida Sans Unicode"/>
                <a:cs typeface="Lucida Sans Unicode"/>
              </a:rPr>
              <a:t>Estimated</a:t>
            </a:r>
            <a:r>
              <a:rPr dirty="0" sz="2700" spc="-7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lines</a:t>
            </a:r>
            <a:r>
              <a:rPr dirty="0" sz="2700" spc="-3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of</a:t>
            </a:r>
            <a:r>
              <a:rPr dirty="0" sz="2700" spc="-2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code</a:t>
            </a:r>
            <a:r>
              <a:rPr dirty="0" sz="2700" spc="-30">
                <a:latin typeface="Lucida Sans Unicode"/>
                <a:cs typeface="Lucida Sans Unicode"/>
              </a:rPr>
              <a:t> </a:t>
            </a:r>
            <a:r>
              <a:rPr dirty="0" sz="2700" spc="-455">
                <a:latin typeface="Lucida Sans Unicode"/>
                <a:cs typeface="Lucida Sans Unicode"/>
              </a:rPr>
              <a:t>=</a:t>
            </a:r>
            <a:r>
              <a:rPr dirty="0" sz="2700" spc="-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W</a:t>
            </a:r>
            <a:r>
              <a:rPr dirty="0" sz="2700" spc="-25">
                <a:latin typeface="Lucida Sans Unicode"/>
                <a:cs typeface="Lucida Sans Unicode"/>
              </a:rPr>
              <a:t> </a:t>
            </a:r>
            <a:r>
              <a:rPr dirty="0" sz="2700" spc="-455">
                <a:latin typeface="Lucida Sans Unicode"/>
                <a:cs typeface="Lucida Sans Unicode"/>
              </a:rPr>
              <a:t>=</a:t>
            </a:r>
            <a:r>
              <a:rPr dirty="0" sz="2700" spc="-5">
                <a:latin typeface="Lucida Sans Unicode"/>
                <a:cs typeface="Lucida Sans Unicode"/>
              </a:rPr>
              <a:t> </a:t>
            </a:r>
            <a:r>
              <a:rPr dirty="0" sz="2700" spc="-10">
                <a:latin typeface="Lucida Sans Unicode"/>
                <a:cs typeface="Lucida Sans Unicode"/>
              </a:rPr>
              <a:t>33,200</a:t>
            </a:r>
            <a:endParaRPr sz="2700">
              <a:latin typeface="Lucida Sans Unicode"/>
              <a:cs typeface="Lucida Sans Unicode"/>
            </a:endParaRPr>
          </a:p>
          <a:p>
            <a:pPr indent="-278765" marL="291465">
              <a:lnSpc>
                <a:spcPct val="100000"/>
              </a:lnSpc>
              <a:spcBef>
                <a:spcPts val="75"/>
              </a:spcBef>
              <a:buClr>
                <a:srgbClr val="2DA2BE"/>
              </a:buClr>
              <a:buSzPct val="66666"/>
              <a:buChar char="□"/>
              <a:tabLst>
                <a:tab algn="l" pos="291465"/>
              </a:tabLst>
            </a:pPr>
            <a:r>
              <a:rPr dirty="0" sz="2700" spc="-20">
                <a:latin typeface="Lucida Sans Unicode"/>
                <a:cs typeface="Lucida Sans Unicode"/>
              </a:rPr>
              <a:t>Let,</a:t>
            </a:r>
            <a:endParaRPr sz="2700">
              <a:latin typeface="Lucida Sans Unicode"/>
              <a:cs typeface="Lucida Sans Unicode"/>
            </a:endParaRPr>
          </a:p>
          <a:p>
            <a:pPr indent="-186055" lvl="1" marL="548005">
              <a:lnSpc>
                <a:spcPct val="100000"/>
              </a:lnSpc>
              <a:spcBef>
                <a:spcPts val="55"/>
              </a:spcBef>
              <a:buClr>
                <a:srgbClr val="2DA2BE"/>
              </a:buClr>
              <a:buFont typeface="Verdana"/>
              <a:buChar char="◦"/>
              <a:tabLst>
                <a:tab algn="l" pos="548005"/>
              </a:tabLst>
            </a:pPr>
            <a:r>
              <a:rPr dirty="0" sz="2300">
                <a:latin typeface="Lucida Sans Unicode"/>
                <a:cs typeface="Lucida Sans Unicode"/>
              </a:rPr>
              <a:t>Average</a:t>
            </a:r>
            <a:r>
              <a:rPr dirty="0" sz="2300" spc="-9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productivity</a:t>
            </a:r>
            <a:r>
              <a:rPr dirty="0" sz="2300" spc="-35">
                <a:latin typeface="Lucida Sans Unicode"/>
                <a:cs typeface="Lucida Sans Unicode"/>
              </a:rPr>
              <a:t> </a:t>
            </a:r>
            <a:r>
              <a:rPr dirty="0" sz="2300" spc="-385">
                <a:latin typeface="Lucida Sans Unicode"/>
                <a:cs typeface="Lucida Sans Unicode"/>
              </a:rPr>
              <a:t>=</a:t>
            </a:r>
            <a:r>
              <a:rPr dirty="0" sz="2300" spc="-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X</a:t>
            </a:r>
            <a:r>
              <a:rPr dirty="0" sz="2300" spc="-35">
                <a:latin typeface="Lucida Sans Unicode"/>
                <a:cs typeface="Lucida Sans Unicode"/>
              </a:rPr>
              <a:t> </a:t>
            </a:r>
            <a:r>
              <a:rPr dirty="0" sz="2300" spc="-385">
                <a:latin typeface="Lucida Sans Unicode"/>
                <a:cs typeface="Lucida Sans Unicode"/>
              </a:rPr>
              <a:t>=</a:t>
            </a:r>
            <a:r>
              <a:rPr dirty="0" sz="2300" spc="-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50</a:t>
            </a:r>
            <a:r>
              <a:rPr dirty="0" sz="2300" spc="-35">
                <a:latin typeface="Lucida Sans Unicode"/>
                <a:cs typeface="Lucida Sans Unicode"/>
              </a:rPr>
              <a:t> </a:t>
            </a:r>
            <a:r>
              <a:rPr dirty="0" sz="2300" spc="-10">
                <a:latin typeface="Lucida Sans Unicode"/>
                <a:cs typeface="Lucida Sans Unicode"/>
              </a:rPr>
              <a:t>LOC/pd</a:t>
            </a:r>
            <a:endParaRPr sz="2300">
              <a:latin typeface="Lucida Sans Unicode"/>
              <a:cs typeface="Lucida Sans Unicode"/>
            </a:endParaRPr>
          </a:p>
          <a:p>
            <a:pPr indent="-186055" lvl="1" marL="548005">
              <a:lnSpc>
                <a:spcPct val="100000"/>
              </a:lnSpc>
              <a:spcBef>
                <a:spcPts val="45"/>
              </a:spcBef>
              <a:buClr>
                <a:srgbClr val="2DA2BE"/>
              </a:buClr>
              <a:buFont typeface="Verdana"/>
              <a:buChar char="◦"/>
              <a:tabLst>
                <a:tab algn="l" pos="548005"/>
                <a:tab algn="l" pos="3004820"/>
              </a:tabLst>
            </a:pPr>
            <a:r>
              <a:rPr dirty="0" sz="2300">
                <a:latin typeface="Lucida Sans Unicode"/>
                <a:cs typeface="Lucida Sans Unicode"/>
              </a:rPr>
              <a:t>Labor</a:t>
            </a:r>
            <a:r>
              <a:rPr dirty="0" sz="2300" spc="-8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rate</a:t>
            </a:r>
            <a:r>
              <a:rPr dirty="0" sz="2300" spc="-45">
                <a:latin typeface="Lucida Sans Unicode"/>
                <a:cs typeface="Lucida Sans Unicode"/>
              </a:rPr>
              <a:t> </a:t>
            </a:r>
            <a:r>
              <a:rPr dirty="0" sz="2300" spc="-385">
                <a:latin typeface="Lucida Sans Unicode"/>
                <a:cs typeface="Lucida Sans Unicode"/>
              </a:rPr>
              <a:t>=</a:t>
            </a:r>
            <a:r>
              <a:rPr dirty="0" sz="2300" spc="-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Y</a:t>
            </a:r>
            <a:r>
              <a:rPr dirty="0" sz="2300" spc="-40">
                <a:latin typeface="Lucida Sans Unicode"/>
                <a:cs typeface="Lucida Sans Unicode"/>
              </a:rPr>
              <a:t> </a:t>
            </a:r>
            <a:r>
              <a:rPr dirty="0" sz="2300" spc="-434">
                <a:latin typeface="Lucida Sans Unicode"/>
                <a:cs typeface="Lucida Sans Unicode"/>
              </a:rPr>
              <a:t>=</a:t>
            </a:r>
            <a:r>
              <a:rPr dirty="0" sz="2300">
                <a:latin typeface="Lucida Sans Unicode"/>
                <a:cs typeface="Lucida Sans Unicode"/>
              </a:rPr>
              <a:t>	$100</a:t>
            </a:r>
            <a:r>
              <a:rPr dirty="0" sz="2300" spc="-40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per</a:t>
            </a:r>
            <a:r>
              <a:rPr dirty="0" sz="2300" spc="-35">
                <a:latin typeface="Lucida Sans Unicode"/>
                <a:cs typeface="Lucida Sans Unicode"/>
              </a:rPr>
              <a:t> </a:t>
            </a:r>
            <a:r>
              <a:rPr dirty="0" sz="2300" spc="-25">
                <a:latin typeface="Lucida Sans Unicode"/>
                <a:cs typeface="Lucida Sans Unicode"/>
              </a:rPr>
              <a:t>day</a:t>
            </a:r>
            <a:endParaRPr sz="2300">
              <a:latin typeface="Lucida Sans Unicode"/>
              <a:cs typeface="Lucida Sans Unicode"/>
            </a:endParaRPr>
          </a:p>
          <a:p>
            <a:pPr indent="-278765" marL="291465">
              <a:lnSpc>
                <a:spcPct val="100000"/>
              </a:lnSpc>
              <a:spcBef>
                <a:spcPts val="70"/>
              </a:spcBef>
              <a:buClr>
                <a:srgbClr val="2DA2BE"/>
              </a:buClr>
              <a:buSzPct val="66666"/>
              <a:buChar char="□"/>
              <a:tabLst>
                <a:tab algn="l" pos="291465"/>
              </a:tabLst>
            </a:pPr>
            <a:r>
              <a:rPr dirty="0" sz="2700" spc="-25">
                <a:latin typeface="Lucida Sans Unicode"/>
                <a:cs typeface="Lucida Sans Unicode"/>
              </a:rPr>
              <a:t>So,</a:t>
            </a:r>
            <a:endParaRPr sz="2700">
              <a:latin typeface="Lucida Sans Unicode"/>
              <a:cs typeface="Lucida Sans Unicode"/>
            </a:endParaRPr>
          </a:p>
          <a:p>
            <a:pPr indent="-186055" lvl="1" marL="548005">
              <a:lnSpc>
                <a:spcPct val="100000"/>
              </a:lnSpc>
              <a:spcBef>
                <a:spcPts val="55"/>
              </a:spcBef>
              <a:buClr>
                <a:srgbClr val="2DA2BE"/>
              </a:buClr>
              <a:buFont typeface="Verdana"/>
              <a:buChar char="◦"/>
              <a:tabLst>
                <a:tab algn="l" pos="548005"/>
              </a:tabLst>
            </a:pPr>
            <a:r>
              <a:rPr dirty="0" sz="2300">
                <a:latin typeface="Lucida Sans Unicode"/>
                <a:cs typeface="Lucida Sans Unicode"/>
              </a:rPr>
              <a:t>Cost</a:t>
            </a:r>
            <a:r>
              <a:rPr dirty="0" sz="2300" spc="-130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per</a:t>
            </a:r>
            <a:r>
              <a:rPr dirty="0" sz="2300" spc="-3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line</a:t>
            </a:r>
            <a:r>
              <a:rPr dirty="0" sz="2300" spc="-40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of</a:t>
            </a:r>
            <a:r>
              <a:rPr dirty="0" sz="2300" spc="-3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code</a:t>
            </a:r>
            <a:r>
              <a:rPr dirty="0" sz="2300" spc="-35">
                <a:latin typeface="Lucida Sans Unicode"/>
                <a:cs typeface="Lucida Sans Unicode"/>
              </a:rPr>
              <a:t> </a:t>
            </a:r>
            <a:r>
              <a:rPr dirty="0" sz="2300" spc="-385">
                <a:latin typeface="Lucida Sans Unicode"/>
                <a:cs typeface="Lucida Sans Unicode"/>
              </a:rPr>
              <a:t>=</a:t>
            </a:r>
            <a:r>
              <a:rPr dirty="0" sz="2300" spc="-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Z</a:t>
            </a:r>
            <a:r>
              <a:rPr dirty="0" sz="2300" spc="-35">
                <a:latin typeface="Lucida Sans Unicode"/>
                <a:cs typeface="Lucida Sans Unicode"/>
              </a:rPr>
              <a:t> </a:t>
            </a:r>
            <a:r>
              <a:rPr dirty="0" sz="2300" spc="-385">
                <a:latin typeface="Lucida Sans Unicode"/>
                <a:cs typeface="Lucida Sans Unicode"/>
              </a:rPr>
              <a:t>=</a:t>
            </a:r>
            <a:r>
              <a:rPr dirty="0" sz="2300" spc="-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Y/X</a:t>
            </a:r>
            <a:r>
              <a:rPr dirty="0" sz="2300" spc="-35">
                <a:latin typeface="Lucida Sans Unicode"/>
                <a:cs typeface="Lucida Sans Unicode"/>
              </a:rPr>
              <a:t> </a:t>
            </a:r>
            <a:r>
              <a:rPr dirty="0" sz="2300" spc="-385">
                <a:latin typeface="Lucida Sans Unicode"/>
                <a:cs typeface="Lucida Sans Unicode"/>
              </a:rPr>
              <a:t>=</a:t>
            </a:r>
            <a:r>
              <a:rPr dirty="0" sz="2300" spc="-5">
                <a:latin typeface="Lucida Sans Unicode"/>
                <a:cs typeface="Lucida Sans Unicode"/>
              </a:rPr>
              <a:t> </a:t>
            </a:r>
            <a:r>
              <a:rPr dirty="0" sz="2300" spc="-25">
                <a:latin typeface="Lucida Sans Unicode"/>
                <a:cs typeface="Lucida Sans Unicode"/>
              </a:rPr>
              <a:t>$2</a:t>
            </a:r>
            <a:endParaRPr sz="2300">
              <a:latin typeface="Lucida Sans Unicode"/>
              <a:cs typeface="Lucida Sans Unicode"/>
            </a:endParaRPr>
          </a:p>
          <a:p>
            <a:pPr indent="-186055" lvl="1" marL="548005">
              <a:lnSpc>
                <a:spcPct val="100000"/>
              </a:lnSpc>
              <a:spcBef>
                <a:spcPts val="50"/>
              </a:spcBef>
              <a:buClr>
                <a:srgbClr val="2DA2BE"/>
              </a:buClr>
              <a:buFont typeface="Verdana"/>
              <a:buChar char="◦"/>
              <a:tabLst>
                <a:tab algn="l" pos="548005"/>
              </a:tabLst>
            </a:pPr>
            <a:r>
              <a:rPr dirty="0" sz="2300">
                <a:latin typeface="Lucida Sans Unicode"/>
                <a:cs typeface="Lucida Sans Unicode"/>
              </a:rPr>
              <a:t>Total</a:t>
            </a:r>
            <a:r>
              <a:rPr dirty="0" sz="2300" spc="-15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estimated</a:t>
            </a:r>
            <a:r>
              <a:rPr dirty="0" sz="2300" spc="-5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project</a:t>
            </a:r>
            <a:r>
              <a:rPr dirty="0" sz="2300" spc="-5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cost</a:t>
            </a:r>
            <a:r>
              <a:rPr dirty="0" sz="2300" spc="-55">
                <a:latin typeface="Lucida Sans Unicode"/>
                <a:cs typeface="Lucida Sans Unicode"/>
              </a:rPr>
              <a:t> </a:t>
            </a:r>
            <a:r>
              <a:rPr dirty="0" sz="2300" spc="-385">
                <a:latin typeface="Lucida Sans Unicode"/>
                <a:cs typeface="Lucida Sans Unicode"/>
              </a:rPr>
              <a:t>=</a:t>
            </a:r>
            <a:r>
              <a:rPr dirty="0" sz="2300" spc="-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W*Z</a:t>
            </a:r>
            <a:r>
              <a:rPr dirty="0" sz="2300" spc="-55">
                <a:latin typeface="Lucida Sans Unicode"/>
                <a:cs typeface="Lucida Sans Unicode"/>
              </a:rPr>
              <a:t> </a:t>
            </a:r>
            <a:r>
              <a:rPr dirty="0" sz="2300" spc="-385">
                <a:latin typeface="Lucida Sans Unicode"/>
                <a:cs typeface="Lucida Sans Unicode"/>
              </a:rPr>
              <a:t>=</a:t>
            </a:r>
            <a:r>
              <a:rPr dirty="0" sz="2300" spc="-5">
                <a:latin typeface="Lucida Sans Unicode"/>
                <a:cs typeface="Lucida Sans Unicode"/>
              </a:rPr>
              <a:t> </a:t>
            </a:r>
            <a:r>
              <a:rPr dirty="0" sz="2300" spc="-10">
                <a:latin typeface="Lucida Sans Unicode"/>
                <a:cs typeface="Lucida Sans Unicode"/>
              </a:rPr>
              <a:t>$66,400</a:t>
            </a:r>
            <a:endParaRPr sz="2300">
              <a:latin typeface="Lucida Sans Unicode"/>
              <a:cs typeface="Lucida Sans Unicode"/>
            </a:endParaRPr>
          </a:p>
          <a:p>
            <a:pPr indent="-186055" lvl="1" marL="548005">
              <a:lnSpc>
                <a:spcPct val="100000"/>
              </a:lnSpc>
              <a:spcBef>
                <a:spcPts val="45"/>
              </a:spcBef>
              <a:buClr>
                <a:srgbClr val="2DA2BE"/>
              </a:buClr>
              <a:buFont typeface="Verdana"/>
              <a:buChar char="◦"/>
              <a:tabLst>
                <a:tab algn="l" pos="548005"/>
              </a:tabLst>
            </a:pPr>
            <a:r>
              <a:rPr dirty="0" sz="2300">
                <a:latin typeface="Lucida Sans Unicode"/>
                <a:cs typeface="Lucida Sans Unicode"/>
              </a:rPr>
              <a:t>Estimated</a:t>
            </a:r>
            <a:r>
              <a:rPr dirty="0" sz="2300" spc="-160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effort</a:t>
            </a:r>
            <a:r>
              <a:rPr dirty="0" sz="2300" spc="-55">
                <a:latin typeface="Lucida Sans Unicode"/>
                <a:cs typeface="Lucida Sans Unicode"/>
              </a:rPr>
              <a:t> </a:t>
            </a:r>
            <a:r>
              <a:rPr dirty="0" sz="2300" spc="-385">
                <a:latin typeface="Lucida Sans Unicode"/>
                <a:cs typeface="Lucida Sans Unicode"/>
              </a:rPr>
              <a:t>=</a:t>
            </a:r>
            <a:r>
              <a:rPr dirty="0" sz="2300" spc="-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W/X</a:t>
            </a:r>
            <a:r>
              <a:rPr dirty="0" sz="2300" spc="-55">
                <a:latin typeface="Lucida Sans Unicode"/>
                <a:cs typeface="Lucida Sans Unicode"/>
              </a:rPr>
              <a:t> </a:t>
            </a:r>
            <a:r>
              <a:rPr dirty="0" sz="2300" spc="-385">
                <a:latin typeface="Lucida Sans Unicode"/>
                <a:cs typeface="Lucida Sans Unicode"/>
              </a:rPr>
              <a:t>=</a:t>
            </a:r>
            <a:r>
              <a:rPr dirty="0" sz="2300" spc="-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664</a:t>
            </a:r>
            <a:r>
              <a:rPr dirty="0" sz="2300" spc="-60">
                <a:latin typeface="Lucida Sans Unicode"/>
                <a:cs typeface="Lucida Sans Unicode"/>
              </a:rPr>
              <a:t> </a:t>
            </a:r>
            <a:r>
              <a:rPr dirty="0" sz="2300" spc="-75">
                <a:latin typeface="Lucida Sans Unicode"/>
                <a:cs typeface="Lucida Sans Unicode"/>
              </a:rPr>
              <a:t>person-</a:t>
            </a:r>
            <a:r>
              <a:rPr dirty="0" sz="2300" spc="-20">
                <a:latin typeface="Lucida Sans Unicode"/>
                <a:cs typeface="Lucida Sans Unicode"/>
              </a:rPr>
              <a:t>days</a:t>
            </a:r>
            <a:endParaRPr sz="23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object 2"/>
          <p:cNvSpPr txBox="1">
            <a:spLocks noGrp="1"/>
          </p:cNvSpPr>
          <p:nvPr>
            <p:ph type="title"/>
          </p:nvPr>
        </p:nvSpPr>
        <p:spPr>
          <a:xfrm>
            <a:off x="457200" y="-148437"/>
            <a:ext cx="7922259" cy="1490729"/>
          </a:xfrm>
          <a:prstGeom prst="rect"/>
        </p:spPr>
        <p:txBody>
          <a:bodyPr bIns="0" lIns="0" rIns="0" rtlCol="0" tIns="412204" vert="horz" wrap="square">
            <a:spAutoFit/>
          </a:bodyPr>
          <a:p>
            <a:pPr marL="85725" marR="5080">
              <a:lnSpc>
                <a:spcPct val="101099"/>
              </a:lnSpc>
              <a:spcBef>
                <a:spcPts val="90"/>
              </a:spcBef>
            </a:pPr>
            <a:r>
              <a:rPr dirty="0" sz="3650" spc="465"/>
              <a:t>An</a:t>
            </a:r>
            <a:r>
              <a:rPr dirty="0" sz="3650" spc="5"/>
              <a:t> </a:t>
            </a:r>
            <a:r>
              <a:rPr dirty="0" sz="3650" spc="305"/>
              <a:t>Example</a:t>
            </a:r>
            <a:r>
              <a:rPr dirty="0" sz="3650" spc="5"/>
              <a:t> </a:t>
            </a:r>
            <a:r>
              <a:rPr dirty="0" sz="3650" spc="370"/>
              <a:t>of</a:t>
            </a:r>
            <a:r>
              <a:rPr dirty="0" sz="3650" spc="5"/>
              <a:t> </a:t>
            </a:r>
            <a:r>
              <a:rPr dirty="0" sz="3650" spc="320"/>
              <a:t>LOC-</a:t>
            </a:r>
            <a:r>
              <a:rPr dirty="0" sz="3650" spc="300"/>
              <a:t>Based </a:t>
            </a:r>
            <a:r>
              <a:rPr dirty="0" sz="3650" spc="325"/>
              <a:t>Estimation</a:t>
            </a:r>
            <a:endParaRPr sz="3650"/>
          </a:p>
        </p:txBody>
      </p:sp>
      <p:sp>
        <p:nvSpPr>
          <p:cNvPr id="1048621" name="object 4" descr=""/>
          <p:cNvSpPr txBox="1"/>
          <p:nvPr/>
        </p:nvSpPr>
        <p:spPr>
          <a:xfrm>
            <a:off x="8748000" y="6576819"/>
            <a:ext cx="230504" cy="140335"/>
          </a:xfrm>
          <a:prstGeom prst="rect"/>
        </p:spPr>
        <p:txBody>
          <a:bodyPr bIns="0" lIns="0" rIns="0" rtlCol="0" tIns="635" vert="horz" wrap="square">
            <a:spAutoFit/>
          </a:bodyPr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z="1000" spc="-25">
                <a:latin typeface="Arial MT"/>
                <a:cs typeface="Arial MT"/>
              </a:rPr>
              <a:t>12</a:t>
            </a:fld>
            <a:endParaRPr sz="1000">
              <a:latin typeface="Arial MT"/>
              <a:cs typeface="Arial MT"/>
            </a:endParaRPr>
          </a:p>
        </p:txBody>
      </p:sp>
      <p:sp>
        <p:nvSpPr>
          <p:cNvPr id="1048622" name="object 3" descr=""/>
          <p:cNvSpPr txBox="1"/>
          <p:nvPr/>
        </p:nvSpPr>
        <p:spPr>
          <a:xfrm>
            <a:off x="616677" y="1460093"/>
            <a:ext cx="6518275" cy="2996566"/>
          </a:xfrm>
          <a:prstGeom prst="rect"/>
        </p:spPr>
        <p:txBody>
          <a:bodyPr bIns="0" lIns="0" rIns="0" rtlCol="0" tIns="12700" vert="horz" wrap="square">
            <a:spAutoFit/>
          </a:bodyPr>
          <a:p>
            <a:pPr indent="-278765" marL="291465">
              <a:lnSpc>
                <a:spcPct val="100000"/>
              </a:lnSpc>
              <a:spcBef>
                <a:spcPts val="100"/>
              </a:spcBef>
              <a:buClr>
                <a:srgbClr val="2DA2BE"/>
              </a:buClr>
              <a:buSzPct val="66666"/>
              <a:buChar char="□"/>
              <a:tabLst>
                <a:tab algn="l" pos="291465"/>
              </a:tabLst>
            </a:pPr>
            <a:r>
              <a:rPr dirty="0" sz="2700">
                <a:latin typeface="Lucida Sans Unicode"/>
                <a:cs typeface="Lucida Sans Unicode"/>
              </a:rPr>
              <a:t>Estimated</a:t>
            </a:r>
            <a:r>
              <a:rPr dirty="0" sz="2700" spc="-7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lines</a:t>
            </a:r>
            <a:r>
              <a:rPr dirty="0" sz="2700" spc="-3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of</a:t>
            </a:r>
            <a:r>
              <a:rPr dirty="0" sz="2700" spc="-2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code</a:t>
            </a:r>
            <a:r>
              <a:rPr dirty="0" sz="2700" spc="-30">
                <a:latin typeface="Lucida Sans Unicode"/>
                <a:cs typeface="Lucida Sans Unicode"/>
              </a:rPr>
              <a:t> </a:t>
            </a:r>
            <a:r>
              <a:rPr dirty="0" sz="2700" spc="-455">
                <a:latin typeface="Lucida Sans Unicode"/>
                <a:cs typeface="Lucida Sans Unicode"/>
              </a:rPr>
              <a:t>=</a:t>
            </a:r>
            <a:r>
              <a:rPr dirty="0" sz="2700" spc="-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W</a:t>
            </a:r>
            <a:r>
              <a:rPr dirty="0" sz="2700" spc="-25">
                <a:latin typeface="Lucida Sans Unicode"/>
                <a:cs typeface="Lucida Sans Unicode"/>
              </a:rPr>
              <a:t> </a:t>
            </a:r>
            <a:r>
              <a:rPr dirty="0" sz="2700" spc="-455">
                <a:latin typeface="Lucida Sans Unicode"/>
                <a:cs typeface="Lucida Sans Unicode"/>
              </a:rPr>
              <a:t>=</a:t>
            </a:r>
            <a:r>
              <a:rPr dirty="0" sz="2700" spc="-5">
                <a:latin typeface="Lucida Sans Unicode"/>
                <a:cs typeface="Lucida Sans Unicode"/>
              </a:rPr>
              <a:t> </a:t>
            </a:r>
            <a:r>
              <a:rPr dirty="0" sz="2700" spc="-10">
                <a:latin typeface="Lucida Sans Unicode"/>
                <a:cs typeface="Lucida Sans Unicode"/>
              </a:rPr>
              <a:t>33,200</a:t>
            </a:r>
            <a:endParaRPr sz="2700">
              <a:latin typeface="Lucida Sans Unicode"/>
              <a:cs typeface="Lucida Sans Unicode"/>
            </a:endParaRPr>
          </a:p>
          <a:p>
            <a:pPr indent="-278765" marL="291465">
              <a:lnSpc>
                <a:spcPct val="100000"/>
              </a:lnSpc>
              <a:spcBef>
                <a:spcPts val="75"/>
              </a:spcBef>
              <a:buClr>
                <a:srgbClr val="2DA2BE"/>
              </a:buClr>
              <a:buSzPct val="66666"/>
              <a:buChar char="□"/>
              <a:tabLst>
                <a:tab algn="l" pos="291465"/>
              </a:tabLst>
            </a:pPr>
            <a:r>
              <a:rPr dirty="0" sz="2700" spc="-20">
                <a:latin typeface="Lucida Sans Unicode"/>
                <a:cs typeface="Lucida Sans Unicode"/>
              </a:rPr>
              <a:t>Let,</a:t>
            </a:r>
            <a:endParaRPr sz="2700">
              <a:latin typeface="Lucida Sans Unicode"/>
              <a:cs typeface="Lucida Sans Unicode"/>
            </a:endParaRPr>
          </a:p>
          <a:p>
            <a:pPr indent="-186055" lvl="1" marL="548005">
              <a:lnSpc>
                <a:spcPct val="100000"/>
              </a:lnSpc>
              <a:spcBef>
                <a:spcPts val="55"/>
              </a:spcBef>
              <a:buClr>
                <a:srgbClr val="2DA2BE"/>
              </a:buClr>
              <a:buFont typeface="Verdana"/>
              <a:buChar char="◦"/>
              <a:tabLst>
                <a:tab algn="l" pos="548005"/>
              </a:tabLst>
            </a:pPr>
            <a:r>
              <a:rPr dirty="0" sz="2300">
                <a:latin typeface="Lucida Sans Unicode"/>
                <a:cs typeface="Lucida Sans Unicode"/>
              </a:rPr>
              <a:t>Average</a:t>
            </a:r>
            <a:r>
              <a:rPr dirty="0" sz="2300" spc="-100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productivity</a:t>
            </a:r>
            <a:r>
              <a:rPr dirty="0" sz="2300" spc="-35">
                <a:latin typeface="Lucida Sans Unicode"/>
                <a:cs typeface="Lucida Sans Unicode"/>
              </a:rPr>
              <a:t> </a:t>
            </a:r>
            <a:r>
              <a:rPr dirty="0" sz="2300" spc="-385">
                <a:latin typeface="Lucida Sans Unicode"/>
                <a:cs typeface="Lucida Sans Unicode"/>
              </a:rPr>
              <a:t>=</a:t>
            </a:r>
            <a:r>
              <a:rPr dirty="0" sz="2300" spc="-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X</a:t>
            </a:r>
            <a:r>
              <a:rPr dirty="0" sz="2300" spc="-35">
                <a:latin typeface="Lucida Sans Unicode"/>
                <a:cs typeface="Lucida Sans Unicode"/>
              </a:rPr>
              <a:t> </a:t>
            </a:r>
            <a:r>
              <a:rPr dirty="0" sz="2300" spc="-385">
                <a:latin typeface="Lucida Sans Unicode"/>
                <a:cs typeface="Lucida Sans Unicode"/>
              </a:rPr>
              <a:t>=</a:t>
            </a:r>
            <a:r>
              <a:rPr dirty="0" sz="2300" spc="-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600</a:t>
            </a:r>
            <a:r>
              <a:rPr dirty="0" sz="2300" spc="-35">
                <a:latin typeface="Lucida Sans Unicode"/>
                <a:cs typeface="Lucida Sans Unicode"/>
              </a:rPr>
              <a:t> </a:t>
            </a:r>
            <a:r>
              <a:rPr dirty="0" sz="2300" spc="-10">
                <a:latin typeface="Lucida Sans Unicode"/>
                <a:cs typeface="Lucida Sans Unicode"/>
              </a:rPr>
              <a:t>LOC/pm</a:t>
            </a:r>
            <a:endParaRPr sz="2300">
              <a:latin typeface="Lucida Sans Unicode"/>
              <a:cs typeface="Lucida Sans Unicode"/>
            </a:endParaRPr>
          </a:p>
          <a:p>
            <a:pPr indent="-186055" lvl="1" marL="548005">
              <a:lnSpc>
                <a:spcPct val="100000"/>
              </a:lnSpc>
              <a:spcBef>
                <a:spcPts val="45"/>
              </a:spcBef>
              <a:buClr>
                <a:srgbClr val="2DA2BE"/>
              </a:buClr>
              <a:buFont typeface="Verdana"/>
              <a:buChar char="◦"/>
              <a:tabLst>
                <a:tab algn="l" pos="548005"/>
                <a:tab algn="l" pos="3004820"/>
              </a:tabLst>
            </a:pPr>
            <a:r>
              <a:rPr dirty="0" sz="2300">
                <a:latin typeface="Lucida Sans Unicode"/>
                <a:cs typeface="Lucida Sans Unicode"/>
              </a:rPr>
              <a:t>Labor</a:t>
            </a:r>
            <a:r>
              <a:rPr dirty="0" sz="2300" spc="-8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rate</a:t>
            </a:r>
            <a:r>
              <a:rPr dirty="0" sz="2300" spc="-45">
                <a:latin typeface="Lucida Sans Unicode"/>
                <a:cs typeface="Lucida Sans Unicode"/>
              </a:rPr>
              <a:t> </a:t>
            </a:r>
            <a:r>
              <a:rPr dirty="0" sz="2300" spc="-385">
                <a:latin typeface="Lucida Sans Unicode"/>
                <a:cs typeface="Lucida Sans Unicode"/>
              </a:rPr>
              <a:t>=</a:t>
            </a:r>
            <a:r>
              <a:rPr dirty="0" sz="2300" spc="-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Y</a:t>
            </a:r>
            <a:r>
              <a:rPr dirty="0" sz="2300" spc="-40">
                <a:latin typeface="Lucida Sans Unicode"/>
                <a:cs typeface="Lucida Sans Unicode"/>
              </a:rPr>
              <a:t> </a:t>
            </a:r>
            <a:r>
              <a:rPr dirty="0" sz="2300" spc="-434">
                <a:latin typeface="Lucida Sans Unicode"/>
                <a:cs typeface="Lucida Sans Unicode"/>
              </a:rPr>
              <a:t>=</a:t>
            </a:r>
            <a:r>
              <a:rPr dirty="0" sz="2300">
                <a:latin typeface="Lucida Sans Unicode"/>
                <a:cs typeface="Lucida Sans Unicode"/>
              </a:rPr>
              <a:t>	$5000</a:t>
            </a:r>
            <a:r>
              <a:rPr dirty="0" sz="2300" spc="-40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per</a:t>
            </a:r>
            <a:r>
              <a:rPr dirty="0" sz="2300" spc="-40">
                <a:latin typeface="Lucida Sans Unicode"/>
                <a:cs typeface="Lucida Sans Unicode"/>
              </a:rPr>
              <a:t> </a:t>
            </a:r>
            <a:r>
              <a:rPr dirty="0" sz="2300" spc="-10">
                <a:latin typeface="Lucida Sans Unicode"/>
                <a:cs typeface="Lucida Sans Unicode"/>
              </a:rPr>
              <a:t>month</a:t>
            </a:r>
            <a:endParaRPr sz="2300">
              <a:latin typeface="Lucida Sans Unicode"/>
              <a:cs typeface="Lucida Sans Unicode"/>
            </a:endParaRPr>
          </a:p>
          <a:p>
            <a:pPr indent="-278765" marL="291465">
              <a:lnSpc>
                <a:spcPct val="100000"/>
              </a:lnSpc>
              <a:spcBef>
                <a:spcPts val="70"/>
              </a:spcBef>
              <a:buClr>
                <a:srgbClr val="2DA2BE"/>
              </a:buClr>
              <a:buSzPct val="66666"/>
              <a:buChar char="□"/>
              <a:tabLst>
                <a:tab algn="l" pos="291465"/>
              </a:tabLst>
            </a:pPr>
            <a:r>
              <a:rPr dirty="0" sz="2700" spc="-25">
                <a:latin typeface="Lucida Sans Unicode"/>
                <a:cs typeface="Lucida Sans Unicode"/>
              </a:rPr>
              <a:t>So,</a:t>
            </a:r>
            <a:endParaRPr sz="2700">
              <a:latin typeface="Lucida Sans Unicode"/>
              <a:cs typeface="Lucida Sans Unicode"/>
            </a:endParaRPr>
          </a:p>
          <a:p>
            <a:pPr indent="-186055" lvl="1" marL="548005">
              <a:lnSpc>
                <a:spcPct val="100000"/>
              </a:lnSpc>
              <a:spcBef>
                <a:spcPts val="55"/>
              </a:spcBef>
              <a:buClr>
                <a:srgbClr val="2DA2BE"/>
              </a:buClr>
              <a:buFont typeface="Verdana"/>
              <a:buChar char="◦"/>
              <a:tabLst>
                <a:tab algn="l" pos="548005"/>
              </a:tabLst>
            </a:pPr>
            <a:r>
              <a:rPr dirty="0" sz="2300">
                <a:latin typeface="Lucida Sans Unicode"/>
                <a:cs typeface="Lucida Sans Unicode"/>
              </a:rPr>
              <a:t>Cost</a:t>
            </a:r>
            <a:r>
              <a:rPr dirty="0" sz="2300" spc="-130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per</a:t>
            </a:r>
            <a:r>
              <a:rPr dirty="0" sz="2300" spc="-3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line</a:t>
            </a:r>
            <a:r>
              <a:rPr dirty="0" sz="2300" spc="-40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of</a:t>
            </a:r>
            <a:r>
              <a:rPr dirty="0" sz="2300" spc="-3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code</a:t>
            </a:r>
            <a:r>
              <a:rPr dirty="0" sz="2300" spc="-35">
                <a:latin typeface="Lucida Sans Unicode"/>
                <a:cs typeface="Lucida Sans Unicode"/>
              </a:rPr>
              <a:t> </a:t>
            </a:r>
            <a:r>
              <a:rPr dirty="0" sz="2300" spc="-385">
                <a:latin typeface="Lucida Sans Unicode"/>
                <a:cs typeface="Lucida Sans Unicode"/>
              </a:rPr>
              <a:t>=</a:t>
            </a:r>
            <a:r>
              <a:rPr dirty="0" sz="2300" spc="-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Z</a:t>
            </a:r>
            <a:r>
              <a:rPr dirty="0" sz="2300" spc="-35">
                <a:latin typeface="Lucida Sans Unicode"/>
                <a:cs typeface="Lucida Sans Unicode"/>
              </a:rPr>
              <a:t> </a:t>
            </a:r>
            <a:r>
              <a:rPr dirty="0" sz="2300" spc="-385">
                <a:latin typeface="Lucida Sans Unicode"/>
                <a:cs typeface="Lucida Sans Unicode"/>
              </a:rPr>
              <a:t>=</a:t>
            </a:r>
            <a:r>
              <a:rPr dirty="0" sz="2300" spc="-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Y/X</a:t>
            </a:r>
            <a:r>
              <a:rPr dirty="0" sz="2300" spc="-35">
                <a:latin typeface="Lucida Sans Unicode"/>
                <a:cs typeface="Lucida Sans Unicode"/>
              </a:rPr>
              <a:t> </a:t>
            </a:r>
            <a:r>
              <a:rPr dirty="0" sz="2300" spc="-385">
                <a:latin typeface="Lucida Sans Unicode"/>
                <a:cs typeface="Lucida Sans Unicode"/>
              </a:rPr>
              <a:t>=</a:t>
            </a:r>
            <a:r>
              <a:rPr dirty="0" sz="2300" spc="-5">
                <a:latin typeface="Lucida Sans Unicode"/>
                <a:cs typeface="Lucida Sans Unicode"/>
              </a:rPr>
              <a:t> </a:t>
            </a:r>
            <a:r>
              <a:rPr dirty="0" sz="2300" spc="-50">
                <a:latin typeface="Lucida Sans Unicode"/>
                <a:cs typeface="Lucida Sans Unicode"/>
              </a:rPr>
              <a:t>?</a:t>
            </a:r>
            <a:endParaRPr sz="2300">
              <a:latin typeface="Lucida Sans Unicode"/>
              <a:cs typeface="Lucida Sans Unicode"/>
            </a:endParaRPr>
          </a:p>
          <a:p>
            <a:pPr indent="-186055" lvl="1" marL="548005">
              <a:lnSpc>
                <a:spcPct val="100000"/>
              </a:lnSpc>
              <a:spcBef>
                <a:spcPts val="50"/>
              </a:spcBef>
              <a:buClr>
                <a:srgbClr val="2DA2BE"/>
              </a:buClr>
              <a:buFont typeface="Verdana"/>
              <a:buChar char="◦"/>
              <a:tabLst>
                <a:tab algn="l" pos="548005"/>
              </a:tabLst>
            </a:pPr>
            <a:r>
              <a:rPr dirty="0" sz="2300">
                <a:latin typeface="Lucida Sans Unicode"/>
                <a:cs typeface="Lucida Sans Unicode"/>
              </a:rPr>
              <a:t>Total</a:t>
            </a:r>
            <a:r>
              <a:rPr dirty="0" sz="2300" spc="-15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estimated</a:t>
            </a:r>
            <a:r>
              <a:rPr dirty="0" sz="2300" spc="-5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project</a:t>
            </a:r>
            <a:r>
              <a:rPr dirty="0" sz="2300" spc="-5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cost</a:t>
            </a:r>
            <a:r>
              <a:rPr dirty="0" sz="2300" spc="-55">
                <a:latin typeface="Lucida Sans Unicode"/>
                <a:cs typeface="Lucida Sans Unicode"/>
              </a:rPr>
              <a:t> </a:t>
            </a:r>
            <a:r>
              <a:rPr dirty="0" sz="2300" spc="-385">
                <a:latin typeface="Lucida Sans Unicode"/>
                <a:cs typeface="Lucida Sans Unicode"/>
              </a:rPr>
              <a:t>=</a:t>
            </a:r>
            <a:r>
              <a:rPr dirty="0" sz="2300" spc="-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W*Z</a:t>
            </a:r>
            <a:r>
              <a:rPr dirty="0" sz="2300" spc="-55">
                <a:latin typeface="Lucida Sans Unicode"/>
                <a:cs typeface="Lucida Sans Unicode"/>
              </a:rPr>
              <a:t> </a:t>
            </a:r>
            <a:r>
              <a:rPr dirty="0" sz="2300" spc="-385">
                <a:latin typeface="Lucida Sans Unicode"/>
                <a:cs typeface="Lucida Sans Unicode"/>
              </a:rPr>
              <a:t>=</a:t>
            </a:r>
            <a:r>
              <a:rPr dirty="0" sz="2300" spc="-5">
                <a:latin typeface="Lucida Sans Unicode"/>
                <a:cs typeface="Lucida Sans Unicode"/>
              </a:rPr>
              <a:t> </a:t>
            </a:r>
            <a:r>
              <a:rPr dirty="0" sz="2300" spc="-50">
                <a:latin typeface="Lucida Sans Unicode"/>
                <a:cs typeface="Lucida Sans Unicode"/>
              </a:rPr>
              <a:t>?</a:t>
            </a:r>
            <a:endParaRPr sz="2300">
              <a:latin typeface="Lucida Sans Unicode"/>
              <a:cs typeface="Lucida Sans Unicode"/>
            </a:endParaRPr>
          </a:p>
          <a:p>
            <a:pPr indent="-186055" lvl="1" marL="548005">
              <a:lnSpc>
                <a:spcPct val="100000"/>
              </a:lnSpc>
              <a:spcBef>
                <a:spcPts val="45"/>
              </a:spcBef>
              <a:buClr>
                <a:srgbClr val="2DA2BE"/>
              </a:buClr>
              <a:buFont typeface="Verdana"/>
              <a:buChar char="◦"/>
              <a:tabLst>
                <a:tab algn="l" pos="548005"/>
              </a:tabLst>
            </a:pPr>
            <a:r>
              <a:rPr dirty="0" sz="2300">
                <a:latin typeface="Lucida Sans Unicode"/>
                <a:cs typeface="Lucida Sans Unicode"/>
              </a:rPr>
              <a:t>Estimated</a:t>
            </a:r>
            <a:r>
              <a:rPr dirty="0" sz="2300" spc="-18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effort</a:t>
            </a:r>
            <a:r>
              <a:rPr dirty="0" sz="2300" spc="-95">
                <a:latin typeface="Lucida Sans Unicode"/>
                <a:cs typeface="Lucida Sans Unicode"/>
              </a:rPr>
              <a:t> </a:t>
            </a:r>
            <a:r>
              <a:rPr dirty="0" sz="2300" spc="-385">
                <a:latin typeface="Lucida Sans Unicode"/>
                <a:cs typeface="Lucida Sans Unicode"/>
              </a:rPr>
              <a:t>=</a:t>
            </a:r>
            <a:r>
              <a:rPr dirty="0" sz="2300" spc="-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W/X</a:t>
            </a:r>
            <a:r>
              <a:rPr dirty="0" sz="2300" spc="-75">
                <a:latin typeface="Lucida Sans Unicode"/>
                <a:cs typeface="Lucida Sans Unicode"/>
              </a:rPr>
              <a:t> </a:t>
            </a:r>
            <a:r>
              <a:rPr dirty="0" sz="2300" spc="-385">
                <a:latin typeface="Lucida Sans Unicode"/>
                <a:cs typeface="Lucida Sans Unicode"/>
              </a:rPr>
              <a:t>=</a:t>
            </a:r>
            <a:r>
              <a:rPr dirty="0" sz="2300" spc="-5">
                <a:latin typeface="Lucida Sans Unicode"/>
                <a:cs typeface="Lucida Sans Unicode"/>
              </a:rPr>
              <a:t> </a:t>
            </a:r>
            <a:r>
              <a:rPr dirty="0" sz="2300" spc="-50">
                <a:latin typeface="Lucida Sans Unicode"/>
                <a:cs typeface="Lucida Sans Unicode"/>
              </a:rPr>
              <a:t>?</a:t>
            </a:r>
            <a:endParaRPr sz="23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object 2" descr=""/>
          <p:cNvSpPr txBox="1"/>
          <p:nvPr/>
        </p:nvSpPr>
        <p:spPr>
          <a:xfrm>
            <a:off x="616677" y="1408794"/>
            <a:ext cx="7781925" cy="3804921"/>
          </a:xfrm>
          <a:prstGeom prst="rect"/>
        </p:spPr>
        <p:txBody>
          <a:bodyPr bIns="0" lIns="0" rIns="0" rtlCol="0" tIns="63500" vert="horz" wrap="square">
            <a:spAutoFit/>
          </a:bodyPr>
          <a:p>
            <a:pPr indent="-278765" marL="291465">
              <a:lnSpc>
                <a:spcPct val="100000"/>
              </a:lnSpc>
              <a:spcBef>
                <a:spcPts val="500"/>
              </a:spcBef>
              <a:buClr>
                <a:srgbClr val="2DA2BE"/>
              </a:buClr>
              <a:buSzPct val="66666"/>
              <a:buChar char="□"/>
              <a:tabLst>
                <a:tab algn="l" pos="291465"/>
              </a:tabLst>
            </a:pPr>
            <a:r>
              <a:rPr dirty="0" sz="2700">
                <a:latin typeface="Lucida Sans Unicode"/>
                <a:cs typeface="Lucida Sans Unicode"/>
              </a:rPr>
              <a:t>Key</a:t>
            </a:r>
            <a:r>
              <a:rPr dirty="0" sz="2700" spc="-15">
                <a:latin typeface="Lucida Sans Unicode"/>
                <a:cs typeface="Lucida Sans Unicode"/>
              </a:rPr>
              <a:t> </a:t>
            </a:r>
            <a:r>
              <a:rPr dirty="0" sz="2700" spc="-10">
                <a:latin typeface="Lucida Sans Unicode"/>
                <a:cs typeface="Lucida Sans Unicode"/>
              </a:rPr>
              <a:t>causes</a:t>
            </a:r>
            <a:endParaRPr sz="2700">
              <a:latin typeface="Lucida Sans Unicode"/>
              <a:cs typeface="Lucida Sans Unicode"/>
            </a:endParaRPr>
          </a:p>
          <a:p>
            <a:pPr indent="-186055" lvl="1" marL="548005">
              <a:lnSpc>
                <a:spcPct val="100000"/>
              </a:lnSpc>
              <a:spcBef>
                <a:spcPts val="340"/>
              </a:spcBef>
              <a:buClr>
                <a:srgbClr val="2DA2BE"/>
              </a:buClr>
              <a:buFont typeface="Verdana"/>
              <a:buChar char="◦"/>
              <a:tabLst>
                <a:tab algn="l" pos="548005"/>
              </a:tabLst>
            </a:pPr>
            <a:r>
              <a:rPr dirty="0" sz="2300">
                <a:latin typeface="Lucida Sans Unicode"/>
                <a:cs typeface="Lucida Sans Unicode"/>
              </a:rPr>
              <a:t>Frequent</a:t>
            </a:r>
            <a:r>
              <a:rPr dirty="0" sz="2300" spc="-9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request</a:t>
            </a:r>
            <a:r>
              <a:rPr dirty="0" sz="2300" spc="-90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for</a:t>
            </a:r>
            <a:r>
              <a:rPr dirty="0" sz="2300" spc="-90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change</a:t>
            </a:r>
            <a:r>
              <a:rPr dirty="0" sz="2300" spc="-90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by</a:t>
            </a:r>
            <a:r>
              <a:rPr dirty="0" sz="2300" spc="-90">
                <a:latin typeface="Lucida Sans Unicode"/>
                <a:cs typeface="Lucida Sans Unicode"/>
              </a:rPr>
              <a:t> </a:t>
            </a:r>
            <a:r>
              <a:rPr dirty="0" sz="2300" spc="-10">
                <a:latin typeface="Lucida Sans Unicode"/>
                <a:cs typeface="Lucida Sans Unicode"/>
              </a:rPr>
              <a:t>users</a:t>
            </a:r>
            <a:endParaRPr sz="2300">
              <a:latin typeface="Lucida Sans Unicode"/>
              <a:cs typeface="Lucida Sans Unicode"/>
            </a:endParaRPr>
          </a:p>
          <a:p>
            <a:pPr indent="-186055" lvl="1" marL="548005">
              <a:lnSpc>
                <a:spcPct val="100000"/>
              </a:lnSpc>
              <a:spcBef>
                <a:spcPts val="320"/>
              </a:spcBef>
              <a:buClr>
                <a:srgbClr val="2DA2BE"/>
              </a:buClr>
              <a:buFont typeface="Verdana"/>
              <a:buChar char="◦"/>
              <a:tabLst>
                <a:tab algn="l" pos="548005"/>
              </a:tabLst>
            </a:pPr>
            <a:r>
              <a:rPr dirty="0" sz="2300">
                <a:latin typeface="Lucida Sans Unicode"/>
                <a:cs typeface="Lucida Sans Unicode"/>
              </a:rPr>
              <a:t>Overlooked</a:t>
            </a:r>
            <a:r>
              <a:rPr dirty="0" sz="2300" spc="-180">
                <a:latin typeface="Lucida Sans Unicode"/>
                <a:cs typeface="Lucida Sans Unicode"/>
              </a:rPr>
              <a:t> </a:t>
            </a:r>
            <a:r>
              <a:rPr dirty="0" sz="2300" spc="-10">
                <a:latin typeface="Lucida Sans Unicode"/>
                <a:cs typeface="Lucida Sans Unicode"/>
              </a:rPr>
              <a:t>tasks</a:t>
            </a:r>
            <a:endParaRPr sz="2300">
              <a:latin typeface="Lucida Sans Unicode"/>
              <a:cs typeface="Lucida Sans Unicode"/>
            </a:endParaRPr>
          </a:p>
          <a:p>
            <a:pPr indent="-186055" lvl="1" marL="548005">
              <a:lnSpc>
                <a:spcPct val="100000"/>
              </a:lnSpc>
              <a:spcBef>
                <a:spcPts val="325"/>
              </a:spcBef>
              <a:buClr>
                <a:srgbClr val="2DA2BE"/>
              </a:buClr>
              <a:buFont typeface="Verdana"/>
              <a:buChar char="◦"/>
              <a:tabLst>
                <a:tab algn="l" pos="548005"/>
              </a:tabLst>
            </a:pPr>
            <a:r>
              <a:rPr dirty="0" sz="2300">
                <a:latin typeface="Lucida Sans Unicode"/>
                <a:cs typeface="Lucida Sans Unicode"/>
              </a:rPr>
              <a:t>User's</a:t>
            </a:r>
            <a:r>
              <a:rPr dirty="0" sz="2300" spc="-5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lack</a:t>
            </a:r>
            <a:r>
              <a:rPr dirty="0" sz="2300" spc="-50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of</a:t>
            </a:r>
            <a:r>
              <a:rPr dirty="0" sz="2300" spc="-50">
                <a:latin typeface="Lucida Sans Unicode"/>
                <a:cs typeface="Lucida Sans Unicode"/>
              </a:rPr>
              <a:t> </a:t>
            </a:r>
            <a:r>
              <a:rPr dirty="0" sz="2300" spc="-10">
                <a:latin typeface="Lucida Sans Unicode"/>
                <a:cs typeface="Lucida Sans Unicode"/>
              </a:rPr>
              <a:t>understanding</a:t>
            </a:r>
            <a:r>
              <a:rPr dirty="0" sz="2300" spc="-5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of</a:t>
            </a:r>
            <a:r>
              <a:rPr dirty="0" sz="2300" spc="-50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the</a:t>
            </a:r>
            <a:r>
              <a:rPr dirty="0" sz="2300" spc="-50">
                <a:latin typeface="Lucida Sans Unicode"/>
                <a:cs typeface="Lucida Sans Unicode"/>
              </a:rPr>
              <a:t> </a:t>
            </a:r>
            <a:r>
              <a:rPr dirty="0" sz="2300" spc="-10">
                <a:latin typeface="Lucida Sans Unicode"/>
                <a:cs typeface="Lucida Sans Unicode"/>
              </a:rPr>
              <a:t>requirements</a:t>
            </a:r>
            <a:endParaRPr sz="2300">
              <a:latin typeface="Lucida Sans Unicode"/>
              <a:cs typeface="Lucida Sans Unicode"/>
            </a:endParaRPr>
          </a:p>
          <a:p>
            <a:pPr indent="-186055" lvl="1" marL="548005">
              <a:lnSpc>
                <a:spcPct val="100000"/>
              </a:lnSpc>
              <a:spcBef>
                <a:spcPts val="325"/>
              </a:spcBef>
              <a:buClr>
                <a:srgbClr val="2DA2BE"/>
              </a:buClr>
              <a:buFont typeface="Verdana"/>
              <a:buChar char="◦"/>
              <a:tabLst>
                <a:tab algn="l" pos="548005"/>
              </a:tabLst>
            </a:pPr>
            <a:r>
              <a:rPr dirty="0" sz="2300" spc="-10">
                <a:latin typeface="Lucida Sans Unicode"/>
                <a:cs typeface="Lucida Sans Unicode"/>
              </a:rPr>
              <a:t>Insufficient</a:t>
            </a:r>
            <a:r>
              <a:rPr dirty="0" sz="2300" spc="-114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analysis</a:t>
            </a:r>
            <a:r>
              <a:rPr dirty="0" sz="2300" spc="-110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when</a:t>
            </a:r>
            <a:r>
              <a:rPr dirty="0" sz="2300" spc="-110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developing</a:t>
            </a:r>
            <a:r>
              <a:rPr dirty="0" sz="2300" spc="-110">
                <a:latin typeface="Lucida Sans Unicode"/>
                <a:cs typeface="Lucida Sans Unicode"/>
              </a:rPr>
              <a:t> </a:t>
            </a:r>
            <a:r>
              <a:rPr dirty="0" sz="2300" spc="-10">
                <a:latin typeface="Lucida Sans Unicode"/>
                <a:cs typeface="Lucida Sans Unicode"/>
              </a:rPr>
              <a:t>estimates</a:t>
            </a:r>
            <a:endParaRPr sz="2300">
              <a:latin typeface="Lucida Sans Unicode"/>
              <a:cs typeface="Lucida Sans Unicode"/>
            </a:endParaRPr>
          </a:p>
          <a:p>
            <a:pPr indent="-186690" lvl="1" marL="548005" marR="5080">
              <a:lnSpc>
                <a:spcPct val="100000"/>
              </a:lnSpc>
              <a:spcBef>
                <a:spcPts val="325"/>
              </a:spcBef>
              <a:buClr>
                <a:srgbClr val="2DA2BE"/>
              </a:buClr>
              <a:buFont typeface="Verdana"/>
              <a:buChar char="◦"/>
              <a:tabLst>
                <a:tab algn="l" pos="548005"/>
              </a:tabLst>
            </a:pPr>
            <a:r>
              <a:rPr dirty="0" sz="2300">
                <a:latin typeface="Lucida Sans Unicode"/>
                <a:cs typeface="Lucida Sans Unicode"/>
              </a:rPr>
              <a:t>Lack</a:t>
            </a:r>
            <a:r>
              <a:rPr dirty="0" sz="2300" spc="-6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of</a:t>
            </a:r>
            <a:r>
              <a:rPr dirty="0" sz="2300" spc="-60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coordination</a:t>
            </a:r>
            <a:r>
              <a:rPr dirty="0" sz="2300" spc="-60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of</a:t>
            </a:r>
            <a:r>
              <a:rPr dirty="0" sz="2300" spc="-60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system</a:t>
            </a:r>
            <a:r>
              <a:rPr dirty="0" sz="2300" spc="-60">
                <a:latin typeface="Lucida Sans Unicode"/>
                <a:cs typeface="Lucida Sans Unicode"/>
              </a:rPr>
              <a:t> </a:t>
            </a:r>
            <a:r>
              <a:rPr dirty="0" sz="2300" spc="-10">
                <a:latin typeface="Lucida Sans Unicode"/>
                <a:cs typeface="Lucida Sans Unicode"/>
              </a:rPr>
              <a:t>development, </a:t>
            </a:r>
            <a:r>
              <a:rPr dirty="0" sz="2300">
                <a:latin typeface="Lucida Sans Unicode"/>
                <a:cs typeface="Lucida Sans Unicode"/>
              </a:rPr>
              <a:t>technical</a:t>
            </a:r>
            <a:r>
              <a:rPr dirty="0" sz="2300" spc="-110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services,</a:t>
            </a:r>
            <a:r>
              <a:rPr dirty="0" sz="2300" spc="-110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operations,</a:t>
            </a:r>
            <a:r>
              <a:rPr dirty="0" sz="2300" spc="-110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data</a:t>
            </a:r>
            <a:r>
              <a:rPr dirty="0" sz="2300" spc="-110">
                <a:latin typeface="Lucida Sans Unicode"/>
                <a:cs typeface="Lucida Sans Unicode"/>
              </a:rPr>
              <a:t> </a:t>
            </a:r>
            <a:r>
              <a:rPr dirty="0" sz="2300" spc="-10">
                <a:latin typeface="Lucida Sans Unicode"/>
                <a:cs typeface="Lucida Sans Unicode"/>
              </a:rPr>
              <a:t>administration, </a:t>
            </a:r>
            <a:r>
              <a:rPr dirty="0" sz="2300">
                <a:latin typeface="Lucida Sans Unicode"/>
                <a:cs typeface="Lucida Sans Unicode"/>
              </a:rPr>
              <a:t>and</a:t>
            </a:r>
            <a:r>
              <a:rPr dirty="0" sz="2300" spc="-5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other</a:t>
            </a:r>
            <a:r>
              <a:rPr dirty="0" sz="2300" spc="-5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functions</a:t>
            </a:r>
            <a:r>
              <a:rPr dirty="0" sz="2300" spc="-5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during</a:t>
            </a:r>
            <a:r>
              <a:rPr dirty="0" sz="2300" spc="-55">
                <a:latin typeface="Lucida Sans Unicode"/>
                <a:cs typeface="Lucida Sans Unicode"/>
              </a:rPr>
              <a:t> </a:t>
            </a:r>
            <a:r>
              <a:rPr dirty="0" sz="2300" spc="-10">
                <a:latin typeface="Lucida Sans Unicode"/>
                <a:cs typeface="Lucida Sans Unicode"/>
              </a:rPr>
              <a:t>development</a:t>
            </a:r>
            <a:endParaRPr sz="2300">
              <a:latin typeface="Lucida Sans Unicode"/>
              <a:cs typeface="Lucida Sans Unicode"/>
            </a:endParaRPr>
          </a:p>
          <a:p>
            <a:pPr indent="-186690" lvl="1" marL="548005" marR="760730">
              <a:lnSpc>
                <a:spcPct val="100000"/>
              </a:lnSpc>
              <a:spcBef>
                <a:spcPts val="325"/>
              </a:spcBef>
              <a:buClr>
                <a:srgbClr val="2DA2BE"/>
              </a:buClr>
              <a:buFont typeface="Verdana"/>
              <a:buChar char="◦"/>
              <a:tabLst>
                <a:tab algn="l" pos="548005"/>
              </a:tabLst>
            </a:pPr>
            <a:r>
              <a:rPr dirty="0" sz="2300">
                <a:latin typeface="Lucida Sans Unicode"/>
                <a:cs typeface="Lucida Sans Unicode"/>
              </a:rPr>
              <a:t>Lack</a:t>
            </a:r>
            <a:r>
              <a:rPr dirty="0" sz="2300" spc="-8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of</a:t>
            </a:r>
            <a:r>
              <a:rPr dirty="0" sz="2300" spc="-80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an</a:t>
            </a:r>
            <a:r>
              <a:rPr dirty="0" sz="2300" spc="-8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adequate</a:t>
            </a:r>
            <a:r>
              <a:rPr dirty="0" sz="2300" spc="-80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method</a:t>
            </a:r>
            <a:r>
              <a:rPr dirty="0" sz="2300" spc="-80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or</a:t>
            </a:r>
            <a:r>
              <a:rPr dirty="0" sz="2300" spc="-8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guidelines</a:t>
            </a:r>
            <a:r>
              <a:rPr dirty="0" sz="2300" spc="-80">
                <a:latin typeface="Lucida Sans Unicode"/>
                <a:cs typeface="Lucida Sans Unicode"/>
              </a:rPr>
              <a:t> </a:t>
            </a:r>
            <a:r>
              <a:rPr dirty="0" sz="2300" spc="-25">
                <a:latin typeface="Lucida Sans Unicode"/>
                <a:cs typeface="Lucida Sans Unicode"/>
              </a:rPr>
              <a:t>for </a:t>
            </a:r>
            <a:r>
              <a:rPr dirty="0" sz="2300" spc="-10">
                <a:latin typeface="Lucida Sans Unicode"/>
                <a:cs typeface="Lucida Sans Unicode"/>
              </a:rPr>
              <a:t>estimating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1048624" name="object 3"/>
          <p:cNvSpPr txBox="1">
            <a:spLocks noGrp="1"/>
          </p:cNvSpPr>
          <p:nvPr>
            <p:ph type="title"/>
          </p:nvPr>
        </p:nvSpPr>
        <p:spPr>
          <a:xfrm>
            <a:off x="530225" y="62884"/>
            <a:ext cx="7493634" cy="929005"/>
          </a:xfrm>
          <a:prstGeom prst="rect"/>
        </p:spPr>
        <p:txBody>
          <a:bodyPr bIns="0" lIns="0" rIns="0" rtlCol="0" tIns="17780" vert="horz" wrap="square">
            <a:spAutoFit/>
          </a:bodyPr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650" spc="220"/>
              <a:t>3.3</a:t>
            </a:r>
            <a:r>
              <a:rPr dirty="0" sz="3650" spc="20"/>
              <a:t> </a:t>
            </a:r>
            <a:r>
              <a:rPr dirty="0" sz="3650" spc="305"/>
              <a:t>Effort</a:t>
            </a:r>
            <a:r>
              <a:rPr dirty="0" sz="3650" spc="20"/>
              <a:t> </a:t>
            </a:r>
            <a:r>
              <a:rPr dirty="0" sz="3650" spc="325"/>
              <a:t>Estimation</a:t>
            </a:r>
            <a:endParaRPr sz="3650"/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2500" spc="210"/>
              <a:t>Sidebar</a:t>
            </a:r>
            <a:r>
              <a:rPr dirty="0" sz="2500" spc="10"/>
              <a:t> </a:t>
            </a:r>
            <a:r>
              <a:rPr dirty="0" sz="2500" spc="150"/>
              <a:t>3.3</a:t>
            </a:r>
            <a:r>
              <a:rPr dirty="0" sz="2500" spc="15"/>
              <a:t> </a:t>
            </a:r>
            <a:r>
              <a:rPr dirty="0" sz="2500" spc="310"/>
              <a:t>Causes</a:t>
            </a:r>
            <a:r>
              <a:rPr dirty="0" sz="2500" spc="10"/>
              <a:t> </a:t>
            </a:r>
            <a:r>
              <a:rPr dirty="0" sz="2500" spc="250"/>
              <a:t>of</a:t>
            </a:r>
            <a:r>
              <a:rPr dirty="0" sz="2500" spc="15"/>
              <a:t> </a:t>
            </a:r>
            <a:r>
              <a:rPr dirty="0" sz="2500" spc="180"/>
              <a:t>Inaccurate</a:t>
            </a:r>
            <a:r>
              <a:rPr dirty="0" sz="2500" spc="15"/>
              <a:t> </a:t>
            </a:r>
            <a:r>
              <a:rPr dirty="0" sz="2500" spc="229"/>
              <a:t>Estimates</a:t>
            </a:r>
            <a:endParaRPr sz="2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object 2"/>
          <p:cNvSpPr txBox="1">
            <a:spLocks noGrp="1"/>
          </p:cNvSpPr>
          <p:nvPr>
            <p:ph type="title"/>
          </p:nvPr>
        </p:nvSpPr>
        <p:spPr>
          <a:xfrm>
            <a:off x="758825" y="206298"/>
            <a:ext cx="6194425" cy="1089955"/>
          </a:xfrm>
          <a:prstGeom prst="rect"/>
        </p:spPr>
        <p:txBody>
          <a:bodyPr bIns="0" lIns="0" rIns="0" rtlCol="0" tIns="11430" vert="horz" wrap="square">
            <a:spAutoFit/>
          </a:bodyPr>
          <a:p>
            <a:pPr marL="12700" marR="5080">
              <a:lnSpc>
                <a:spcPct val="101099"/>
              </a:lnSpc>
              <a:spcBef>
                <a:spcPts val="90"/>
              </a:spcBef>
            </a:pPr>
            <a:r>
              <a:rPr dirty="0" sz="3650" spc="310"/>
              <a:t>Introduction</a:t>
            </a:r>
            <a:r>
              <a:rPr dirty="0" sz="3650" spc="15"/>
              <a:t> </a:t>
            </a:r>
            <a:r>
              <a:rPr dirty="0" sz="3650" spc="275"/>
              <a:t>to</a:t>
            </a:r>
            <a:r>
              <a:rPr dirty="0" sz="3650" spc="20"/>
              <a:t> </a:t>
            </a:r>
            <a:r>
              <a:rPr dirty="0" sz="3650" spc="265"/>
              <a:t>Function </a:t>
            </a:r>
            <a:r>
              <a:rPr dirty="0" sz="3650" spc="350"/>
              <a:t>Points</a:t>
            </a:r>
            <a:endParaRPr sz="3650"/>
          </a:p>
        </p:txBody>
      </p:sp>
      <p:sp>
        <p:nvSpPr>
          <p:cNvPr id="1048659" name="object 4" descr="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0" vert="horz" wrap="square">
            <a:spAutoFit/>
          </a:bodyPr>
          <a:p>
            <a:pPr marL="38100">
              <a:lnSpc>
                <a:spcPts val="1630"/>
              </a:lnSpc>
            </a:pPr>
            <a:fld id="{81D60167-4931-47E6-BA6A-407CBD079E47}" type="slidenum">
              <a:rPr dirty="0" sz="1400" spc="-25">
                <a:latin typeface="Times New Roman"/>
                <a:cs typeface="Times New Roman"/>
              </a:rPr>
              <a:t>12</a:t>
            </a:fld>
            <a:endParaRPr sz="1400">
              <a:latin typeface="Times New Roman"/>
              <a:cs typeface="Times New Roman"/>
            </a:endParaRPr>
          </a:p>
        </p:txBody>
      </p:sp>
      <p:sp>
        <p:nvSpPr>
          <p:cNvPr id="1048660" name="object 3" descr=""/>
          <p:cNvSpPr txBox="1"/>
          <p:nvPr/>
        </p:nvSpPr>
        <p:spPr>
          <a:xfrm>
            <a:off x="420635" y="1203147"/>
            <a:ext cx="8656320" cy="4001135"/>
          </a:xfrm>
          <a:prstGeom prst="rect"/>
        </p:spPr>
        <p:txBody>
          <a:bodyPr bIns="0" lIns="0" rIns="0" rtlCol="0" tIns="53975" vert="horz" wrap="square">
            <a:spAutoFit/>
          </a:bodyPr>
          <a:p>
            <a:pPr indent="-554355" marL="579120" marR="728345">
              <a:lnSpc>
                <a:spcPts val="2590"/>
              </a:lnSpc>
              <a:spcBef>
                <a:spcPts val="425"/>
              </a:spcBef>
              <a:buClr>
                <a:srgbClr val="2DA2BE"/>
              </a:buClr>
              <a:buSzPct val="66666"/>
              <a:buChar char="□"/>
              <a:tabLst>
                <a:tab algn="l" pos="579120"/>
              </a:tabLst>
            </a:pPr>
            <a:r>
              <a:rPr dirty="0" sz="2400">
                <a:latin typeface="Lucida Sans Unicode"/>
                <a:cs typeface="Lucida Sans Unicode"/>
              </a:rPr>
              <a:t>Can</a:t>
            </a:r>
            <a:r>
              <a:rPr dirty="0" sz="2400" spc="-55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be</a:t>
            </a:r>
            <a:r>
              <a:rPr dirty="0" sz="2400" spc="-5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used</a:t>
            </a:r>
            <a:r>
              <a:rPr dirty="0" sz="2400" spc="-55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effectively</a:t>
            </a:r>
            <a:r>
              <a:rPr dirty="0" sz="2400" spc="-5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as</a:t>
            </a:r>
            <a:r>
              <a:rPr dirty="0" sz="2400" spc="-55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a</a:t>
            </a:r>
            <a:r>
              <a:rPr dirty="0" sz="2400" spc="-5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means</a:t>
            </a:r>
            <a:r>
              <a:rPr dirty="0" sz="2400" spc="-5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for</a:t>
            </a:r>
            <a:r>
              <a:rPr dirty="0" sz="2400" spc="-55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measuring </a:t>
            </a:r>
            <a:r>
              <a:rPr dirty="0" sz="2400">
                <a:latin typeface="Lucida Sans Unicode"/>
                <a:cs typeface="Lucida Sans Unicode"/>
              </a:rPr>
              <a:t>the</a:t>
            </a:r>
            <a:r>
              <a:rPr dirty="0" sz="2400" spc="-60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functionality</a:t>
            </a:r>
            <a:r>
              <a:rPr dirty="0" sz="2400" spc="-6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delivered</a:t>
            </a:r>
            <a:r>
              <a:rPr dirty="0" sz="2400" spc="-6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by</a:t>
            </a:r>
            <a:r>
              <a:rPr dirty="0" sz="2400" spc="-6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a</a:t>
            </a:r>
            <a:r>
              <a:rPr dirty="0" sz="2400" spc="-60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system</a:t>
            </a:r>
            <a:endParaRPr sz="2400">
              <a:latin typeface="Lucida Sans Unicode"/>
              <a:cs typeface="Lucida Sans Unicode"/>
            </a:endParaRPr>
          </a:p>
          <a:p>
            <a:pPr indent="-554355" marL="579120" marR="735965">
              <a:lnSpc>
                <a:spcPts val="2590"/>
              </a:lnSpc>
              <a:spcBef>
                <a:spcPts val="405"/>
              </a:spcBef>
              <a:buClr>
                <a:srgbClr val="2DA2BE"/>
              </a:buClr>
              <a:buSzPct val="66666"/>
              <a:buChar char="□"/>
              <a:tabLst>
                <a:tab algn="l" pos="579120"/>
              </a:tabLst>
            </a:pPr>
            <a:r>
              <a:rPr dirty="0" sz="2400">
                <a:latin typeface="Lucida Sans Unicode"/>
                <a:cs typeface="Lucida Sans Unicode"/>
              </a:rPr>
              <a:t>Using</a:t>
            </a:r>
            <a:r>
              <a:rPr dirty="0" sz="2400" spc="-9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historical</a:t>
            </a:r>
            <a:r>
              <a:rPr dirty="0" sz="2400" spc="-9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data,</a:t>
            </a:r>
            <a:r>
              <a:rPr dirty="0" sz="2400" spc="-9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function</a:t>
            </a:r>
            <a:r>
              <a:rPr dirty="0" sz="2400" spc="-9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points</a:t>
            </a:r>
            <a:r>
              <a:rPr dirty="0" sz="2400" spc="-9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can</a:t>
            </a:r>
            <a:r>
              <a:rPr dirty="0" sz="2400" spc="-9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be</a:t>
            </a:r>
            <a:r>
              <a:rPr dirty="0" sz="2400" spc="-85">
                <a:latin typeface="Lucida Sans Unicode"/>
                <a:cs typeface="Lucida Sans Unicode"/>
              </a:rPr>
              <a:t> </a:t>
            </a:r>
            <a:r>
              <a:rPr dirty="0" sz="2400" spc="-20">
                <a:latin typeface="Lucida Sans Unicode"/>
                <a:cs typeface="Lucida Sans Unicode"/>
              </a:rPr>
              <a:t>used </a:t>
            </a:r>
            <a:r>
              <a:rPr dirty="0" sz="2400" spc="-25">
                <a:latin typeface="Lucida Sans Unicode"/>
                <a:cs typeface="Lucida Sans Unicode"/>
              </a:rPr>
              <a:t>to</a:t>
            </a:r>
            <a:endParaRPr sz="2400">
              <a:latin typeface="Lucida Sans Unicode"/>
              <a:cs typeface="Lucida Sans Unicode"/>
            </a:endParaRPr>
          </a:p>
          <a:p>
            <a:pPr indent="-420370" lvl="1" marL="960119" marR="751840">
              <a:lnSpc>
                <a:spcPts val="2160"/>
              </a:lnSpc>
              <a:spcBef>
                <a:spcPts val="325"/>
              </a:spcBef>
              <a:buClr>
                <a:srgbClr val="2DA2BE"/>
              </a:buClr>
              <a:buFont typeface="Verdana"/>
              <a:buChar char="◦"/>
              <a:tabLst>
                <a:tab algn="l" pos="960119"/>
              </a:tabLst>
            </a:pPr>
            <a:r>
              <a:rPr dirty="0" sz="2000">
                <a:latin typeface="Lucida Sans Unicode"/>
                <a:cs typeface="Lucida Sans Unicode"/>
              </a:rPr>
              <a:t>Estimate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the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cost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or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effort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required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to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design,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code,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 spc="-25">
                <a:latin typeface="Lucida Sans Unicode"/>
                <a:cs typeface="Lucida Sans Unicode"/>
              </a:rPr>
              <a:t>and </a:t>
            </a:r>
            <a:r>
              <a:rPr dirty="0" sz="2000">
                <a:latin typeface="Lucida Sans Unicode"/>
                <a:cs typeface="Lucida Sans Unicode"/>
              </a:rPr>
              <a:t>test</a:t>
            </a:r>
            <a:r>
              <a:rPr dirty="0" sz="2000" spc="-3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the</a:t>
            </a:r>
            <a:r>
              <a:rPr dirty="0" sz="2000" spc="-30">
                <a:latin typeface="Lucida Sans Unicode"/>
                <a:cs typeface="Lucida Sans Unicode"/>
              </a:rPr>
              <a:t> </a:t>
            </a:r>
            <a:r>
              <a:rPr dirty="0" sz="2000" spc="-10">
                <a:latin typeface="Lucida Sans Unicode"/>
                <a:cs typeface="Lucida Sans Unicode"/>
              </a:rPr>
              <a:t>software</a:t>
            </a:r>
            <a:endParaRPr sz="2000">
              <a:latin typeface="Lucida Sans Unicode"/>
              <a:cs typeface="Lucida Sans Unicode"/>
            </a:endParaRPr>
          </a:p>
          <a:p>
            <a:pPr indent="-420370" lvl="1" marL="960119" marR="1116965">
              <a:lnSpc>
                <a:spcPts val="2160"/>
              </a:lnSpc>
              <a:spcBef>
                <a:spcPts val="325"/>
              </a:spcBef>
              <a:buClr>
                <a:srgbClr val="2DA2BE"/>
              </a:buClr>
              <a:buFont typeface="Verdana"/>
              <a:buChar char="◦"/>
              <a:tabLst>
                <a:tab algn="l" pos="960119"/>
              </a:tabLst>
            </a:pPr>
            <a:r>
              <a:rPr dirty="0" sz="2000">
                <a:latin typeface="Lucida Sans Unicode"/>
                <a:cs typeface="Lucida Sans Unicode"/>
              </a:rPr>
              <a:t>Predict</a:t>
            </a:r>
            <a:r>
              <a:rPr dirty="0" sz="2000" spc="-2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the</a:t>
            </a:r>
            <a:r>
              <a:rPr dirty="0" sz="2000" spc="-2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number</a:t>
            </a:r>
            <a:r>
              <a:rPr dirty="0" sz="2000" spc="-2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of</a:t>
            </a:r>
            <a:r>
              <a:rPr dirty="0" sz="2000" spc="-1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errors</a:t>
            </a:r>
            <a:r>
              <a:rPr dirty="0" sz="2000" spc="-2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that</a:t>
            </a:r>
            <a:r>
              <a:rPr dirty="0" sz="2000" spc="-2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will</a:t>
            </a:r>
            <a:r>
              <a:rPr dirty="0" sz="2000" spc="-2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be</a:t>
            </a:r>
            <a:r>
              <a:rPr dirty="0" sz="2000" spc="-15">
                <a:latin typeface="Lucida Sans Unicode"/>
                <a:cs typeface="Lucida Sans Unicode"/>
              </a:rPr>
              <a:t> </a:t>
            </a:r>
            <a:r>
              <a:rPr dirty="0" sz="2000" spc="-10">
                <a:latin typeface="Lucida Sans Unicode"/>
                <a:cs typeface="Lucida Sans Unicode"/>
              </a:rPr>
              <a:t>encountered </a:t>
            </a:r>
            <a:r>
              <a:rPr dirty="0" sz="2000">
                <a:latin typeface="Lucida Sans Unicode"/>
                <a:cs typeface="Lucida Sans Unicode"/>
              </a:rPr>
              <a:t>during</a:t>
            </a:r>
            <a:r>
              <a:rPr dirty="0" sz="2000" spc="-30">
                <a:latin typeface="Lucida Sans Unicode"/>
                <a:cs typeface="Lucida Sans Unicode"/>
              </a:rPr>
              <a:t> </a:t>
            </a:r>
            <a:r>
              <a:rPr dirty="0" sz="2000" spc="-10">
                <a:latin typeface="Lucida Sans Unicode"/>
                <a:cs typeface="Lucida Sans Unicode"/>
              </a:rPr>
              <a:t>testing</a:t>
            </a:r>
            <a:endParaRPr sz="2000">
              <a:latin typeface="Lucida Sans Unicode"/>
              <a:cs typeface="Lucida Sans Unicode"/>
            </a:endParaRPr>
          </a:p>
          <a:p>
            <a:pPr indent="-420370" lvl="1" marL="960119" marR="545465">
              <a:lnSpc>
                <a:spcPts val="2160"/>
              </a:lnSpc>
              <a:spcBef>
                <a:spcPts val="325"/>
              </a:spcBef>
              <a:buClr>
                <a:srgbClr val="2DA2BE"/>
              </a:buClr>
              <a:buFont typeface="Verdana"/>
              <a:buChar char="◦"/>
              <a:tabLst>
                <a:tab algn="l" pos="960119"/>
              </a:tabLst>
            </a:pPr>
            <a:r>
              <a:rPr dirty="0" sz="2000">
                <a:latin typeface="Lucida Sans Unicode"/>
                <a:cs typeface="Lucida Sans Unicode"/>
              </a:rPr>
              <a:t>Forecast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the</a:t>
            </a:r>
            <a:r>
              <a:rPr dirty="0" sz="2000" spc="-3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number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of</a:t>
            </a:r>
            <a:r>
              <a:rPr dirty="0" sz="2000" spc="-3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components</a:t>
            </a:r>
            <a:r>
              <a:rPr dirty="0" sz="2000" spc="-3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and/or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the</a:t>
            </a:r>
            <a:r>
              <a:rPr dirty="0" sz="2000" spc="-30">
                <a:latin typeface="Lucida Sans Unicode"/>
                <a:cs typeface="Lucida Sans Unicode"/>
              </a:rPr>
              <a:t> </a:t>
            </a:r>
            <a:r>
              <a:rPr dirty="0" sz="2000" spc="-10">
                <a:latin typeface="Lucida Sans Unicode"/>
                <a:cs typeface="Lucida Sans Unicode"/>
              </a:rPr>
              <a:t>number </a:t>
            </a:r>
            <a:r>
              <a:rPr dirty="0" sz="2000">
                <a:latin typeface="Lucida Sans Unicode"/>
                <a:cs typeface="Lucida Sans Unicode"/>
              </a:rPr>
              <a:t>of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projected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source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code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lines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in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the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implemented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 spc="-10">
                <a:latin typeface="Lucida Sans Unicode"/>
                <a:cs typeface="Lucida Sans Unicode"/>
              </a:rPr>
              <a:t>system</a:t>
            </a:r>
            <a:endParaRPr sz="2000">
              <a:latin typeface="Lucida Sans Unicode"/>
              <a:cs typeface="Lucida Sans Unicode"/>
            </a:endParaRPr>
          </a:p>
          <a:p>
            <a:pPr indent="-553720" marL="579120">
              <a:lnSpc>
                <a:spcPct val="100000"/>
              </a:lnSpc>
              <a:spcBef>
                <a:spcPts val="75"/>
              </a:spcBef>
              <a:buClr>
                <a:srgbClr val="2DA2BE"/>
              </a:buClr>
              <a:buSzPct val="66666"/>
              <a:buChar char="□"/>
              <a:tabLst>
                <a:tab algn="l" pos="579120"/>
              </a:tabLst>
            </a:pPr>
            <a:r>
              <a:rPr dirty="0" sz="2400">
                <a:latin typeface="Lucida Sans Unicode"/>
                <a:cs typeface="Lucida Sans Unicode"/>
              </a:rPr>
              <a:t>Derived</a:t>
            </a:r>
            <a:r>
              <a:rPr dirty="0" sz="2400" spc="-95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using</a:t>
            </a:r>
            <a:r>
              <a:rPr dirty="0" sz="2400" spc="-9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an</a:t>
            </a:r>
            <a:r>
              <a:rPr dirty="0" sz="2400" spc="-9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empirical</a:t>
            </a:r>
            <a:r>
              <a:rPr dirty="0" sz="2400" spc="-95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relationship</a:t>
            </a:r>
            <a:r>
              <a:rPr dirty="0" sz="2400" spc="-9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based</a:t>
            </a:r>
            <a:r>
              <a:rPr dirty="0" sz="2400" spc="-90">
                <a:latin typeface="Lucida Sans Unicode"/>
                <a:cs typeface="Lucida Sans Unicode"/>
              </a:rPr>
              <a:t> </a:t>
            </a:r>
            <a:r>
              <a:rPr dirty="0" sz="2400" spc="-25">
                <a:latin typeface="Lucida Sans Unicode"/>
                <a:cs typeface="Lucida Sans Unicode"/>
              </a:rPr>
              <a:t>on</a:t>
            </a:r>
            <a:endParaRPr sz="2400">
              <a:latin typeface="Lucida Sans Unicode"/>
              <a:cs typeface="Lucida Sans Unicode"/>
            </a:endParaRPr>
          </a:p>
          <a:p>
            <a:pPr indent="-573405" marL="960119" marR="549275">
              <a:lnSpc>
                <a:spcPts val="2160"/>
              </a:lnSpc>
              <a:spcBef>
                <a:spcPts val="360"/>
              </a:spcBef>
              <a:buClr>
                <a:srgbClr val="2DA2BE"/>
              </a:buClr>
              <a:buAutoNum type="arabicParenR"/>
              <a:tabLst>
                <a:tab algn="l" pos="960119"/>
              </a:tabLst>
            </a:pPr>
            <a:r>
              <a:rPr dirty="0" sz="2000">
                <a:latin typeface="Lucida Sans Unicode"/>
                <a:cs typeface="Lucida Sans Unicode"/>
              </a:rPr>
              <a:t>Countable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(direct)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measures</a:t>
            </a:r>
            <a:r>
              <a:rPr dirty="0" sz="2000" spc="-3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of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the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software’s</a:t>
            </a:r>
            <a:r>
              <a:rPr dirty="0" sz="2000" spc="-5">
                <a:latin typeface="Lucida Sans Unicode"/>
                <a:cs typeface="Lucida Sans Unicode"/>
              </a:rPr>
              <a:t> </a:t>
            </a:r>
            <a:r>
              <a:rPr dirty="0" sz="2000" spc="-10" u="heavy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information</a:t>
            </a:r>
            <a:r>
              <a:rPr dirty="0" sz="2000" spc="-10">
                <a:latin typeface="Lucida Sans Unicode"/>
                <a:cs typeface="Lucida Sans Unicode"/>
              </a:rPr>
              <a:t> </a:t>
            </a:r>
            <a:r>
              <a:rPr dirty="0" sz="2000" spc="-10" u="heavy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domain</a:t>
            </a:r>
            <a:endParaRPr sz="2000">
              <a:latin typeface="Lucida Sans Unicode"/>
              <a:cs typeface="Lucida Sans Unicode"/>
            </a:endParaRPr>
          </a:p>
          <a:p>
            <a:pPr indent="-573405" marL="960119">
              <a:lnSpc>
                <a:spcPct val="100000"/>
              </a:lnSpc>
              <a:spcBef>
                <a:spcPts val="55"/>
              </a:spcBef>
              <a:buClr>
                <a:srgbClr val="2DA2BE"/>
              </a:buClr>
              <a:buAutoNum type="arabicParenR"/>
              <a:tabLst>
                <a:tab algn="l" pos="960119"/>
              </a:tabLst>
            </a:pPr>
            <a:r>
              <a:rPr dirty="0" sz="2000" spc="-10">
                <a:latin typeface="Lucida Sans Unicode"/>
                <a:cs typeface="Lucida Sans Unicode"/>
              </a:rPr>
              <a:t>Assessments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of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the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software’s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 spc="-10">
                <a:latin typeface="Lucida Sans Unicode"/>
                <a:cs typeface="Lucida Sans Unicode"/>
              </a:rPr>
              <a:t>complexity</a:t>
            </a:r>
            <a:endParaRPr sz="2000">
              <a:latin typeface="Lucida Sans Unicode"/>
              <a:cs typeface="Lucida Sans Unicode"/>
            </a:endParaRPr>
          </a:p>
          <a:p>
            <a:pPr marL="960119">
              <a:lnSpc>
                <a:spcPct val="100000"/>
              </a:lnSpc>
              <a:spcBef>
                <a:spcPts val="480"/>
              </a:spcBef>
            </a:pPr>
            <a:r>
              <a:rPr dirty="0" sz="2400">
                <a:latin typeface="Courier New"/>
                <a:cs typeface="Courier New"/>
              </a:rPr>
              <a:t>FP</a:t>
            </a:r>
            <a:r>
              <a:rPr dirty="0" sz="2400" spc="-25">
                <a:latin typeface="Courier New"/>
                <a:cs typeface="Courier New"/>
              </a:rPr>
              <a:t> </a:t>
            </a:r>
            <a:r>
              <a:rPr dirty="0" sz="2400">
                <a:latin typeface="Courier New"/>
                <a:cs typeface="Courier New"/>
              </a:rPr>
              <a:t>=</a:t>
            </a:r>
            <a:r>
              <a:rPr dirty="0" sz="2400" spc="-15">
                <a:latin typeface="Courier New"/>
                <a:cs typeface="Courier New"/>
              </a:rPr>
              <a:t> </a:t>
            </a:r>
            <a:r>
              <a:rPr dirty="0" sz="2400">
                <a:latin typeface="Courier New"/>
                <a:cs typeface="Courier New"/>
              </a:rPr>
              <a:t>count</a:t>
            </a:r>
            <a:r>
              <a:rPr dirty="0" sz="2400" spc="-15">
                <a:latin typeface="Courier New"/>
                <a:cs typeface="Courier New"/>
              </a:rPr>
              <a:t> </a:t>
            </a:r>
            <a:r>
              <a:rPr dirty="0" sz="2400">
                <a:latin typeface="Courier New"/>
                <a:cs typeface="Courier New"/>
              </a:rPr>
              <a:t>total</a:t>
            </a:r>
            <a:r>
              <a:rPr dirty="0" sz="2400" spc="-15">
                <a:latin typeface="Courier New"/>
                <a:cs typeface="Courier New"/>
              </a:rPr>
              <a:t> </a:t>
            </a:r>
            <a:r>
              <a:rPr dirty="0" sz="2400">
                <a:latin typeface="Courier New"/>
                <a:cs typeface="Courier New"/>
              </a:rPr>
              <a:t>*</a:t>
            </a:r>
            <a:r>
              <a:rPr dirty="0" sz="2400" spc="-10">
                <a:latin typeface="Courier New"/>
                <a:cs typeface="Courier New"/>
              </a:rPr>
              <a:t> </a:t>
            </a:r>
            <a:r>
              <a:rPr dirty="0" sz="2400">
                <a:latin typeface="Courier New"/>
                <a:cs typeface="Courier New"/>
              </a:rPr>
              <a:t>[0.65</a:t>
            </a:r>
            <a:r>
              <a:rPr dirty="0" sz="2400" spc="-15">
                <a:latin typeface="Courier New"/>
                <a:cs typeface="Courier New"/>
              </a:rPr>
              <a:t> </a:t>
            </a:r>
            <a:r>
              <a:rPr dirty="0" sz="2400">
                <a:latin typeface="Courier New"/>
                <a:cs typeface="Courier New"/>
              </a:rPr>
              <a:t>+</a:t>
            </a:r>
            <a:r>
              <a:rPr dirty="0" sz="2400" spc="-15">
                <a:latin typeface="Courier New"/>
                <a:cs typeface="Courier New"/>
              </a:rPr>
              <a:t> </a:t>
            </a:r>
            <a:r>
              <a:rPr dirty="0" sz="2400">
                <a:latin typeface="Courier New"/>
                <a:cs typeface="Courier New"/>
              </a:rPr>
              <a:t>0.01</a:t>
            </a:r>
            <a:r>
              <a:rPr dirty="0" sz="2400" spc="-15">
                <a:latin typeface="Courier New"/>
                <a:cs typeface="Courier New"/>
              </a:rPr>
              <a:t> </a:t>
            </a:r>
            <a:r>
              <a:rPr dirty="0" sz="2400">
                <a:latin typeface="Courier New"/>
                <a:cs typeface="Courier New"/>
              </a:rPr>
              <a:t>*</a:t>
            </a:r>
            <a:r>
              <a:rPr dirty="0" sz="2400" spc="-10">
                <a:latin typeface="Courier New"/>
                <a:cs typeface="Courier New"/>
              </a:rPr>
              <a:t> sum(F</a:t>
            </a:r>
            <a:r>
              <a:rPr baseline="-31250" dirty="0" sz="2400" spc="-15">
                <a:latin typeface="Courier New"/>
                <a:cs typeface="Courier New"/>
              </a:rPr>
              <a:t>i</a:t>
            </a:r>
            <a:r>
              <a:rPr dirty="0" sz="2400" spc="-10">
                <a:latin typeface="Courier New"/>
                <a:cs typeface="Courier New"/>
              </a:rPr>
              <a:t>)]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object 2" descr=""/>
          <p:cNvSpPr txBox="1"/>
          <p:nvPr/>
        </p:nvSpPr>
        <p:spPr>
          <a:xfrm>
            <a:off x="422990" y="1639620"/>
            <a:ext cx="6644640" cy="312547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indent="-563880" marL="576580">
              <a:lnSpc>
                <a:spcPct val="100000"/>
              </a:lnSpc>
              <a:spcBef>
                <a:spcPts val="100"/>
              </a:spcBef>
              <a:buClr>
                <a:srgbClr val="2DA2BE"/>
              </a:buClr>
              <a:buSzPct val="68055"/>
              <a:buChar char="□"/>
              <a:tabLst>
                <a:tab algn="l" pos="576580"/>
              </a:tabLst>
            </a:pPr>
            <a:r>
              <a:rPr dirty="0" sz="3600">
                <a:latin typeface="Lucida Sans Unicode"/>
                <a:cs typeface="Lucida Sans Unicode"/>
              </a:rPr>
              <a:t>Information</a:t>
            </a:r>
            <a:r>
              <a:rPr dirty="0" sz="3600" spc="-215">
                <a:latin typeface="Lucida Sans Unicode"/>
                <a:cs typeface="Lucida Sans Unicode"/>
              </a:rPr>
              <a:t> </a:t>
            </a:r>
            <a:r>
              <a:rPr dirty="0" sz="3600">
                <a:latin typeface="Lucida Sans Unicode"/>
                <a:cs typeface="Lucida Sans Unicode"/>
              </a:rPr>
              <a:t>Domain</a:t>
            </a:r>
            <a:r>
              <a:rPr dirty="0" sz="3600" spc="-215">
                <a:latin typeface="Lucida Sans Unicode"/>
                <a:cs typeface="Lucida Sans Unicode"/>
              </a:rPr>
              <a:t> </a:t>
            </a:r>
            <a:r>
              <a:rPr dirty="0" sz="3600" spc="-10">
                <a:latin typeface="Lucida Sans Unicode"/>
                <a:cs typeface="Lucida Sans Unicode"/>
              </a:rPr>
              <a:t>Values</a:t>
            </a:r>
            <a:endParaRPr sz="3600">
              <a:latin typeface="Lucida Sans Unicode"/>
              <a:cs typeface="Lucida Sans Unicode"/>
            </a:endParaRPr>
          </a:p>
          <a:p>
            <a:pPr indent="-488950" lvl="1" marL="976630">
              <a:lnSpc>
                <a:spcPct val="100000"/>
              </a:lnSpc>
              <a:spcBef>
                <a:spcPts val="55"/>
              </a:spcBef>
              <a:buClr>
                <a:srgbClr val="2DA2BE"/>
              </a:buClr>
              <a:buFont typeface="Verdana"/>
              <a:buChar char="◦"/>
              <a:tabLst>
                <a:tab algn="l" pos="976630"/>
              </a:tabLst>
            </a:pPr>
            <a:r>
              <a:rPr dirty="0" sz="2400">
                <a:latin typeface="Lucida Sans Unicode"/>
                <a:cs typeface="Lucida Sans Unicode"/>
              </a:rPr>
              <a:t>Number</a:t>
            </a:r>
            <a:r>
              <a:rPr dirty="0" sz="2400" spc="-10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of</a:t>
            </a:r>
            <a:r>
              <a:rPr dirty="0" sz="2400" spc="-95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external</a:t>
            </a:r>
            <a:r>
              <a:rPr dirty="0" sz="2400" spc="-100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inputs</a:t>
            </a:r>
            <a:endParaRPr sz="2400">
              <a:latin typeface="Lucida Sans Unicode"/>
              <a:cs typeface="Lucida Sans Unicode"/>
            </a:endParaRPr>
          </a:p>
          <a:p>
            <a:pPr indent="-488950" lvl="1" marL="976630">
              <a:lnSpc>
                <a:spcPct val="100000"/>
              </a:lnSpc>
              <a:spcBef>
                <a:spcPts val="35"/>
              </a:spcBef>
              <a:buClr>
                <a:srgbClr val="2DA2BE"/>
              </a:buClr>
              <a:buFont typeface="Verdana"/>
              <a:buChar char="◦"/>
              <a:tabLst>
                <a:tab algn="l" pos="976630"/>
              </a:tabLst>
            </a:pPr>
            <a:r>
              <a:rPr dirty="0" sz="2400">
                <a:latin typeface="Lucida Sans Unicode"/>
                <a:cs typeface="Lucida Sans Unicode"/>
              </a:rPr>
              <a:t>Number</a:t>
            </a:r>
            <a:r>
              <a:rPr dirty="0" sz="2400" spc="-10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of</a:t>
            </a:r>
            <a:r>
              <a:rPr dirty="0" sz="2400" spc="-95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external</a:t>
            </a:r>
            <a:r>
              <a:rPr dirty="0" sz="2400" spc="-100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outputs</a:t>
            </a:r>
            <a:endParaRPr sz="2400">
              <a:latin typeface="Lucida Sans Unicode"/>
              <a:cs typeface="Lucida Sans Unicode"/>
            </a:endParaRPr>
          </a:p>
          <a:p>
            <a:pPr indent="-488950" lvl="1" marL="976630">
              <a:lnSpc>
                <a:spcPct val="100000"/>
              </a:lnSpc>
              <a:spcBef>
                <a:spcPts val="35"/>
              </a:spcBef>
              <a:buClr>
                <a:srgbClr val="2DA2BE"/>
              </a:buClr>
              <a:buFont typeface="Verdana"/>
              <a:buChar char="◦"/>
              <a:tabLst>
                <a:tab algn="l" pos="976630"/>
              </a:tabLst>
            </a:pPr>
            <a:r>
              <a:rPr dirty="0" sz="2400">
                <a:latin typeface="Lucida Sans Unicode"/>
                <a:cs typeface="Lucida Sans Unicode"/>
              </a:rPr>
              <a:t>Number</a:t>
            </a:r>
            <a:r>
              <a:rPr dirty="0" sz="2400" spc="-10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of</a:t>
            </a:r>
            <a:r>
              <a:rPr dirty="0" sz="2400" spc="-95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external</a:t>
            </a:r>
            <a:r>
              <a:rPr dirty="0" sz="2400" spc="-100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inquiries</a:t>
            </a:r>
            <a:endParaRPr sz="2400">
              <a:latin typeface="Lucida Sans Unicode"/>
              <a:cs typeface="Lucida Sans Unicode"/>
            </a:endParaRPr>
          </a:p>
          <a:p>
            <a:pPr indent="-488950" lvl="1" marL="976630">
              <a:lnSpc>
                <a:spcPct val="100000"/>
              </a:lnSpc>
              <a:spcBef>
                <a:spcPts val="35"/>
              </a:spcBef>
              <a:buClr>
                <a:srgbClr val="2DA2BE"/>
              </a:buClr>
              <a:buFont typeface="Verdana"/>
              <a:buChar char="◦"/>
              <a:tabLst>
                <a:tab algn="l" pos="976630"/>
              </a:tabLst>
            </a:pPr>
            <a:r>
              <a:rPr dirty="0" sz="2400">
                <a:latin typeface="Lucida Sans Unicode"/>
                <a:cs typeface="Lucida Sans Unicode"/>
              </a:rPr>
              <a:t>Number</a:t>
            </a:r>
            <a:r>
              <a:rPr dirty="0" sz="2400" spc="-10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of</a:t>
            </a:r>
            <a:r>
              <a:rPr dirty="0" sz="2400" spc="-10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internal</a:t>
            </a:r>
            <a:r>
              <a:rPr dirty="0" sz="2400" spc="-10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logical</a:t>
            </a:r>
            <a:r>
              <a:rPr dirty="0" sz="2400" spc="-100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files</a:t>
            </a:r>
            <a:endParaRPr sz="2400">
              <a:latin typeface="Lucida Sans Unicode"/>
              <a:cs typeface="Lucida Sans Unicode"/>
            </a:endParaRPr>
          </a:p>
          <a:p>
            <a:pPr indent="-488950" lvl="1" marL="976630">
              <a:lnSpc>
                <a:spcPct val="100000"/>
              </a:lnSpc>
              <a:spcBef>
                <a:spcPts val="40"/>
              </a:spcBef>
              <a:buClr>
                <a:srgbClr val="2DA2BE"/>
              </a:buClr>
              <a:buFont typeface="Verdana"/>
              <a:buChar char="◦"/>
              <a:tabLst>
                <a:tab algn="l" pos="976630"/>
              </a:tabLst>
            </a:pPr>
            <a:r>
              <a:rPr dirty="0" sz="2400">
                <a:latin typeface="Lucida Sans Unicode"/>
                <a:cs typeface="Lucida Sans Unicode"/>
              </a:rPr>
              <a:t>Number</a:t>
            </a:r>
            <a:r>
              <a:rPr dirty="0" sz="2400" spc="-11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of</a:t>
            </a:r>
            <a:r>
              <a:rPr dirty="0" sz="2400" spc="-11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external</a:t>
            </a:r>
            <a:r>
              <a:rPr dirty="0" sz="2400" spc="-11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interface</a:t>
            </a:r>
            <a:r>
              <a:rPr dirty="0" sz="2400" spc="-110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files</a:t>
            </a:r>
            <a:endParaRPr sz="2400">
              <a:latin typeface="Lucida Sans Unicode"/>
              <a:cs typeface="Lucida Sans Unicode"/>
            </a:endParaRPr>
          </a:p>
          <a:p>
            <a:pPr indent="-556260" marL="576580">
              <a:lnSpc>
                <a:spcPct val="100000"/>
              </a:lnSpc>
              <a:spcBef>
                <a:spcPts val="70"/>
              </a:spcBef>
              <a:buClr>
                <a:srgbClr val="2DA2BE"/>
              </a:buClr>
              <a:buSzPct val="66666"/>
              <a:buChar char="□"/>
              <a:tabLst>
                <a:tab algn="l" pos="576580"/>
              </a:tabLst>
            </a:pPr>
            <a:r>
              <a:rPr dirty="0" sz="2700">
                <a:latin typeface="Lucida Sans Unicode"/>
                <a:cs typeface="Lucida Sans Unicode"/>
              </a:rPr>
              <a:t>Value</a:t>
            </a:r>
            <a:r>
              <a:rPr dirty="0" sz="2700" spc="-12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Adjustment</a:t>
            </a:r>
            <a:r>
              <a:rPr dirty="0" sz="2700" spc="-12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Factors</a:t>
            </a:r>
            <a:r>
              <a:rPr dirty="0" sz="2700" spc="-120">
                <a:latin typeface="Lucida Sans Unicode"/>
                <a:cs typeface="Lucida Sans Unicode"/>
              </a:rPr>
              <a:t> </a:t>
            </a:r>
            <a:r>
              <a:rPr dirty="0" sz="2700" spc="-10">
                <a:latin typeface="Lucida Sans Unicode"/>
                <a:cs typeface="Lucida Sans Unicode"/>
              </a:rPr>
              <a:t>(VAF)</a:t>
            </a:r>
            <a:endParaRPr sz="2700">
              <a:latin typeface="Lucida Sans Unicode"/>
              <a:cs typeface="Lucida Sans Unicode"/>
            </a:endParaRPr>
          </a:p>
          <a:p>
            <a:pPr indent="-488950" lvl="1" marL="976630">
              <a:lnSpc>
                <a:spcPct val="100000"/>
              </a:lnSpc>
              <a:spcBef>
                <a:spcPts val="40"/>
              </a:spcBef>
              <a:buClr>
                <a:srgbClr val="2DA2BE"/>
              </a:buClr>
              <a:buFont typeface="Verdana"/>
              <a:buChar char="◦"/>
              <a:tabLst>
                <a:tab algn="l" pos="976630"/>
              </a:tabLst>
            </a:pPr>
            <a:r>
              <a:rPr dirty="0" sz="2400">
                <a:latin typeface="Lucida Sans Unicode"/>
                <a:cs typeface="Lucida Sans Unicode"/>
              </a:rPr>
              <a:t>14</a:t>
            </a:r>
            <a:r>
              <a:rPr dirty="0" sz="2400" spc="-10">
                <a:latin typeface="Lucida Sans Unicode"/>
                <a:cs typeface="Lucida Sans Unicode"/>
              </a:rPr>
              <a:t> Factors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048662" name="object 4" descr="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0" vert="horz" wrap="square">
            <a:spAutoFit/>
          </a:bodyPr>
          <a:p>
            <a:pPr marL="38100">
              <a:lnSpc>
                <a:spcPts val="1630"/>
              </a:lnSpc>
            </a:pPr>
            <a:fld id="{81D60167-4931-47E6-BA6A-407CBD079E47}" type="slidenum">
              <a:rPr dirty="0" sz="1400" spc="-25">
                <a:latin typeface="Times New Roman"/>
                <a:cs typeface="Times New Roman"/>
              </a:rPr>
              <a:t>13</a:t>
            </a:fld>
            <a:endParaRPr sz="1400">
              <a:latin typeface="Times New Roman"/>
              <a:cs typeface="Times New Roman"/>
            </a:endParaRPr>
          </a:p>
        </p:txBody>
      </p:sp>
      <p:sp>
        <p:nvSpPr>
          <p:cNvPr id="1048663" name="object 3"/>
          <p:cNvSpPr txBox="1">
            <a:spLocks noGrp="1"/>
          </p:cNvSpPr>
          <p:nvPr>
            <p:ph type="title"/>
          </p:nvPr>
        </p:nvSpPr>
        <p:spPr>
          <a:xfrm>
            <a:off x="457200" y="-148437"/>
            <a:ext cx="7922259" cy="905429"/>
          </a:xfrm>
          <a:prstGeom prst="rect"/>
        </p:spPr>
        <p:txBody>
          <a:bodyPr bIns="0" lIns="0" rIns="0" rtlCol="0" tIns="366166" vert="horz" wrap="square">
            <a:spAutoFit/>
          </a:bodyPr>
          <a:p>
            <a:pPr marL="314325" marR="5080">
              <a:lnSpc>
                <a:spcPct val="101099"/>
              </a:lnSpc>
              <a:spcBef>
                <a:spcPts val="90"/>
              </a:spcBef>
            </a:pPr>
            <a:r>
              <a:rPr dirty="0" sz="3650" spc="310"/>
              <a:t>Introduction</a:t>
            </a:r>
            <a:r>
              <a:rPr dirty="0" sz="3650" spc="15"/>
              <a:t> </a:t>
            </a:r>
            <a:r>
              <a:rPr dirty="0" sz="3650" spc="275"/>
              <a:t>to</a:t>
            </a:r>
            <a:r>
              <a:rPr dirty="0" sz="3650" spc="20"/>
              <a:t> </a:t>
            </a:r>
            <a:r>
              <a:rPr dirty="0" sz="3650" spc="265"/>
              <a:t>Function </a:t>
            </a:r>
            <a:r>
              <a:rPr dirty="0" sz="3650" spc="350"/>
              <a:t>Points</a:t>
            </a:r>
            <a:endParaRPr sz="36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object 2" descr=""/>
          <p:cNvSpPr txBox="1"/>
          <p:nvPr/>
        </p:nvSpPr>
        <p:spPr>
          <a:xfrm>
            <a:off x="698911" y="1416191"/>
            <a:ext cx="7976234" cy="3409316"/>
          </a:xfrm>
          <a:prstGeom prst="rect"/>
        </p:spPr>
        <p:txBody>
          <a:bodyPr bIns="0" lIns="0" rIns="0" rtlCol="0" tIns="59055" vert="horz" wrap="square">
            <a:spAutoFit/>
          </a:bodyPr>
          <a:p>
            <a:pPr indent="-273050" marL="285750">
              <a:lnSpc>
                <a:spcPct val="100000"/>
              </a:lnSpc>
              <a:spcBef>
                <a:spcPts val="465"/>
              </a:spcBef>
              <a:buClr>
                <a:srgbClr val="2DA2BE"/>
              </a:buClr>
              <a:buSzPct val="67500"/>
              <a:buChar char="□"/>
              <a:tabLst>
                <a:tab algn="l" pos="285750"/>
              </a:tabLst>
            </a:pPr>
            <a:r>
              <a:rPr dirty="0" sz="2000">
                <a:latin typeface="Lucida Sans Unicode"/>
                <a:cs typeface="Lucida Sans Unicode"/>
              </a:rPr>
              <a:t>Number</a:t>
            </a:r>
            <a:r>
              <a:rPr dirty="0" sz="2000" spc="-3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of</a:t>
            </a:r>
            <a:r>
              <a:rPr dirty="0" sz="2000" spc="-2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external</a:t>
            </a:r>
            <a:r>
              <a:rPr dirty="0" sz="2000" spc="-25">
                <a:latin typeface="Lucida Sans Unicode"/>
                <a:cs typeface="Lucida Sans Unicode"/>
              </a:rPr>
              <a:t> </a:t>
            </a:r>
            <a:r>
              <a:rPr dirty="0" sz="2000" spc="-10">
                <a:latin typeface="Lucida Sans Unicode"/>
                <a:cs typeface="Lucida Sans Unicode"/>
              </a:rPr>
              <a:t>inputs</a:t>
            </a:r>
            <a:endParaRPr sz="2000">
              <a:latin typeface="Lucida Sans Unicode"/>
              <a:cs typeface="Lucida Sans Unicode"/>
            </a:endParaRPr>
          </a:p>
          <a:p>
            <a:pPr indent="-195580" lvl="1" marL="541655" marR="235585">
              <a:lnSpc>
                <a:spcPct val="100000"/>
              </a:lnSpc>
              <a:spcBef>
                <a:spcPts val="335"/>
              </a:spcBef>
              <a:buClr>
                <a:srgbClr val="2DA2BE"/>
              </a:buClr>
              <a:buFont typeface="Verdana"/>
              <a:buChar char="◦"/>
              <a:tabLst>
                <a:tab algn="l" pos="541655"/>
              </a:tabLst>
            </a:pPr>
            <a:r>
              <a:rPr dirty="0" sz="1800">
                <a:latin typeface="Lucida Sans Unicode"/>
                <a:cs typeface="Lucida Sans Unicode"/>
              </a:rPr>
              <a:t>Each</a:t>
            </a:r>
            <a:r>
              <a:rPr dirty="0" sz="1800" spc="-4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external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input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originates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from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</a:t>
            </a:r>
            <a:r>
              <a:rPr dirty="0" sz="1800" spc="-4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user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or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is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transmitted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 spc="-20">
                <a:latin typeface="Lucida Sans Unicode"/>
                <a:cs typeface="Lucida Sans Unicode"/>
              </a:rPr>
              <a:t>from </a:t>
            </a:r>
            <a:r>
              <a:rPr dirty="0" sz="1800">
                <a:latin typeface="Lucida Sans Unicode"/>
                <a:cs typeface="Lucida Sans Unicode"/>
              </a:rPr>
              <a:t>another</a:t>
            </a:r>
            <a:r>
              <a:rPr dirty="0" sz="1800" spc="-35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application</a:t>
            </a:r>
            <a:endParaRPr sz="1800">
              <a:latin typeface="Lucida Sans Unicode"/>
              <a:cs typeface="Lucida Sans Unicode"/>
            </a:endParaRPr>
          </a:p>
          <a:p>
            <a:pPr indent="-195580" lvl="1" marL="541655" marR="1082040">
              <a:lnSpc>
                <a:spcPct val="100000"/>
              </a:lnSpc>
              <a:spcBef>
                <a:spcPts val="325"/>
              </a:spcBef>
              <a:buClr>
                <a:srgbClr val="2DA2BE"/>
              </a:buClr>
              <a:buFont typeface="Verdana"/>
              <a:buChar char="◦"/>
              <a:tabLst>
                <a:tab algn="l" pos="541655"/>
              </a:tabLst>
            </a:pPr>
            <a:r>
              <a:rPr dirty="0" sz="1800">
                <a:latin typeface="Lucida Sans Unicode"/>
                <a:cs typeface="Lucida Sans Unicode"/>
              </a:rPr>
              <a:t>They</a:t>
            </a:r>
            <a:r>
              <a:rPr dirty="0" sz="1800" spc="-4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provide</a:t>
            </a:r>
            <a:r>
              <a:rPr dirty="0" sz="1800" spc="-4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distinct</a:t>
            </a:r>
            <a:r>
              <a:rPr dirty="0" sz="1800" spc="-40">
                <a:latin typeface="Lucida Sans Unicode"/>
                <a:cs typeface="Lucida Sans Unicode"/>
              </a:rPr>
              <a:t> application-</a:t>
            </a:r>
            <a:r>
              <a:rPr dirty="0" sz="1800" spc="-20">
                <a:latin typeface="Lucida Sans Unicode"/>
                <a:cs typeface="Lucida Sans Unicode"/>
              </a:rPr>
              <a:t>oriented</a:t>
            </a:r>
            <a:r>
              <a:rPr dirty="0" sz="1800" spc="-4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data</a:t>
            </a:r>
            <a:r>
              <a:rPr dirty="0" sz="1800" spc="-4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or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control information</a:t>
            </a:r>
            <a:endParaRPr sz="1800">
              <a:latin typeface="Lucida Sans Unicode"/>
              <a:cs typeface="Lucida Sans Unicode"/>
            </a:endParaRPr>
          </a:p>
          <a:p>
            <a:pPr indent="-195580" lvl="1" marL="541655">
              <a:lnSpc>
                <a:spcPct val="100000"/>
              </a:lnSpc>
              <a:spcBef>
                <a:spcPts val="320"/>
              </a:spcBef>
              <a:buClr>
                <a:srgbClr val="2DA2BE"/>
              </a:buClr>
              <a:buFont typeface="Verdana"/>
              <a:buChar char="◦"/>
              <a:tabLst>
                <a:tab algn="l" pos="541655"/>
              </a:tabLst>
            </a:pPr>
            <a:r>
              <a:rPr dirty="0" sz="1800">
                <a:latin typeface="Lucida Sans Unicode"/>
                <a:cs typeface="Lucida Sans Unicode"/>
              </a:rPr>
              <a:t>They</a:t>
            </a:r>
            <a:r>
              <a:rPr dirty="0" sz="1800" spc="-5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are</a:t>
            </a:r>
            <a:r>
              <a:rPr dirty="0" sz="1800" spc="-5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often</a:t>
            </a:r>
            <a:r>
              <a:rPr dirty="0" sz="1800" spc="-5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used</a:t>
            </a:r>
            <a:r>
              <a:rPr dirty="0" sz="1800" spc="-5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to</a:t>
            </a:r>
            <a:r>
              <a:rPr dirty="0" sz="1800" spc="-5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update</a:t>
            </a:r>
            <a:r>
              <a:rPr dirty="0" sz="1800" spc="-5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internal</a:t>
            </a:r>
            <a:r>
              <a:rPr dirty="0" sz="1800" spc="-5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logical</a:t>
            </a:r>
            <a:r>
              <a:rPr dirty="0" sz="1800" spc="-50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files</a:t>
            </a:r>
            <a:endParaRPr sz="1800">
              <a:latin typeface="Lucida Sans Unicode"/>
              <a:cs typeface="Lucida Sans Unicode"/>
            </a:endParaRPr>
          </a:p>
          <a:p>
            <a:pPr indent="-195580" lvl="1" marL="541655">
              <a:lnSpc>
                <a:spcPct val="100000"/>
              </a:lnSpc>
              <a:spcBef>
                <a:spcPts val="325"/>
              </a:spcBef>
              <a:buClr>
                <a:srgbClr val="2DA2BE"/>
              </a:buClr>
              <a:buFont typeface="Verdana"/>
              <a:buChar char="◦"/>
              <a:tabLst>
                <a:tab algn="l" pos="541655"/>
              </a:tabLst>
            </a:pPr>
            <a:r>
              <a:rPr dirty="0" sz="1800">
                <a:latin typeface="Lucida Sans Unicode"/>
                <a:cs typeface="Lucida Sans Unicode"/>
              </a:rPr>
              <a:t>They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are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not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inquiries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(those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are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counted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under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another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category)</a:t>
            </a:r>
            <a:endParaRPr sz="1800">
              <a:latin typeface="Lucida Sans Unicode"/>
              <a:cs typeface="Lucida Sans Unicode"/>
            </a:endParaRPr>
          </a:p>
          <a:p>
            <a:pPr indent="-273050" marL="285750">
              <a:lnSpc>
                <a:spcPct val="100000"/>
              </a:lnSpc>
              <a:spcBef>
                <a:spcPts val="395"/>
              </a:spcBef>
              <a:buClr>
                <a:srgbClr val="2DA2BE"/>
              </a:buClr>
              <a:buSzPct val="67500"/>
              <a:buChar char="□"/>
              <a:tabLst>
                <a:tab algn="l" pos="285750"/>
              </a:tabLst>
            </a:pPr>
            <a:r>
              <a:rPr dirty="0" sz="2000">
                <a:latin typeface="Lucida Sans Unicode"/>
                <a:cs typeface="Lucida Sans Unicode"/>
              </a:rPr>
              <a:t>Number</a:t>
            </a:r>
            <a:r>
              <a:rPr dirty="0" sz="2000" spc="-3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of</a:t>
            </a:r>
            <a:r>
              <a:rPr dirty="0" sz="2000" spc="-2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external</a:t>
            </a:r>
            <a:r>
              <a:rPr dirty="0" sz="2000" spc="-25">
                <a:latin typeface="Lucida Sans Unicode"/>
                <a:cs typeface="Lucida Sans Unicode"/>
              </a:rPr>
              <a:t> </a:t>
            </a:r>
            <a:r>
              <a:rPr dirty="0" sz="2000" spc="-10">
                <a:latin typeface="Lucida Sans Unicode"/>
                <a:cs typeface="Lucida Sans Unicode"/>
              </a:rPr>
              <a:t>outputs</a:t>
            </a:r>
            <a:endParaRPr sz="2000">
              <a:latin typeface="Lucida Sans Unicode"/>
              <a:cs typeface="Lucida Sans Unicode"/>
            </a:endParaRPr>
          </a:p>
          <a:p>
            <a:pPr indent="-195580" lvl="1" marL="541655" marR="5080">
              <a:lnSpc>
                <a:spcPct val="100000"/>
              </a:lnSpc>
              <a:spcBef>
                <a:spcPts val="330"/>
              </a:spcBef>
              <a:buClr>
                <a:srgbClr val="2DA2BE"/>
              </a:buClr>
              <a:buFont typeface="Verdana"/>
              <a:buChar char="◦"/>
              <a:tabLst>
                <a:tab algn="l" pos="541655"/>
              </a:tabLst>
            </a:pPr>
            <a:r>
              <a:rPr dirty="0" sz="1800">
                <a:latin typeface="Lucida Sans Unicode"/>
                <a:cs typeface="Lucida Sans Unicode"/>
              </a:rPr>
              <a:t>Each</a:t>
            </a:r>
            <a:r>
              <a:rPr dirty="0" sz="1800" spc="-4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external</a:t>
            </a:r>
            <a:r>
              <a:rPr dirty="0" sz="1800" spc="-4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output</a:t>
            </a:r>
            <a:r>
              <a:rPr dirty="0" sz="1800" spc="-4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is</a:t>
            </a:r>
            <a:r>
              <a:rPr dirty="0" sz="1800" spc="-4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derived</a:t>
            </a:r>
            <a:r>
              <a:rPr dirty="0" sz="1800" spc="-4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within</a:t>
            </a:r>
            <a:r>
              <a:rPr dirty="0" sz="1800" spc="-4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the</a:t>
            </a:r>
            <a:r>
              <a:rPr dirty="0" sz="1800" spc="-45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application</a:t>
            </a:r>
            <a:r>
              <a:rPr dirty="0" sz="1800" spc="-4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and</a:t>
            </a:r>
            <a:r>
              <a:rPr dirty="0" sz="1800" spc="-45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provides </a:t>
            </a:r>
            <a:r>
              <a:rPr dirty="0" sz="1800">
                <a:latin typeface="Lucida Sans Unicode"/>
                <a:cs typeface="Lucida Sans Unicode"/>
              </a:rPr>
              <a:t>information</a:t>
            </a:r>
            <a:r>
              <a:rPr dirty="0" sz="1800" spc="-3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to</a:t>
            </a:r>
            <a:r>
              <a:rPr dirty="0" sz="1800" spc="-2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the</a:t>
            </a:r>
            <a:r>
              <a:rPr dirty="0" sz="1800" spc="-25">
                <a:latin typeface="Lucida Sans Unicode"/>
                <a:cs typeface="Lucida Sans Unicode"/>
              </a:rPr>
              <a:t> </a:t>
            </a:r>
            <a:r>
              <a:rPr dirty="0" sz="1800" spc="-20">
                <a:latin typeface="Lucida Sans Unicode"/>
                <a:cs typeface="Lucida Sans Unicode"/>
              </a:rPr>
              <a:t>user</a:t>
            </a:r>
            <a:endParaRPr sz="1800">
              <a:latin typeface="Lucida Sans Unicode"/>
              <a:cs typeface="Lucida Sans Unicode"/>
            </a:endParaRPr>
          </a:p>
          <a:p>
            <a:pPr indent="-195580" lvl="1" marL="541655">
              <a:lnSpc>
                <a:spcPct val="100000"/>
              </a:lnSpc>
              <a:spcBef>
                <a:spcPts val="325"/>
              </a:spcBef>
              <a:buClr>
                <a:srgbClr val="2DA2BE"/>
              </a:buClr>
              <a:buFont typeface="Verdana"/>
              <a:buChar char="◦"/>
              <a:tabLst>
                <a:tab algn="l" pos="541655"/>
              </a:tabLst>
            </a:pPr>
            <a:r>
              <a:rPr dirty="0" sz="1800">
                <a:latin typeface="Lucida Sans Unicode"/>
                <a:cs typeface="Lucida Sans Unicode"/>
              </a:rPr>
              <a:t>This</a:t>
            </a:r>
            <a:r>
              <a:rPr dirty="0" sz="1800" spc="-3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refers</a:t>
            </a:r>
            <a:r>
              <a:rPr dirty="0" sz="1800" spc="-3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to</a:t>
            </a:r>
            <a:r>
              <a:rPr dirty="0" sz="1800" spc="-3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reports,</a:t>
            </a:r>
            <a:r>
              <a:rPr dirty="0" sz="1800" spc="-3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screens,</a:t>
            </a:r>
            <a:r>
              <a:rPr dirty="0" sz="1800" spc="-3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error</a:t>
            </a:r>
            <a:r>
              <a:rPr dirty="0" sz="1800" spc="-3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messages,</a:t>
            </a:r>
            <a:r>
              <a:rPr dirty="0" sz="1800" spc="-30">
                <a:latin typeface="Lucida Sans Unicode"/>
                <a:cs typeface="Lucida Sans Unicode"/>
              </a:rPr>
              <a:t> </a:t>
            </a:r>
            <a:r>
              <a:rPr dirty="0" sz="1800" spc="-20">
                <a:latin typeface="Lucida Sans Unicode"/>
                <a:cs typeface="Lucida Sans Unicode"/>
              </a:rPr>
              <a:t>etc.</a:t>
            </a:r>
            <a:endParaRPr sz="1800">
              <a:latin typeface="Lucida Sans Unicode"/>
              <a:cs typeface="Lucida Sans Unicode"/>
            </a:endParaRPr>
          </a:p>
          <a:p>
            <a:pPr indent="-195580" lvl="1" marL="541655" marR="478155">
              <a:lnSpc>
                <a:spcPct val="100000"/>
              </a:lnSpc>
              <a:spcBef>
                <a:spcPts val="325"/>
              </a:spcBef>
              <a:buClr>
                <a:srgbClr val="2DA2BE"/>
              </a:buClr>
              <a:buFont typeface="Verdana"/>
              <a:buChar char="◦"/>
              <a:tabLst>
                <a:tab algn="l" pos="541655"/>
              </a:tabLst>
            </a:pPr>
            <a:r>
              <a:rPr dirty="0" sz="1800">
                <a:latin typeface="Lucida Sans Unicode"/>
                <a:cs typeface="Lucida Sans Unicode"/>
              </a:rPr>
              <a:t>Individual</a:t>
            </a:r>
            <a:r>
              <a:rPr dirty="0" sz="1800" spc="-4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data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items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within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report</a:t>
            </a:r>
            <a:r>
              <a:rPr dirty="0" sz="1800" spc="-4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or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screen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are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not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counted separately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048665" name="object 4" descr="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0" vert="horz" wrap="square">
            <a:spAutoFit/>
          </a:bodyPr>
          <a:p>
            <a:pPr marL="38100">
              <a:lnSpc>
                <a:spcPts val="1630"/>
              </a:lnSpc>
            </a:pPr>
            <a:fld id="{81D60167-4931-47E6-BA6A-407CBD079E47}" type="slidenum">
              <a:rPr dirty="0" sz="1400" spc="-25">
                <a:latin typeface="Times New Roman"/>
                <a:cs typeface="Times New Roman"/>
              </a:rPr>
              <a:t>14</a:t>
            </a:fld>
            <a:endParaRPr sz="1400">
              <a:latin typeface="Times New Roman"/>
              <a:cs typeface="Times New Roman"/>
            </a:endParaRPr>
          </a:p>
        </p:txBody>
      </p:sp>
      <p:sp>
        <p:nvSpPr>
          <p:cNvPr id="1048666" name="object 3"/>
          <p:cNvSpPr txBox="1">
            <a:spLocks noGrp="1"/>
          </p:cNvSpPr>
          <p:nvPr>
            <p:ph type="title"/>
          </p:nvPr>
        </p:nvSpPr>
        <p:spPr>
          <a:xfrm>
            <a:off x="758825" y="65532"/>
            <a:ext cx="5724525" cy="1231901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360"/>
              <a:t>Information</a:t>
            </a:r>
            <a:r>
              <a:rPr dirty="0" spc="20"/>
              <a:t> </a:t>
            </a:r>
            <a:r>
              <a:rPr dirty="0" spc="434"/>
              <a:t>Domain </a:t>
            </a:r>
            <a:r>
              <a:rPr dirty="0" spc="380"/>
              <a:t>Values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object 2" descr=""/>
          <p:cNvSpPr txBox="1"/>
          <p:nvPr/>
        </p:nvSpPr>
        <p:spPr>
          <a:xfrm>
            <a:off x="546511" y="1873391"/>
            <a:ext cx="8058150" cy="3107691"/>
          </a:xfrm>
          <a:prstGeom prst="rect"/>
        </p:spPr>
        <p:txBody>
          <a:bodyPr bIns="0" lIns="0" rIns="0" rtlCol="0" tIns="59055" vert="horz" wrap="square">
            <a:spAutoFit/>
          </a:bodyPr>
          <a:p>
            <a:pPr indent="-273050" marL="285750">
              <a:lnSpc>
                <a:spcPct val="100000"/>
              </a:lnSpc>
              <a:spcBef>
                <a:spcPts val="465"/>
              </a:spcBef>
              <a:buClr>
                <a:srgbClr val="2DA2BE"/>
              </a:buClr>
              <a:buSzPct val="67500"/>
              <a:buChar char="□"/>
              <a:tabLst>
                <a:tab algn="l" pos="285750"/>
              </a:tabLst>
            </a:pPr>
            <a:r>
              <a:rPr dirty="0" sz="2000">
                <a:latin typeface="Lucida Sans Unicode"/>
                <a:cs typeface="Lucida Sans Unicode"/>
              </a:rPr>
              <a:t>Number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of</a:t>
            </a:r>
            <a:r>
              <a:rPr dirty="0" sz="2000" spc="-2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external</a:t>
            </a:r>
            <a:r>
              <a:rPr dirty="0" sz="2000" spc="-25">
                <a:latin typeface="Lucida Sans Unicode"/>
                <a:cs typeface="Lucida Sans Unicode"/>
              </a:rPr>
              <a:t> </a:t>
            </a:r>
            <a:r>
              <a:rPr dirty="0" sz="2000" spc="-10">
                <a:latin typeface="Lucida Sans Unicode"/>
                <a:cs typeface="Lucida Sans Unicode"/>
              </a:rPr>
              <a:t>inquiries</a:t>
            </a:r>
            <a:endParaRPr sz="2000">
              <a:latin typeface="Lucida Sans Unicode"/>
              <a:cs typeface="Lucida Sans Unicode"/>
            </a:endParaRPr>
          </a:p>
          <a:p>
            <a:pPr indent="-195580" lvl="1" marL="541655" marR="125095">
              <a:lnSpc>
                <a:spcPct val="100000"/>
              </a:lnSpc>
              <a:spcBef>
                <a:spcPts val="335"/>
              </a:spcBef>
              <a:buClr>
                <a:srgbClr val="2DA2BE"/>
              </a:buClr>
              <a:buFont typeface="Verdana"/>
              <a:buChar char="◦"/>
              <a:tabLst>
                <a:tab algn="l" pos="541655"/>
              </a:tabLst>
            </a:pPr>
            <a:r>
              <a:rPr dirty="0" sz="1800">
                <a:latin typeface="Lucida Sans Unicode"/>
                <a:cs typeface="Lucida Sans Unicode"/>
              </a:rPr>
              <a:t>An</a:t>
            </a:r>
            <a:r>
              <a:rPr dirty="0" sz="1800" spc="-4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external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inquiry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is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defined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as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an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online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input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that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results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in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 spc="-25">
                <a:latin typeface="Lucida Sans Unicode"/>
                <a:cs typeface="Lucida Sans Unicode"/>
              </a:rPr>
              <a:t>the </a:t>
            </a:r>
            <a:r>
              <a:rPr dirty="0" sz="1800">
                <a:latin typeface="Lucida Sans Unicode"/>
                <a:cs typeface="Lucida Sans Unicode"/>
              </a:rPr>
              <a:t>generation</a:t>
            </a:r>
            <a:r>
              <a:rPr dirty="0" sz="1800" spc="-5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of</a:t>
            </a:r>
            <a:r>
              <a:rPr dirty="0" sz="1800" spc="-5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some</a:t>
            </a:r>
            <a:r>
              <a:rPr dirty="0" sz="1800" spc="-5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immediate</a:t>
            </a:r>
            <a:r>
              <a:rPr dirty="0" sz="1800" spc="-5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software</a:t>
            </a:r>
            <a:r>
              <a:rPr dirty="0" sz="1800" spc="-50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response</a:t>
            </a:r>
            <a:endParaRPr sz="1800">
              <a:latin typeface="Lucida Sans Unicode"/>
              <a:cs typeface="Lucida Sans Unicode"/>
            </a:endParaRPr>
          </a:p>
          <a:p>
            <a:pPr indent="-195580" lvl="1" marL="541655">
              <a:lnSpc>
                <a:spcPct val="100000"/>
              </a:lnSpc>
              <a:spcBef>
                <a:spcPts val="325"/>
              </a:spcBef>
              <a:buClr>
                <a:srgbClr val="2DA2BE"/>
              </a:buClr>
              <a:buFont typeface="Verdana"/>
              <a:buChar char="◦"/>
              <a:tabLst>
                <a:tab algn="l" pos="541655"/>
              </a:tabLst>
            </a:pPr>
            <a:r>
              <a:rPr dirty="0" sz="1800">
                <a:latin typeface="Lucida Sans Unicode"/>
                <a:cs typeface="Lucida Sans Unicode"/>
              </a:rPr>
              <a:t>The</a:t>
            </a:r>
            <a:r>
              <a:rPr dirty="0" sz="1800" spc="-3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response</a:t>
            </a:r>
            <a:r>
              <a:rPr dirty="0" sz="1800" spc="-2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is</a:t>
            </a:r>
            <a:r>
              <a:rPr dirty="0" sz="1800" spc="-2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in</a:t>
            </a:r>
            <a:r>
              <a:rPr dirty="0" sz="1800" spc="-2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the</a:t>
            </a:r>
            <a:r>
              <a:rPr dirty="0" sz="1800" spc="-2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form</a:t>
            </a:r>
            <a:r>
              <a:rPr dirty="0" sz="1800" spc="-2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of</a:t>
            </a:r>
            <a:r>
              <a:rPr dirty="0" sz="1800" spc="-2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an</a:t>
            </a:r>
            <a:r>
              <a:rPr dirty="0" sz="1800" spc="-25">
                <a:latin typeface="Lucida Sans Unicode"/>
                <a:cs typeface="Lucida Sans Unicode"/>
              </a:rPr>
              <a:t> </a:t>
            </a:r>
            <a:r>
              <a:rPr dirty="0" sz="1800" spc="-90">
                <a:latin typeface="Lucida Sans Unicode"/>
                <a:cs typeface="Lucida Sans Unicode"/>
              </a:rPr>
              <a:t>on-</a:t>
            </a:r>
            <a:r>
              <a:rPr dirty="0" sz="1800" spc="-40">
                <a:latin typeface="Lucida Sans Unicode"/>
                <a:cs typeface="Lucida Sans Unicode"/>
              </a:rPr>
              <a:t>line</a:t>
            </a:r>
            <a:r>
              <a:rPr dirty="0" sz="1800" spc="-20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output</a:t>
            </a:r>
            <a:endParaRPr sz="1800">
              <a:latin typeface="Lucida Sans Unicode"/>
              <a:cs typeface="Lucida Sans Unicode"/>
            </a:endParaRPr>
          </a:p>
          <a:p>
            <a:pPr indent="-273050" marL="285750">
              <a:lnSpc>
                <a:spcPct val="100000"/>
              </a:lnSpc>
              <a:spcBef>
                <a:spcPts val="390"/>
              </a:spcBef>
              <a:buClr>
                <a:srgbClr val="2DA2BE"/>
              </a:buClr>
              <a:buSzPct val="67500"/>
              <a:buChar char="□"/>
              <a:tabLst>
                <a:tab algn="l" pos="285750"/>
              </a:tabLst>
            </a:pPr>
            <a:r>
              <a:rPr dirty="0" sz="2000">
                <a:latin typeface="Lucida Sans Unicode"/>
                <a:cs typeface="Lucida Sans Unicode"/>
              </a:rPr>
              <a:t>Number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of</a:t>
            </a:r>
            <a:r>
              <a:rPr dirty="0" sz="2000" spc="-3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internal</a:t>
            </a:r>
            <a:r>
              <a:rPr dirty="0" sz="2000" spc="-3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logical</a:t>
            </a:r>
            <a:r>
              <a:rPr dirty="0" sz="2000" spc="-25">
                <a:latin typeface="Lucida Sans Unicode"/>
                <a:cs typeface="Lucida Sans Unicode"/>
              </a:rPr>
              <a:t> </a:t>
            </a:r>
            <a:r>
              <a:rPr dirty="0" sz="2000" spc="-10">
                <a:latin typeface="Lucida Sans Unicode"/>
                <a:cs typeface="Lucida Sans Unicode"/>
              </a:rPr>
              <a:t>files</a:t>
            </a:r>
            <a:endParaRPr sz="2000">
              <a:latin typeface="Lucida Sans Unicode"/>
              <a:cs typeface="Lucida Sans Unicode"/>
            </a:endParaRPr>
          </a:p>
          <a:p>
            <a:pPr indent="-195580" lvl="1" marL="541655" marR="308610">
              <a:lnSpc>
                <a:spcPct val="100000"/>
              </a:lnSpc>
              <a:spcBef>
                <a:spcPts val="330"/>
              </a:spcBef>
              <a:buClr>
                <a:srgbClr val="2DA2BE"/>
              </a:buClr>
              <a:buFont typeface="Verdana"/>
              <a:buChar char="◦"/>
              <a:tabLst>
                <a:tab algn="l" pos="541655"/>
              </a:tabLst>
            </a:pPr>
            <a:r>
              <a:rPr dirty="0" sz="1800">
                <a:latin typeface="Lucida Sans Unicode"/>
                <a:cs typeface="Lucida Sans Unicode"/>
              </a:rPr>
              <a:t>Each</a:t>
            </a:r>
            <a:r>
              <a:rPr dirty="0" sz="1800" spc="-5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internal</a:t>
            </a:r>
            <a:r>
              <a:rPr dirty="0" sz="1800" spc="-5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logical</a:t>
            </a:r>
            <a:r>
              <a:rPr dirty="0" sz="1800" spc="-5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file</a:t>
            </a:r>
            <a:r>
              <a:rPr dirty="0" sz="1800" spc="-5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is</a:t>
            </a:r>
            <a:r>
              <a:rPr dirty="0" sz="1800" spc="-5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</a:t>
            </a:r>
            <a:r>
              <a:rPr dirty="0" sz="1800" spc="-5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logical</a:t>
            </a:r>
            <a:r>
              <a:rPr dirty="0" sz="1800" spc="-5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grouping</a:t>
            </a:r>
            <a:r>
              <a:rPr dirty="0" sz="1800" spc="-5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of</a:t>
            </a:r>
            <a:r>
              <a:rPr dirty="0" sz="1800" spc="-5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data</a:t>
            </a:r>
            <a:r>
              <a:rPr dirty="0" sz="1800" spc="-5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that</a:t>
            </a:r>
            <a:r>
              <a:rPr dirty="0" sz="1800" spc="-55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resides </a:t>
            </a:r>
            <a:r>
              <a:rPr dirty="0" sz="1800">
                <a:latin typeface="Lucida Sans Unicode"/>
                <a:cs typeface="Lucida Sans Unicode"/>
              </a:rPr>
              <a:t>within</a:t>
            </a:r>
            <a:r>
              <a:rPr dirty="0" sz="1800" spc="-4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the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application’s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boundary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and</a:t>
            </a:r>
            <a:r>
              <a:rPr dirty="0" sz="1800" spc="-4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is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maintained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via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external inputs</a:t>
            </a:r>
            <a:endParaRPr sz="1800">
              <a:latin typeface="Lucida Sans Unicode"/>
              <a:cs typeface="Lucida Sans Unicode"/>
            </a:endParaRPr>
          </a:p>
          <a:p>
            <a:pPr indent="-273050" marL="285750">
              <a:lnSpc>
                <a:spcPct val="100000"/>
              </a:lnSpc>
              <a:spcBef>
                <a:spcPts val="395"/>
              </a:spcBef>
              <a:buClr>
                <a:srgbClr val="2DA2BE"/>
              </a:buClr>
              <a:buSzPct val="67500"/>
              <a:buChar char="□"/>
              <a:tabLst>
                <a:tab algn="l" pos="285750"/>
              </a:tabLst>
            </a:pPr>
            <a:r>
              <a:rPr dirty="0" sz="2000">
                <a:latin typeface="Lucida Sans Unicode"/>
                <a:cs typeface="Lucida Sans Unicode"/>
              </a:rPr>
              <a:t>Number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of</a:t>
            </a:r>
            <a:r>
              <a:rPr dirty="0" sz="2000" spc="-3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external</a:t>
            </a:r>
            <a:r>
              <a:rPr dirty="0" sz="2000" spc="-3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interface</a:t>
            </a:r>
            <a:r>
              <a:rPr dirty="0" sz="2000" spc="-30">
                <a:latin typeface="Lucida Sans Unicode"/>
                <a:cs typeface="Lucida Sans Unicode"/>
              </a:rPr>
              <a:t> </a:t>
            </a:r>
            <a:r>
              <a:rPr dirty="0" sz="2000" spc="-10">
                <a:latin typeface="Lucida Sans Unicode"/>
                <a:cs typeface="Lucida Sans Unicode"/>
              </a:rPr>
              <a:t>files</a:t>
            </a:r>
            <a:endParaRPr sz="2000">
              <a:latin typeface="Lucida Sans Unicode"/>
              <a:cs typeface="Lucida Sans Unicode"/>
            </a:endParaRPr>
          </a:p>
          <a:p>
            <a:pPr indent="-195580" lvl="1" marL="541655" marR="5080">
              <a:lnSpc>
                <a:spcPct val="100000"/>
              </a:lnSpc>
              <a:spcBef>
                <a:spcPts val="330"/>
              </a:spcBef>
              <a:buClr>
                <a:srgbClr val="2DA2BE"/>
              </a:buClr>
              <a:buFont typeface="Verdana"/>
              <a:buChar char="◦"/>
              <a:tabLst>
                <a:tab algn="l" pos="541655"/>
              </a:tabLst>
            </a:pPr>
            <a:r>
              <a:rPr dirty="0" sz="1800">
                <a:latin typeface="Lucida Sans Unicode"/>
                <a:cs typeface="Lucida Sans Unicode"/>
              </a:rPr>
              <a:t>Each</a:t>
            </a:r>
            <a:r>
              <a:rPr dirty="0" sz="1800" spc="-5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external</a:t>
            </a:r>
            <a:r>
              <a:rPr dirty="0" sz="1800" spc="-5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interface</a:t>
            </a:r>
            <a:r>
              <a:rPr dirty="0" sz="1800" spc="-5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file</a:t>
            </a:r>
            <a:r>
              <a:rPr dirty="0" sz="1800" spc="-4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is</a:t>
            </a:r>
            <a:r>
              <a:rPr dirty="0" sz="1800" spc="-5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</a:t>
            </a:r>
            <a:r>
              <a:rPr dirty="0" sz="1800" spc="-5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logical</a:t>
            </a:r>
            <a:r>
              <a:rPr dirty="0" sz="1800" spc="-4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grouping</a:t>
            </a:r>
            <a:r>
              <a:rPr dirty="0" sz="1800" spc="-5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of</a:t>
            </a:r>
            <a:r>
              <a:rPr dirty="0" sz="1800" spc="-5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data</a:t>
            </a:r>
            <a:r>
              <a:rPr dirty="0" sz="1800" spc="-5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that</a:t>
            </a:r>
            <a:r>
              <a:rPr dirty="0" sz="1800" spc="-45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resides </a:t>
            </a:r>
            <a:r>
              <a:rPr dirty="0" sz="1800">
                <a:latin typeface="Lucida Sans Unicode"/>
                <a:cs typeface="Lucida Sans Unicode"/>
              </a:rPr>
              <a:t>external</a:t>
            </a:r>
            <a:r>
              <a:rPr dirty="0" sz="1800" spc="-4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to</a:t>
            </a:r>
            <a:r>
              <a:rPr dirty="0" sz="1800" spc="-3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the</a:t>
            </a:r>
            <a:r>
              <a:rPr dirty="0" sz="1800" spc="-35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application</a:t>
            </a:r>
            <a:r>
              <a:rPr dirty="0" sz="1800" spc="-3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but</a:t>
            </a:r>
            <a:r>
              <a:rPr dirty="0" sz="1800" spc="-3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provides</a:t>
            </a:r>
            <a:r>
              <a:rPr dirty="0" sz="1800" spc="-3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data</a:t>
            </a:r>
            <a:r>
              <a:rPr dirty="0" sz="1800" spc="-3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that</a:t>
            </a:r>
            <a:r>
              <a:rPr dirty="0" sz="1800" spc="-3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may</a:t>
            </a:r>
            <a:r>
              <a:rPr dirty="0" sz="1800" spc="-3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be</a:t>
            </a:r>
            <a:r>
              <a:rPr dirty="0" sz="1800" spc="-3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of</a:t>
            </a:r>
            <a:r>
              <a:rPr dirty="0" sz="1800" spc="-3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use</a:t>
            </a:r>
            <a:r>
              <a:rPr dirty="0" sz="1800" spc="-35">
                <a:latin typeface="Lucida Sans Unicode"/>
                <a:cs typeface="Lucida Sans Unicode"/>
              </a:rPr>
              <a:t> </a:t>
            </a:r>
            <a:r>
              <a:rPr dirty="0" sz="1800" spc="-25">
                <a:latin typeface="Lucida Sans Unicode"/>
                <a:cs typeface="Lucida Sans Unicode"/>
              </a:rPr>
              <a:t>to </a:t>
            </a:r>
            <a:r>
              <a:rPr dirty="0" sz="1800">
                <a:latin typeface="Lucida Sans Unicode"/>
                <a:cs typeface="Lucida Sans Unicode"/>
              </a:rPr>
              <a:t>the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application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048668" name="object 4" descr="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0" vert="horz" wrap="square">
            <a:spAutoFit/>
          </a:bodyPr>
          <a:p>
            <a:pPr marL="38100">
              <a:lnSpc>
                <a:spcPts val="1630"/>
              </a:lnSpc>
            </a:pPr>
            <a:fld id="{81D60167-4931-47E6-BA6A-407CBD079E47}" type="slidenum">
              <a:rPr dirty="0" sz="1400" spc="-25">
                <a:latin typeface="Times New Roman"/>
                <a:cs typeface="Times New Roman"/>
              </a:rPr>
              <a:t>15</a:t>
            </a:fld>
            <a:endParaRPr sz="1400">
              <a:latin typeface="Times New Roman"/>
              <a:cs typeface="Times New Roman"/>
            </a:endParaRPr>
          </a:p>
        </p:txBody>
      </p:sp>
      <p:sp>
        <p:nvSpPr>
          <p:cNvPr id="1048669" name="object 3"/>
          <p:cNvSpPr txBox="1">
            <a:spLocks noGrp="1"/>
          </p:cNvSpPr>
          <p:nvPr>
            <p:ph type="title"/>
          </p:nvPr>
        </p:nvSpPr>
        <p:spPr>
          <a:xfrm>
            <a:off x="457200" y="-148437"/>
            <a:ext cx="7922259" cy="1368491"/>
          </a:xfrm>
          <a:prstGeom prst="rect"/>
        </p:spPr>
        <p:txBody>
          <a:bodyPr bIns="0" lIns="0" rIns="0" rtlCol="0" tIns="289966" vert="horz" wrap="square">
            <a:spAutoFit/>
          </a:bodyPr>
          <a:p>
            <a:pPr marL="314325" marR="5080">
              <a:lnSpc>
                <a:spcPct val="101099"/>
              </a:lnSpc>
              <a:spcBef>
                <a:spcPts val="90"/>
              </a:spcBef>
            </a:pPr>
            <a:r>
              <a:rPr dirty="0" sz="3650" spc="340"/>
              <a:t>Information</a:t>
            </a:r>
            <a:r>
              <a:rPr dirty="0" sz="3650"/>
              <a:t> </a:t>
            </a:r>
            <a:r>
              <a:rPr dirty="0" sz="3650" spc="420"/>
              <a:t>Domain</a:t>
            </a:r>
            <a:r>
              <a:rPr dirty="0" sz="3650" spc="5"/>
              <a:t> </a:t>
            </a:r>
            <a:r>
              <a:rPr dirty="0" sz="3650" spc="355"/>
              <a:t>Values </a:t>
            </a:r>
            <a:r>
              <a:rPr dirty="0" sz="3650" spc="254"/>
              <a:t>(continued)</a:t>
            </a:r>
            <a:endParaRPr sz="36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object 2" descr=""/>
          <p:cNvSpPr txBox="1"/>
          <p:nvPr/>
        </p:nvSpPr>
        <p:spPr>
          <a:xfrm>
            <a:off x="451278" y="1435608"/>
            <a:ext cx="191135" cy="631825"/>
          </a:xfrm>
          <a:prstGeom prst="rect"/>
        </p:spPr>
        <p:txBody>
          <a:bodyPr bIns="0" lIns="0" rIns="0" rtlCol="0" tIns="131445" vert="horz" wrap="square">
            <a:spAutoFit/>
          </a:bodyPr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350" spc="-25">
                <a:solidFill>
                  <a:srgbClr val="2DA2BE"/>
                </a:solidFill>
                <a:latin typeface="Lucida Sans Unicode"/>
                <a:cs typeface="Lucida Sans Unicode"/>
              </a:rPr>
              <a:t>1)</a:t>
            </a:r>
            <a:endParaRPr sz="13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350" spc="-25">
                <a:solidFill>
                  <a:srgbClr val="2DA2BE"/>
                </a:solidFill>
                <a:latin typeface="Lucida Sans Unicode"/>
                <a:cs typeface="Lucida Sans Unicode"/>
              </a:rPr>
              <a:t>2)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048671" name="object 7" descr="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0" vert="horz" wrap="square">
            <a:spAutoFit/>
          </a:bodyPr>
          <a:p>
            <a:pPr marL="38100">
              <a:lnSpc>
                <a:spcPts val="1630"/>
              </a:lnSpc>
            </a:pPr>
            <a:fld id="{81D60167-4931-47E6-BA6A-407CBD079E47}" type="slidenum">
              <a:rPr dirty="0" sz="1400" spc="-25">
                <a:latin typeface="Times New Roman"/>
                <a:cs typeface="Times New Roman"/>
              </a:rPr>
              <a:t>16</a:t>
            </a:fld>
            <a:endParaRPr sz="1400">
              <a:latin typeface="Times New Roman"/>
              <a:cs typeface="Times New Roman"/>
            </a:endParaRPr>
          </a:p>
        </p:txBody>
      </p:sp>
      <p:sp>
        <p:nvSpPr>
          <p:cNvPr id="1048672" name="object 3" descr=""/>
          <p:cNvSpPr txBox="1"/>
          <p:nvPr/>
        </p:nvSpPr>
        <p:spPr>
          <a:xfrm>
            <a:off x="1139825" y="1451864"/>
            <a:ext cx="7313295" cy="3124200"/>
          </a:xfrm>
          <a:prstGeom prst="rect"/>
        </p:spPr>
        <p:txBody>
          <a:bodyPr bIns="0" lIns="0" rIns="0" rtlCol="0" tIns="38100" vert="horz" wrap="square">
            <a:spAutoFit/>
          </a:bodyPr>
          <a:p>
            <a:pPr marL="12700" marR="202565">
              <a:lnSpc>
                <a:spcPct val="98300"/>
              </a:lnSpc>
              <a:spcBef>
                <a:spcPts val="300"/>
              </a:spcBef>
            </a:pPr>
            <a:r>
              <a:rPr dirty="0" sz="2000">
                <a:latin typeface="Lucida Sans Unicode"/>
                <a:cs typeface="Lucida Sans Unicode"/>
              </a:rPr>
              <a:t>Does</a:t>
            </a:r>
            <a:r>
              <a:rPr dirty="0" sz="2000" spc="-5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the</a:t>
            </a:r>
            <a:r>
              <a:rPr dirty="0" sz="2000" spc="-5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system</a:t>
            </a:r>
            <a:r>
              <a:rPr dirty="0" sz="2000" spc="-5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require</a:t>
            </a:r>
            <a:r>
              <a:rPr dirty="0" sz="2000" spc="-5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reliable</a:t>
            </a:r>
            <a:r>
              <a:rPr dirty="0" sz="2000" spc="-5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backup</a:t>
            </a:r>
            <a:r>
              <a:rPr dirty="0" sz="2000" spc="-5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and</a:t>
            </a:r>
            <a:r>
              <a:rPr dirty="0" sz="2000" spc="-55">
                <a:latin typeface="Lucida Sans Unicode"/>
                <a:cs typeface="Lucida Sans Unicode"/>
              </a:rPr>
              <a:t> </a:t>
            </a:r>
            <a:r>
              <a:rPr dirty="0" sz="2000" spc="-10">
                <a:latin typeface="Lucida Sans Unicode"/>
                <a:cs typeface="Lucida Sans Unicode"/>
              </a:rPr>
              <a:t>recovery? </a:t>
            </a:r>
            <a:r>
              <a:rPr dirty="0" sz="2000">
                <a:latin typeface="Lucida Sans Unicode"/>
                <a:cs typeface="Lucida Sans Unicode"/>
              </a:rPr>
              <a:t>Are</a:t>
            </a:r>
            <a:r>
              <a:rPr dirty="0" sz="2000" spc="-4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specialized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data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communications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required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to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 spc="-10">
                <a:latin typeface="Lucida Sans Unicode"/>
                <a:cs typeface="Lucida Sans Unicode"/>
              </a:rPr>
              <a:t>transfer </a:t>
            </a:r>
            <a:r>
              <a:rPr dirty="0" sz="2000">
                <a:latin typeface="Lucida Sans Unicode"/>
                <a:cs typeface="Lucida Sans Unicode"/>
              </a:rPr>
              <a:t>information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to</a:t>
            </a:r>
            <a:r>
              <a:rPr dirty="0" sz="2000" spc="-2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or</a:t>
            </a:r>
            <a:r>
              <a:rPr dirty="0" sz="2000" spc="-2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from</a:t>
            </a:r>
            <a:r>
              <a:rPr dirty="0" sz="2000" spc="-2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the</a:t>
            </a:r>
            <a:r>
              <a:rPr dirty="0" sz="2000" spc="-20">
                <a:latin typeface="Lucida Sans Unicode"/>
                <a:cs typeface="Lucida Sans Unicode"/>
              </a:rPr>
              <a:t> </a:t>
            </a:r>
            <a:r>
              <a:rPr dirty="0" sz="2000" spc="-10">
                <a:latin typeface="Lucida Sans Unicode"/>
                <a:cs typeface="Lucida Sans Unicode"/>
              </a:rPr>
              <a:t>application?</a:t>
            </a:r>
            <a:endParaRPr sz="2000">
              <a:latin typeface="Lucida Sans Unicode"/>
              <a:cs typeface="Lucida Sans Unicode"/>
            </a:endParaRPr>
          </a:p>
          <a:p>
            <a:pPr marL="12700" marR="1969770">
              <a:lnSpc>
                <a:spcPct val="106700"/>
              </a:lnSpc>
            </a:pPr>
            <a:r>
              <a:rPr dirty="0" sz="2000">
                <a:latin typeface="Lucida Sans Unicode"/>
                <a:cs typeface="Lucida Sans Unicode"/>
              </a:rPr>
              <a:t>Are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there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 spc="-10">
                <a:latin typeface="Lucida Sans Unicode"/>
                <a:cs typeface="Lucida Sans Unicode"/>
              </a:rPr>
              <a:t>distributed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processing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 spc="-10">
                <a:latin typeface="Lucida Sans Unicode"/>
                <a:cs typeface="Lucida Sans Unicode"/>
              </a:rPr>
              <a:t>functions? </a:t>
            </a:r>
            <a:r>
              <a:rPr dirty="0" sz="2000">
                <a:latin typeface="Lucida Sans Unicode"/>
                <a:cs typeface="Lucida Sans Unicode"/>
              </a:rPr>
              <a:t>Is</a:t>
            </a:r>
            <a:r>
              <a:rPr dirty="0" sz="2000" spc="-4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performance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 spc="-10">
                <a:latin typeface="Lucida Sans Unicode"/>
                <a:cs typeface="Lucida Sans Unicode"/>
              </a:rPr>
              <a:t>critical?</a:t>
            </a:r>
            <a:endParaRPr sz="2000">
              <a:latin typeface="Lucida Sans Unicode"/>
              <a:cs typeface="Lucida Sans Unicode"/>
            </a:endParaRPr>
          </a:p>
          <a:p>
            <a:pPr marL="12700" marR="1174115">
              <a:lnSpc>
                <a:spcPts val="2160"/>
              </a:lnSpc>
              <a:spcBef>
                <a:spcPts val="430"/>
              </a:spcBef>
            </a:pPr>
            <a:r>
              <a:rPr dirty="0" sz="2000">
                <a:latin typeface="Lucida Sans Unicode"/>
                <a:cs typeface="Lucida Sans Unicode"/>
              </a:rPr>
              <a:t>Will</a:t>
            </a:r>
            <a:r>
              <a:rPr dirty="0" sz="2000" spc="-4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the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system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run</a:t>
            </a:r>
            <a:r>
              <a:rPr dirty="0" sz="2000" spc="-4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in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an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existing,</a:t>
            </a:r>
            <a:r>
              <a:rPr dirty="0" sz="2000" spc="-4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heavily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 spc="-10">
                <a:latin typeface="Lucida Sans Unicode"/>
                <a:cs typeface="Lucida Sans Unicode"/>
              </a:rPr>
              <a:t>utilized </a:t>
            </a:r>
            <a:r>
              <a:rPr dirty="0" sz="2000">
                <a:latin typeface="Lucida Sans Unicode"/>
                <a:cs typeface="Lucida Sans Unicode"/>
              </a:rPr>
              <a:t>operational</a:t>
            </a:r>
            <a:r>
              <a:rPr dirty="0" sz="2000" spc="-55">
                <a:latin typeface="Lucida Sans Unicode"/>
                <a:cs typeface="Lucida Sans Unicode"/>
              </a:rPr>
              <a:t> </a:t>
            </a:r>
            <a:r>
              <a:rPr dirty="0" sz="2000" spc="-10">
                <a:latin typeface="Lucida Sans Unicode"/>
                <a:cs typeface="Lucida Sans Unicode"/>
              </a:rPr>
              <a:t>environment?</a:t>
            </a:r>
            <a:endParaRPr sz="20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>
                <a:latin typeface="Lucida Sans Unicode"/>
                <a:cs typeface="Lucida Sans Unicode"/>
              </a:rPr>
              <a:t>Does</a:t>
            </a:r>
            <a:r>
              <a:rPr dirty="0" sz="2000" spc="-5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the</a:t>
            </a:r>
            <a:r>
              <a:rPr dirty="0" sz="2000" spc="-5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system</a:t>
            </a:r>
            <a:r>
              <a:rPr dirty="0" sz="2000" spc="-5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require</a:t>
            </a:r>
            <a:r>
              <a:rPr dirty="0" sz="2000" spc="-50">
                <a:latin typeface="Lucida Sans Unicode"/>
                <a:cs typeface="Lucida Sans Unicode"/>
              </a:rPr>
              <a:t> </a:t>
            </a:r>
            <a:r>
              <a:rPr dirty="0" sz="2000" spc="-95">
                <a:latin typeface="Lucida Sans Unicode"/>
                <a:cs typeface="Lucida Sans Unicode"/>
              </a:rPr>
              <a:t>on-</a:t>
            </a:r>
            <a:r>
              <a:rPr dirty="0" sz="2000" spc="-45">
                <a:latin typeface="Lucida Sans Unicode"/>
                <a:cs typeface="Lucida Sans Unicode"/>
              </a:rPr>
              <a:t>line</a:t>
            </a:r>
            <a:r>
              <a:rPr dirty="0" sz="2000" spc="-5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data</a:t>
            </a:r>
            <a:r>
              <a:rPr dirty="0" sz="2000" spc="-55">
                <a:latin typeface="Lucida Sans Unicode"/>
                <a:cs typeface="Lucida Sans Unicode"/>
              </a:rPr>
              <a:t> </a:t>
            </a:r>
            <a:r>
              <a:rPr dirty="0" sz="2000" spc="-10">
                <a:latin typeface="Lucida Sans Unicode"/>
                <a:cs typeface="Lucida Sans Unicode"/>
              </a:rPr>
              <a:t>entry?</a:t>
            </a:r>
            <a:endParaRPr sz="2000">
              <a:latin typeface="Lucida Sans Unicode"/>
              <a:cs typeface="Lucida Sans Unicode"/>
            </a:endParaRPr>
          </a:p>
          <a:p>
            <a:pPr marL="12700" marR="5080">
              <a:lnSpc>
                <a:spcPts val="2160"/>
              </a:lnSpc>
              <a:spcBef>
                <a:spcPts val="430"/>
              </a:spcBef>
            </a:pPr>
            <a:r>
              <a:rPr dirty="0" sz="2000">
                <a:latin typeface="Lucida Sans Unicode"/>
                <a:cs typeface="Lucida Sans Unicode"/>
              </a:rPr>
              <a:t>Does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the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 spc="-95">
                <a:latin typeface="Lucida Sans Unicode"/>
                <a:cs typeface="Lucida Sans Unicode"/>
              </a:rPr>
              <a:t>on-</a:t>
            </a:r>
            <a:r>
              <a:rPr dirty="0" sz="2000" spc="-45">
                <a:latin typeface="Lucida Sans Unicode"/>
                <a:cs typeface="Lucida Sans Unicode"/>
              </a:rPr>
              <a:t>line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data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entry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require</a:t>
            </a:r>
            <a:r>
              <a:rPr dirty="0" sz="2000" spc="-3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the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input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transaction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 spc="-25">
                <a:latin typeface="Lucida Sans Unicode"/>
                <a:cs typeface="Lucida Sans Unicode"/>
              </a:rPr>
              <a:t>to </a:t>
            </a:r>
            <a:r>
              <a:rPr dirty="0" sz="2000">
                <a:latin typeface="Lucida Sans Unicode"/>
                <a:cs typeface="Lucida Sans Unicode"/>
              </a:rPr>
              <a:t>be</a:t>
            </a:r>
            <a:r>
              <a:rPr dirty="0" sz="2000" spc="-2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built</a:t>
            </a:r>
            <a:r>
              <a:rPr dirty="0" sz="2000" spc="-2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over</a:t>
            </a:r>
            <a:r>
              <a:rPr dirty="0" sz="2000" spc="-2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multiple</a:t>
            </a:r>
            <a:r>
              <a:rPr dirty="0" sz="2000" spc="-2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screens</a:t>
            </a:r>
            <a:r>
              <a:rPr dirty="0" sz="2000" spc="-2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or</a:t>
            </a:r>
            <a:r>
              <a:rPr dirty="0" sz="2000" spc="-25">
                <a:latin typeface="Lucida Sans Unicode"/>
                <a:cs typeface="Lucida Sans Unicode"/>
              </a:rPr>
              <a:t> </a:t>
            </a:r>
            <a:r>
              <a:rPr dirty="0" sz="2000" spc="-10">
                <a:latin typeface="Lucida Sans Unicode"/>
                <a:cs typeface="Lucida Sans Unicode"/>
              </a:rPr>
              <a:t>operations?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048673" name="object 4" descr=""/>
          <p:cNvSpPr txBox="1"/>
          <p:nvPr/>
        </p:nvSpPr>
        <p:spPr>
          <a:xfrm>
            <a:off x="451278" y="2360167"/>
            <a:ext cx="191135" cy="941705"/>
          </a:xfrm>
          <a:prstGeom prst="rect"/>
        </p:spPr>
        <p:txBody>
          <a:bodyPr bIns="0" lIns="0" rIns="0" rtlCol="0" tIns="131445" vert="horz" wrap="square">
            <a:spAutoFit/>
          </a:bodyPr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350" spc="-25">
                <a:solidFill>
                  <a:srgbClr val="2DA2BE"/>
                </a:solidFill>
                <a:latin typeface="Lucida Sans Unicode"/>
                <a:cs typeface="Lucida Sans Unicode"/>
              </a:rPr>
              <a:t>3)</a:t>
            </a:r>
            <a:endParaRPr sz="13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350" spc="-25">
                <a:solidFill>
                  <a:srgbClr val="2DA2BE"/>
                </a:solidFill>
                <a:latin typeface="Lucida Sans Unicode"/>
                <a:cs typeface="Lucida Sans Unicode"/>
              </a:rPr>
              <a:t>4)</a:t>
            </a:r>
            <a:endParaRPr sz="13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350" spc="-25">
                <a:solidFill>
                  <a:srgbClr val="2DA2BE"/>
                </a:solidFill>
                <a:latin typeface="Lucida Sans Unicode"/>
                <a:cs typeface="Lucida Sans Unicode"/>
              </a:rPr>
              <a:t>5)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048674" name="object 5" descr=""/>
          <p:cNvSpPr txBox="1"/>
          <p:nvPr/>
        </p:nvSpPr>
        <p:spPr>
          <a:xfrm>
            <a:off x="451278" y="3609847"/>
            <a:ext cx="191135" cy="631826"/>
          </a:xfrm>
          <a:prstGeom prst="rect"/>
        </p:spPr>
        <p:txBody>
          <a:bodyPr bIns="0" lIns="0" rIns="0" rtlCol="0" tIns="131445" vert="horz" wrap="square">
            <a:spAutoFit/>
          </a:bodyPr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350" spc="-25">
                <a:solidFill>
                  <a:srgbClr val="2DA2BE"/>
                </a:solidFill>
                <a:latin typeface="Lucida Sans Unicode"/>
                <a:cs typeface="Lucida Sans Unicode"/>
              </a:rPr>
              <a:t>6)</a:t>
            </a:r>
            <a:endParaRPr sz="13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350" spc="-25">
                <a:solidFill>
                  <a:srgbClr val="2DA2BE"/>
                </a:solidFill>
                <a:latin typeface="Lucida Sans Unicode"/>
                <a:cs typeface="Lucida Sans Unicode"/>
              </a:rPr>
              <a:t>7)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048675" name="object 6"/>
          <p:cNvSpPr txBox="1">
            <a:spLocks noGrp="1"/>
          </p:cNvSpPr>
          <p:nvPr>
            <p:ph type="title"/>
          </p:nvPr>
        </p:nvSpPr>
        <p:spPr>
          <a:xfrm>
            <a:off x="457200" y="-148437"/>
            <a:ext cx="7922259" cy="1301089"/>
          </a:xfrm>
          <a:prstGeom prst="rect"/>
        </p:spPr>
        <p:txBody>
          <a:bodyPr bIns="0" lIns="0" rIns="0" rtlCol="0" tIns="691489" vert="horz" wrap="square">
            <a:spAutoFit/>
          </a:bodyPr>
          <a:p>
            <a:pPr marL="238125">
              <a:lnSpc>
                <a:spcPct val="100000"/>
              </a:lnSpc>
              <a:spcBef>
                <a:spcPts val="100"/>
              </a:spcBef>
            </a:pPr>
            <a:r>
              <a:rPr dirty="0" spc="315"/>
              <a:t>Value</a:t>
            </a:r>
            <a:r>
              <a:rPr dirty="0"/>
              <a:t> </a:t>
            </a:r>
            <a:r>
              <a:rPr dirty="0" spc="350"/>
              <a:t>Adjustment</a:t>
            </a:r>
            <a:r>
              <a:rPr dirty="0" spc="5"/>
              <a:t> </a:t>
            </a:r>
            <a:r>
              <a:rPr dirty="0" spc="305"/>
              <a:t>Factors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object 2" descr=""/>
          <p:cNvSpPr txBox="1"/>
          <p:nvPr/>
        </p:nvSpPr>
        <p:spPr>
          <a:xfrm>
            <a:off x="342113" y="1577847"/>
            <a:ext cx="300355" cy="1906270"/>
          </a:xfrm>
          <a:prstGeom prst="rect"/>
        </p:spPr>
        <p:txBody>
          <a:bodyPr bIns="0" lIns="0" rIns="0" rtlCol="0" tIns="13970" vert="horz" wrap="square">
            <a:spAutoFit/>
          </a:bodyPr>
          <a:p>
            <a:pPr algn="r" marR="5080">
              <a:lnSpc>
                <a:spcPct val="100000"/>
              </a:lnSpc>
              <a:spcBef>
                <a:spcPts val="110"/>
              </a:spcBef>
            </a:pPr>
            <a:r>
              <a:rPr dirty="0" sz="1350" spc="-25">
                <a:solidFill>
                  <a:srgbClr val="2DA2BE"/>
                </a:solidFill>
                <a:latin typeface="Lucida Sans Unicode"/>
                <a:cs typeface="Lucida Sans Unicode"/>
              </a:rPr>
              <a:t>8)</a:t>
            </a:r>
            <a:endParaRPr sz="1350">
              <a:latin typeface="Lucida Sans Unicode"/>
              <a:cs typeface="Lucida Sans Unicode"/>
            </a:endParaRPr>
          </a:p>
          <a:p>
            <a:pPr algn="r" marR="5080">
              <a:lnSpc>
                <a:spcPct val="100000"/>
              </a:lnSpc>
              <a:spcBef>
                <a:spcPts val="1180"/>
              </a:spcBef>
            </a:pPr>
            <a:r>
              <a:rPr dirty="0" sz="1350" spc="-25">
                <a:solidFill>
                  <a:srgbClr val="2DA2BE"/>
                </a:solidFill>
                <a:latin typeface="Lucida Sans Unicode"/>
                <a:cs typeface="Lucida Sans Unicode"/>
              </a:rPr>
              <a:t>9)</a:t>
            </a:r>
            <a:endParaRPr sz="1350">
              <a:latin typeface="Lucida Sans Unicode"/>
              <a:cs typeface="Lucida Sans Unicode"/>
            </a:endParaRPr>
          </a:p>
          <a:p>
            <a:pPr algn="r" marR="5080">
              <a:lnSpc>
                <a:spcPct val="100000"/>
              </a:lnSpc>
              <a:spcBef>
                <a:spcPts val="1180"/>
              </a:spcBef>
            </a:pPr>
            <a:r>
              <a:rPr dirty="0" sz="1350" spc="-25">
                <a:solidFill>
                  <a:srgbClr val="2DA2BE"/>
                </a:solidFill>
                <a:latin typeface="Lucida Sans Unicode"/>
                <a:cs typeface="Lucida Sans Unicode"/>
              </a:rPr>
              <a:t>10)</a:t>
            </a:r>
            <a:endParaRPr sz="1350">
              <a:latin typeface="Lucida Sans Unicode"/>
              <a:cs typeface="Lucida Sans Unicode"/>
            </a:endParaRPr>
          </a:p>
          <a:p>
            <a:pPr algn="r" marR="5080">
              <a:lnSpc>
                <a:spcPct val="100000"/>
              </a:lnSpc>
              <a:spcBef>
                <a:spcPts val="1180"/>
              </a:spcBef>
            </a:pPr>
            <a:r>
              <a:rPr dirty="0" sz="1350" spc="-25">
                <a:solidFill>
                  <a:srgbClr val="2DA2BE"/>
                </a:solidFill>
                <a:latin typeface="Lucida Sans Unicode"/>
                <a:cs typeface="Lucida Sans Unicode"/>
              </a:rPr>
              <a:t>11)</a:t>
            </a:r>
            <a:endParaRPr sz="1350">
              <a:latin typeface="Lucida Sans Unicode"/>
              <a:cs typeface="Lucida Sans Unicode"/>
            </a:endParaRPr>
          </a:p>
          <a:p>
            <a:pPr algn="r" marR="5080">
              <a:lnSpc>
                <a:spcPct val="100000"/>
              </a:lnSpc>
              <a:spcBef>
                <a:spcPts val="1180"/>
              </a:spcBef>
            </a:pPr>
            <a:r>
              <a:rPr dirty="0" sz="1350" spc="-25">
                <a:solidFill>
                  <a:srgbClr val="2DA2BE"/>
                </a:solidFill>
                <a:latin typeface="Lucida Sans Unicode"/>
                <a:cs typeface="Lucida Sans Unicode"/>
              </a:rPr>
              <a:t>12)</a:t>
            </a:r>
            <a:endParaRPr sz="1350">
              <a:latin typeface="Lucida Sans Unicode"/>
              <a:cs typeface="Lucida Sans Unicode"/>
            </a:endParaRPr>
          </a:p>
          <a:p>
            <a:pPr algn="r" marR="5080">
              <a:lnSpc>
                <a:spcPct val="100000"/>
              </a:lnSpc>
              <a:spcBef>
                <a:spcPts val="1180"/>
              </a:spcBef>
            </a:pPr>
            <a:r>
              <a:rPr dirty="0" sz="1350" spc="-25">
                <a:solidFill>
                  <a:srgbClr val="2DA2BE"/>
                </a:solidFill>
                <a:latin typeface="Lucida Sans Unicode"/>
                <a:cs typeface="Lucida Sans Unicode"/>
              </a:rPr>
              <a:t>13)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048677" name="object 6" descr="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0" vert="horz" wrap="square">
            <a:spAutoFit/>
          </a:bodyPr>
          <a:p>
            <a:pPr marL="38100">
              <a:lnSpc>
                <a:spcPts val="1630"/>
              </a:lnSpc>
            </a:pPr>
            <a:fld id="{81D60167-4931-47E6-BA6A-407CBD079E47}" type="slidenum">
              <a:rPr dirty="0" sz="1400" spc="-25">
                <a:latin typeface="Times New Roman"/>
                <a:cs typeface="Times New Roman"/>
              </a:rPr>
              <a:t>17</a:t>
            </a:fld>
            <a:endParaRPr sz="1400">
              <a:latin typeface="Times New Roman"/>
              <a:cs typeface="Times New Roman"/>
            </a:endParaRPr>
          </a:p>
        </p:txBody>
      </p:sp>
      <p:sp>
        <p:nvSpPr>
          <p:cNvPr id="1048678" name="object 3" descr=""/>
          <p:cNvSpPr txBox="1"/>
          <p:nvPr/>
        </p:nvSpPr>
        <p:spPr>
          <a:xfrm>
            <a:off x="1139825" y="1445767"/>
            <a:ext cx="7395845" cy="3124200"/>
          </a:xfrm>
          <a:prstGeom prst="rect"/>
        </p:spPr>
        <p:txBody>
          <a:bodyPr bIns="0" lIns="0" rIns="0" rtlCol="0" tIns="63500" vert="horz" wrap="square">
            <a:spAutoFit/>
          </a:bodyPr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2000">
                <a:latin typeface="Lucida Sans Unicode"/>
                <a:cs typeface="Lucida Sans Unicode"/>
              </a:rPr>
              <a:t>Are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the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internal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logical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files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updated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 spc="-95">
                <a:latin typeface="Lucida Sans Unicode"/>
                <a:cs typeface="Lucida Sans Unicode"/>
              </a:rPr>
              <a:t>on-</a:t>
            </a:r>
            <a:r>
              <a:rPr dirty="0" sz="2000" spc="-10">
                <a:latin typeface="Lucida Sans Unicode"/>
                <a:cs typeface="Lucida Sans Unicode"/>
              </a:rPr>
              <a:t>line?</a:t>
            </a:r>
            <a:endParaRPr sz="2000">
              <a:latin typeface="Lucida Sans Unicode"/>
              <a:cs typeface="Lucida Sans Unicode"/>
            </a:endParaRPr>
          </a:p>
          <a:p>
            <a:pPr marL="12700" marR="1036955">
              <a:lnSpc>
                <a:spcPct val="116700"/>
              </a:lnSpc>
            </a:pPr>
            <a:r>
              <a:rPr dirty="0" sz="2000">
                <a:latin typeface="Lucida Sans Unicode"/>
                <a:cs typeface="Lucida Sans Unicode"/>
              </a:rPr>
              <a:t>Are</a:t>
            </a:r>
            <a:r>
              <a:rPr dirty="0" sz="2000" spc="-5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the</a:t>
            </a:r>
            <a:r>
              <a:rPr dirty="0" sz="2000" spc="-5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inputs,</a:t>
            </a:r>
            <a:r>
              <a:rPr dirty="0" sz="2000" spc="-6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outputs,</a:t>
            </a:r>
            <a:r>
              <a:rPr dirty="0" sz="2000" spc="-5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files,</a:t>
            </a:r>
            <a:r>
              <a:rPr dirty="0" sz="2000" spc="-5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or</a:t>
            </a:r>
            <a:r>
              <a:rPr dirty="0" sz="2000" spc="-5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inquiries</a:t>
            </a:r>
            <a:r>
              <a:rPr dirty="0" sz="2000" spc="-55">
                <a:latin typeface="Lucida Sans Unicode"/>
                <a:cs typeface="Lucida Sans Unicode"/>
              </a:rPr>
              <a:t> </a:t>
            </a:r>
            <a:r>
              <a:rPr dirty="0" sz="2000" spc="-10">
                <a:latin typeface="Lucida Sans Unicode"/>
                <a:cs typeface="Lucida Sans Unicode"/>
              </a:rPr>
              <a:t>complex? </a:t>
            </a:r>
            <a:r>
              <a:rPr dirty="0" sz="2000">
                <a:latin typeface="Lucida Sans Unicode"/>
                <a:cs typeface="Lucida Sans Unicode"/>
              </a:rPr>
              <a:t>Is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the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internal</a:t>
            </a:r>
            <a:r>
              <a:rPr dirty="0" sz="2000" spc="-3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processing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 spc="-10">
                <a:latin typeface="Lucida Sans Unicode"/>
                <a:cs typeface="Lucida Sans Unicode"/>
              </a:rPr>
              <a:t>complex?</a:t>
            </a:r>
            <a:endParaRPr sz="20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2000">
                <a:latin typeface="Lucida Sans Unicode"/>
                <a:cs typeface="Lucida Sans Unicode"/>
              </a:rPr>
              <a:t>Is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the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code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designed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to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be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 spc="-10">
                <a:latin typeface="Lucida Sans Unicode"/>
                <a:cs typeface="Lucida Sans Unicode"/>
              </a:rPr>
              <a:t>reusable?</a:t>
            </a:r>
            <a:endParaRPr sz="20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2000">
                <a:latin typeface="Lucida Sans Unicode"/>
                <a:cs typeface="Lucida Sans Unicode"/>
              </a:rPr>
              <a:t>Are</a:t>
            </a:r>
            <a:r>
              <a:rPr dirty="0" sz="2000" spc="-3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conversion</a:t>
            </a:r>
            <a:r>
              <a:rPr dirty="0" sz="2000" spc="-3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and</a:t>
            </a:r>
            <a:r>
              <a:rPr dirty="0" sz="2000" spc="-3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installation</a:t>
            </a:r>
            <a:r>
              <a:rPr dirty="0" sz="2000" spc="-3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included</a:t>
            </a:r>
            <a:r>
              <a:rPr dirty="0" sz="2000" spc="-3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in</a:t>
            </a:r>
            <a:r>
              <a:rPr dirty="0" sz="2000" spc="-3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the</a:t>
            </a:r>
            <a:r>
              <a:rPr dirty="0" sz="2000" spc="-25">
                <a:latin typeface="Lucida Sans Unicode"/>
                <a:cs typeface="Lucida Sans Unicode"/>
              </a:rPr>
              <a:t> </a:t>
            </a:r>
            <a:r>
              <a:rPr dirty="0" sz="2000" spc="-10">
                <a:latin typeface="Lucida Sans Unicode"/>
                <a:cs typeface="Lucida Sans Unicode"/>
              </a:rPr>
              <a:t>design?</a:t>
            </a:r>
            <a:endParaRPr sz="2000">
              <a:latin typeface="Lucida Sans Unicode"/>
              <a:cs typeface="Lucida Sans Unicode"/>
            </a:endParaRPr>
          </a:p>
          <a:p>
            <a:pPr marL="12700" marR="5080">
              <a:lnSpc>
                <a:spcPct val="100000"/>
              </a:lnSpc>
              <a:spcBef>
                <a:spcPts val="400"/>
              </a:spcBef>
            </a:pPr>
            <a:r>
              <a:rPr dirty="0" sz="2000">
                <a:latin typeface="Lucida Sans Unicode"/>
                <a:cs typeface="Lucida Sans Unicode"/>
              </a:rPr>
              <a:t>Is</a:t>
            </a:r>
            <a:r>
              <a:rPr dirty="0" sz="2000" spc="-5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the</a:t>
            </a:r>
            <a:r>
              <a:rPr dirty="0" sz="2000" spc="-5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system</a:t>
            </a:r>
            <a:r>
              <a:rPr dirty="0" sz="2000" spc="-5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designed</a:t>
            </a:r>
            <a:r>
              <a:rPr dirty="0" sz="2000" spc="-5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for</a:t>
            </a:r>
            <a:r>
              <a:rPr dirty="0" sz="2000" spc="-5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multiple</a:t>
            </a:r>
            <a:r>
              <a:rPr dirty="0" sz="2000" spc="-5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installations</a:t>
            </a:r>
            <a:r>
              <a:rPr dirty="0" sz="2000" spc="-5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in</a:t>
            </a:r>
            <a:r>
              <a:rPr dirty="0" sz="2000" spc="-50">
                <a:latin typeface="Lucida Sans Unicode"/>
                <a:cs typeface="Lucida Sans Unicode"/>
              </a:rPr>
              <a:t> </a:t>
            </a:r>
            <a:r>
              <a:rPr dirty="0" sz="2000" spc="-10">
                <a:latin typeface="Lucida Sans Unicode"/>
                <a:cs typeface="Lucida Sans Unicode"/>
              </a:rPr>
              <a:t>different organizations?</a:t>
            </a:r>
            <a:endParaRPr sz="2000">
              <a:latin typeface="Lucida Sans Unicode"/>
              <a:cs typeface="Lucida Sans Unicode"/>
            </a:endParaRPr>
          </a:p>
          <a:p>
            <a:pPr marL="12700" marR="22860">
              <a:lnSpc>
                <a:spcPct val="100000"/>
              </a:lnSpc>
              <a:spcBef>
                <a:spcPts val="400"/>
              </a:spcBef>
            </a:pPr>
            <a:r>
              <a:rPr dirty="0" sz="2000">
                <a:latin typeface="Lucida Sans Unicode"/>
                <a:cs typeface="Lucida Sans Unicode"/>
              </a:rPr>
              <a:t>Is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the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application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designed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to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facilitate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change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and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for</a:t>
            </a:r>
            <a:r>
              <a:rPr dirty="0" sz="2000" spc="-35">
                <a:latin typeface="Lucida Sans Unicode"/>
                <a:cs typeface="Lucida Sans Unicode"/>
              </a:rPr>
              <a:t> </a:t>
            </a:r>
            <a:r>
              <a:rPr dirty="0" sz="2000" spc="-20">
                <a:latin typeface="Lucida Sans Unicode"/>
                <a:cs typeface="Lucida Sans Unicode"/>
              </a:rPr>
              <a:t>ease </a:t>
            </a:r>
            <a:r>
              <a:rPr dirty="0" sz="2000">
                <a:latin typeface="Lucida Sans Unicode"/>
                <a:cs typeface="Lucida Sans Unicode"/>
              </a:rPr>
              <a:t>of</a:t>
            </a:r>
            <a:r>
              <a:rPr dirty="0" sz="2000" spc="-2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use</a:t>
            </a:r>
            <a:r>
              <a:rPr dirty="0" sz="2000" spc="-2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by</a:t>
            </a:r>
            <a:r>
              <a:rPr dirty="0" sz="2000" spc="-1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the</a:t>
            </a:r>
            <a:r>
              <a:rPr dirty="0" sz="2000" spc="-20">
                <a:latin typeface="Lucida Sans Unicode"/>
                <a:cs typeface="Lucida Sans Unicode"/>
              </a:rPr>
              <a:t> </a:t>
            </a:r>
            <a:r>
              <a:rPr dirty="0" sz="2000" spc="-10">
                <a:latin typeface="Lucida Sans Unicode"/>
                <a:cs typeface="Lucida Sans Unicode"/>
              </a:rPr>
              <a:t>user?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048679" name="object 4" descr=""/>
          <p:cNvSpPr txBox="1"/>
          <p:nvPr/>
        </p:nvSpPr>
        <p:spPr>
          <a:xfrm>
            <a:off x="342113" y="4016247"/>
            <a:ext cx="300355" cy="204470"/>
          </a:xfrm>
          <a:prstGeom prst="rect"/>
        </p:spPr>
        <p:txBody>
          <a:bodyPr bIns="0" lIns="0" rIns="0" rtlCol="0" tIns="13970" vert="horz" wrap="square">
            <a:spAutoFit/>
          </a:bodyPr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50" spc="-25">
                <a:solidFill>
                  <a:srgbClr val="2DA2BE"/>
                </a:solidFill>
                <a:latin typeface="Lucida Sans Unicode"/>
                <a:cs typeface="Lucida Sans Unicode"/>
              </a:rPr>
              <a:t>14)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048680" name="object 5"/>
          <p:cNvSpPr txBox="1">
            <a:spLocks noGrp="1"/>
          </p:cNvSpPr>
          <p:nvPr>
            <p:ph type="title"/>
          </p:nvPr>
        </p:nvSpPr>
        <p:spPr>
          <a:xfrm>
            <a:off x="457200" y="-148437"/>
            <a:ext cx="7922259" cy="1520891"/>
          </a:xfrm>
          <a:prstGeom prst="rect"/>
        </p:spPr>
        <p:txBody>
          <a:bodyPr bIns="0" lIns="0" rIns="0" rtlCol="0" tIns="442366" vert="horz" wrap="square">
            <a:spAutoFit/>
          </a:bodyPr>
          <a:p>
            <a:pPr marL="238125" marR="5080">
              <a:lnSpc>
                <a:spcPct val="101099"/>
              </a:lnSpc>
              <a:spcBef>
                <a:spcPts val="90"/>
              </a:spcBef>
            </a:pPr>
            <a:r>
              <a:rPr dirty="0" sz="3650" spc="300"/>
              <a:t>Value</a:t>
            </a:r>
            <a:r>
              <a:rPr dirty="0" sz="3650" spc="15"/>
              <a:t> </a:t>
            </a:r>
            <a:r>
              <a:rPr dirty="0" sz="3650" spc="330"/>
              <a:t>Adjustment</a:t>
            </a:r>
            <a:r>
              <a:rPr dirty="0" sz="3650" spc="20"/>
              <a:t> </a:t>
            </a:r>
            <a:r>
              <a:rPr dirty="0" sz="3650" spc="290"/>
              <a:t>Factors </a:t>
            </a:r>
            <a:r>
              <a:rPr dirty="0" sz="3650" spc="254"/>
              <a:t>(continued)</a:t>
            </a:r>
            <a:endParaRPr sz="36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object 2" descr=""/>
          <p:cNvSpPr/>
          <p:nvPr/>
        </p:nvSpPr>
        <p:spPr>
          <a:xfrm>
            <a:off x="1558924" y="4038600"/>
            <a:ext cx="7508875" cy="2298700"/>
          </a:xfrm>
          <a:custGeom>
            <a:avLst/>
            <a:ahLst/>
            <a:rect l="l" t="t" r="r" b="b"/>
            <a:pathLst>
              <a:path w="7508875" h="2298700">
                <a:moveTo>
                  <a:pt x="0" y="0"/>
                </a:moveTo>
                <a:lnTo>
                  <a:pt x="7508874" y="0"/>
                </a:lnTo>
                <a:lnTo>
                  <a:pt x="7508874" y="2298699"/>
                </a:lnTo>
                <a:lnTo>
                  <a:pt x="0" y="22986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bIns="0" lIns="0" rIns="0" rtlCol="0" tIns="0" wrap="square"/>
          <a:p/>
        </p:txBody>
      </p:sp>
      <p:sp>
        <p:nvSpPr>
          <p:cNvPr id="1048682" name="object 3" descr=""/>
          <p:cNvSpPr txBox="1"/>
          <p:nvPr/>
        </p:nvSpPr>
        <p:spPr>
          <a:xfrm>
            <a:off x="914399" y="1236827"/>
            <a:ext cx="178435" cy="191136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25">
                <a:solidFill>
                  <a:srgbClr val="2DA2BE"/>
                </a:solidFill>
                <a:latin typeface="Lucida Sans Unicode"/>
                <a:cs typeface="Lucida Sans Unicode"/>
              </a:rPr>
              <a:t>2)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048683" name="object 4" descr=""/>
          <p:cNvSpPr txBox="1"/>
          <p:nvPr/>
        </p:nvSpPr>
        <p:spPr>
          <a:xfrm>
            <a:off x="1416719" y="1161643"/>
            <a:ext cx="7551420" cy="1444625"/>
          </a:xfrm>
          <a:prstGeom prst="rect"/>
        </p:spPr>
        <p:txBody>
          <a:bodyPr bIns="0" lIns="0" rIns="0" rtlCol="0" tIns="66675" vert="horz" wrap="square">
            <a:spAutoFit/>
          </a:bodyPr>
          <a:p>
            <a:pPr marL="192405" marR="583565">
              <a:lnSpc>
                <a:spcPts val="1780"/>
              </a:lnSpc>
              <a:spcBef>
                <a:spcPts val="525"/>
              </a:spcBef>
            </a:pPr>
            <a:r>
              <a:rPr dirty="0" sz="1850">
                <a:latin typeface="Lucida Sans Unicode"/>
                <a:cs typeface="Lucida Sans Unicode"/>
              </a:rPr>
              <a:t>Complete</a:t>
            </a:r>
            <a:r>
              <a:rPr dirty="0" sz="1850" spc="-25">
                <a:latin typeface="Lucida Sans Unicode"/>
                <a:cs typeface="Lucida Sans Unicode"/>
              </a:rPr>
              <a:t> </a:t>
            </a:r>
            <a:r>
              <a:rPr dirty="0" sz="1850">
                <a:latin typeface="Lucida Sans Unicode"/>
                <a:cs typeface="Lucida Sans Unicode"/>
              </a:rPr>
              <a:t>the</a:t>
            </a:r>
            <a:r>
              <a:rPr dirty="0" sz="1850" spc="-25">
                <a:latin typeface="Lucida Sans Unicode"/>
                <a:cs typeface="Lucida Sans Unicode"/>
              </a:rPr>
              <a:t> </a:t>
            </a:r>
            <a:r>
              <a:rPr dirty="0" sz="1850">
                <a:latin typeface="Lucida Sans Unicode"/>
                <a:cs typeface="Lucida Sans Unicode"/>
              </a:rPr>
              <a:t>table</a:t>
            </a:r>
            <a:r>
              <a:rPr dirty="0" sz="1850" spc="-25">
                <a:latin typeface="Lucida Sans Unicode"/>
                <a:cs typeface="Lucida Sans Unicode"/>
              </a:rPr>
              <a:t> </a:t>
            </a:r>
            <a:r>
              <a:rPr dirty="0" sz="1850">
                <a:latin typeface="Lucida Sans Unicode"/>
                <a:cs typeface="Lucida Sans Unicode"/>
              </a:rPr>
              <a:t>shown</a:t>
            </a:r>
            <a:r>
              <a:rPr dirty="0" sz="1850" spc="-25">
                <a:latin typeface="Lucida Sans Unicode"/>
                <a:cs typeface="Lucida Sans Unicode"/>
              </a:rPr>
              <a:t> </a:t>
            </a:r>
            <a:r>
              <a:rPr dirty="0" sz="1850">
                <a:latin typeface="Lucida Sans Unicode"/>
                <a:cs typeface="Lucida Sans Unicode"/>
              </a:rPr>
              <a:t>below</a:t>
            </a:r>
            <a:r>
              <a:rPr dirty="0" sz="1850" spc="-25">
                <a:latin typeface="Lucida Sans Unicode"/>
                <a:cs typeface="Lucida Sans Unicode"/>
              </a:rPr>
              <a:t> </a:t>
            </a:r>
            <a:r>
              <a:rPr dirty="0" sz="1850">
                <a:latin typeface="Lucida Sans Unicode"/>
                <a:cs typeface="Lucida Sans Unicode"/>
              </a:rPr>
              <a:t>to</a:t>
            </a:r>
            <a:r>
              <a:rPr dirty="0" sz="1850" spc="-20">
                <a:latin typeface="Lucida Sans Unicode"/>
                <a:cs typeface="Lucida Sans Unicode"/>
              </a:rPr>
              <a:t> </a:t>
            </a:r>
            <a:r>
              <a:rPr dirty="0" sz="1850">
                <a:latin typeface="Lucida Sans Unicode"/>
                <a:cs typeface="Lucida Sans Unicode"/>
              </a:rPr>
              <a:t>get</a:t>
            </a:r>
            <a:r>
              <a:rPr dirty="0" sz="1850" spc="-25">
                <a:latin typeface="Lucida Sans Unicode"/>
                <a:cs typeface="Lucida Sans Unicode"/>
              </a:rPr>
              <a:t> </a:t>
            </a:r>
            <a:r>
              <a:rPr dirty="0" sz="1850">
                <a:latin typeface="Lucida Sans Unicode"/>
                <a:cs typeface="Lucida Sans Unicode"/>
              </a:rPr>
              <a:t>the</a:t>
            </a:r>
            <a:r>
              <a:rPr dirty="0" sz="1850" spc="-25">
                <a:latin typeface="Lucida Sans Unicode"/>
                <a:cs typeface="Lucida Sans Unicode"/>
              </a:rPr>
              <a:t> </a:t>
            </a:r>
            <a:r>
              <a:rPr dirty="0" sz="1850">
                <a:latin typeface="Lucida Sans Unicode"/>
                <a:cs typeface="Lucida Sans Unicode"/>
              </a:rPr>
              <a:t>count</a:t>
            </a:r>
            <a:r>
              <a:rPr dirty="0" sz="1850" spc="-25">
                <a:latin typeface="Lucida Sans Unicode"/>
                <a:cs typeface="Lucida Sans Unicode"/>
              </a:rPr>
              <a:t> </a:t>
            </a:r>
            <a:r>
              <a:rPr dirty="0" sz="1850">
                <a:latin typeface="Lucida Sans Unicode"/>
                <a:cs typeface="Lucida Sans Unicode"/>
              </a:rPr>
              <a:t>total</a:t>
            </a:r>
            <a:r>
              <a:rPr dirty="0" sz="1850" spc="-25">
                <a:latin typeface="Lucida Sans Unicode"/>
                <a:cs typeface="Lucida Sans Unicode"/>
              </a:rPr>
              <a:t> </a:t>
            </a:r>
            <a:r>
              <a:rPr dirty="0" sz="1850" spc="-20">
                <a:latin typeface="Lucida Sans Unicode"/>
                <a:cs typeface="Lucida Sans Unicode"/>
              </a:rPr>
              <a:t>(aka </a:t>
            </a:r>
            <a:r>
              <a:rPr dirty="0" sz="1850">
                <a:latin typeface="Lucida Sans Unicode"/>
                <a:cs typeface="Lucida Sans Unicode"/>
              </a:rPr>
              <a:t>unadjusted</a:t>
            </a:r>
            <a:r>
              <a:rPr dirty="0" sz="1850" spc="-85">
                <a:latin typeface="Lucida Sans Unicode"/>
                <a:cs typeface="Lucida Sans Unicode"/>
              </a:rPr>
              <a:t> </a:t>
            </a:r>
            <a:r>
              <a:rPr dirty="0" sz="1850">
                <a:latin typeface="Lucida Sans Unicode"/>
                <a:cs typeface="Lucida Sans Unicode"/>
              </a:rPr>
              <a:t>function</a:t>
            </a:r>
            <a:r>
              <a:rPr dirty="0" sz="1850" spc="-80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points)</a:t>
            </a:r>
            <a:endParaRPr sz="1850">
              <a:latin typeface="Lucida Sans Unicode"/>
              <a:cs typeface="Lucida Sans Unicode"/>
            </a:endParaRPr>
          </a:p>
          <a:p>
            <a:pPr indent="-561340" marL="573405" marR="5080">
              <a:lnSpc>
                <a:spcPts val="1600"/>
              </a:lnSpc>
              <a:spcBef>
                <a:spcPts val="315"/>
              </a:spcBef>
              <a:buClr>
                <a:srgbClr val="2DA2BE"/>
              </a:buClr>
              <a:buChar char="•"/>
              <a:tabLst>
                <a:tab algn="l" pos="573405"/>
              </a:tabLst>
            </a:pPr>
            <a:r>
              <a:rPr dirty="0" sz="1650">
                <a:latin typeface="Lucida Sans Unicode"/>
                <a:cs typeface="Lucida Sans Unicode"/>
              </a:rPr>
              <a:t>Associate</a:t>
            </a:r>
            <a:r>
              <a:rPr dirty="0" sz="1650" spc="-30">
                <a:latin typeface="Lucida Sans Unicode"/>
                <a:cs typeface="Lucida Sans Unicode"/>
              </a:rPr>
              <a:t> </a:t>
            </a:r>
            <a:r>
              <a:rPr dirty="0" sz="1650">
                <a:latin typeface="Lucida Sans Unicode"/>
                <a:cs typeface="Lucida Sans Unicode"/>
              </a:rPr>
              <a:t>a</a:t>
            </a:r>
            <a:r>
              <a:rPr dirty="0" sz="1650" spc="-25">
                <a:latin typeface="Lucida Sans Unicode"/>
                <a:cs typeface="Lucida Sans Unicode"/>
              </a:rPr>
              <a:t> </a:t>
            </a:r>
            <a:r>
              <a:rPr dirty="0" sz="1650">
                <a:latin typeface="Lucida Sans Unicode"/>
                <a:cs typeface="Lucida Sans Unicode"/>
              </a:rPr>
              <a:t>weighting</a:t>
            </a:r>
            <a:r>
              <a:rPr dirty="0" sz="1650" spc="-25">
                <a:latin typeface="Lucida Sans Unicode"/>
                <a:cs typeface="Lucida Sans Unicode"/>
              </a:rPr>
              <a:t> </a:t>
            </a:r>
            <a:r>
              <a:rPr dirty="0" sz="1650">
                <a:latin typeface="Lucida Sans Unicode"/>
                <a:cs typeface="Lucida Sans Unicode"/>
              </a:rPr>
              <a:t>factor</a:t>
            </a:r>
            <a:r>
              <a:rPr dirty="0" sz="1650" spc="-25">
                <a:latin typeface="Lucida Sans Unicode"/>
                <a:cs typeface="Lucida Sans Unicode"/>
              </a:rPr>
              <a:t> </a:t>
            </a:r>
            <a:r>
              <a:rPr dirty="0" sz="1650">
                <a:latin typeface="Lucida Sans Unicode"/>
                <a:cs typeface="Lucida Sans Unicode"/>
              </a:rPr>
              <a:t>(i.e.,</a:t>
            </a:r>
            <a:r>
              <a:rPr dirty="0" sz="1650" spc="-25">
                <a:latin typeface="Lucida Sans Unicode"/>
                <a:cs typeface="Lucida Sans Unicode"/>
              </a:rPr>
              <a:t> </a:t>
            </a:r>
            <a:r>
              <a:rPr dirty="0" sz="1650">
                <a:latin typeface="Lucida Sans Unicode"/>
                <a:cs typeface="Lucida Sans Unicode"/>
              </a:rPr>
              <a:t>complexity</a:t>
            </a:r>
            <a:r>
              <a:rPr dirty="0" sz="1650" spc="-25">
                <a:latin typeface="Lucida Sans Unicode"/>
                <a:cs typeface="Lucida Sans Unicode"/>
              </a:rPr>
              <a:t> </a:t>
            </a:r>
            <a:r>
              <a:rPr dirty="0" sz="1650">
                <a:latin typeface="Lucida Sans Unicode"/>
                <a:cs typeface="Lucida Sans Unicode"/>
              </a:rPr>
              <a:t>value)</a:t>
            </a:r>
            <a:r>
              <a:rPr dirty="0" sz="1650" spc="-25">
                <a:latin typeface="Lucida Sans Unicode"/>
                <a:cs typeface="Lucida Sans Unicode"/>
              </a:rPr>
              <a:t> </a:t>
            </a:r>
            <a:r>
              <a:rPr dirty="0" sz="1650">
                <a:latin typeface="Lucida Sans Unicode"/>
                <a:cs typeface="Lucida Sans Unicode"/>
              </a:rPr>
              <a:t>with</a:t>
            </a:r>
            <a:r>
              <a:rPr dirty="0" sz="1650" spc="-25">
                <a:latin typeface="Lucida Sans Unicode"/>
                <a:cs typeface="Lucida Sans Unicode"/>
              </a:rPr>
              <a:t> </a:t>
            </a:r>
            <a:r>
              <a:rPr dirty="0" sz="1650">
                <a:latin typeface="Lucida Sans Unicode"/>
                <a:cs typeface="Lucida Sans Unicode"/>
              </a:rPr>
              <a:t>each</a:t>
            </a:r>
            <a:r>
              <a:rPr dirty="0" sz="1650" spc="-25">
                <a:latin typeface="Lucida Sans Unicode"/>
                <a:cs typeface="Lucida Sans Unicode"/>
              </a:rPr>
              <a:t> </a:t>
            </a:r>
            <a:r>
              <a:rPr dirty="0" sz="1650" spc="-10">
                <a:latin typeface="Lucida Sans Unicode"/>
                <a:cs typeface="Lucida Sans Unicode"/>
              </a:rPr>
              <a:t>count </a:t>
            </a:r>
            <a:r>
              <a:rPr dirty="0" sz="1650">
                <a:latin typeface="Lucida Sans Unicode"/>
                <a:cs typeface="Lucida Sans Unicode"/>
              </a:rPr>
              <a:t>based</a:t>
            </a:r>
            <a:r>
              <a:rPr dirty="0" sz="1650" spc="-35">
                <a:latin typeface="Lucida Sans Unicode"/>
                <a:cs typeface="Lucida Sans Unicode"/>
              </a:rPr>
              <a:t> </a:t>
            </a:r>
            <a:r>
              <a:rPr dirty="0" sz="1650">
                <a:latin typeface="Lucida Sans Unicode"/>
                <a:cs typeface="Lucida Sans Unicode"/>
              </a:rPr>
              <a:t>on</a:t>
            </a:r>
            <a:r>
              <a:rPr dirty="0" sz="1650" spc="-25">
                <a:latin typeface="Lucida Sans Unicode"/>
                <a:cs typeface="Lucida Sans Unicode"/>
              </a:rPr>
              <a:t> </a:t>
            </a:r>
            <a:r>
              <a:rPr dirty="0" sz="1650">
                <a:latin typeface="Lucida Sans Unicode"/>
                <a:cs typeface="Lucida Sans Unicode"/>
              </a:rPr>
              <a:t>criteria</a:t>
            </a:r>
            <a:r>
              <a:rPr dirty="0" sz="1650" spc="-20">
                <a:latin typeface="Lucida Sans Unicode"/>
                <a:cs typeface="Lucida Sans Unicode"/>
              </a:rPr>
              <a:t> </a:t>
            </a:r>
            <a:r>
              <a:rPr dirty="0" sz="1650">
                <a:latin typeface="Lucida Sans Unicode"/>
                <a:cs typeface="Lucida Sans Unicode"/>
              </a:rPr>
              <a:t>established</a:t>
            </a:r>
            <a:r>
              <a:rPr dirty="0" sz="1650" spc="-25">
                <a:latin typeface="Lucida Sans Unicode"/>
                <a:cs typeface="Lucida Sans Unicode"/>
              </a:rPr>
              <a:t> </a:t>
            </a:r>
            <a:r>
              <a:rPr dirty="0" sz="1650">
                <a:latin typeface="Lucida Sans Unicode"/>
                <a:cs typeface="Lucida Sans Unicode"/>
              </a:rPr>
              <a:t>by</a:t>
            </a:r>
            <a:r>
              <a:rPr dirty="0" sz="1650" spc="-20">
                <a:latin typeface="Lucida Sans Unicode"/>
                <a:cs typeface="Lucida Sans Unicode"/>
              </a:rPr>
              <a:t> </a:t>
            </a:r>
            <a:r>
              <a:rPr dirty="0" sz="1650">
                <a:latin typeface="Lucida Sans Unicode"/>
                <a:cs typeface="Lucida Sans Unicode"/>
              </a:rPr>
              <a:t>the</a:t>
            </a:r>
            <a:r>
              <a:rPr dirty="0" sz="1650" spc="-25">
                <a:latin typeface="Lucida Sans Unicode"/>
                <a:cs typeface="Lucida Sans Unicode"/>
              </a:rPr>
              <a:t> </a:t>
            </a:r>
            <a:r>
              <a:rPr dirty="0" sz="1650">
                <a:latin typeface="Lucida Sans Unicode"/>
                <a:cs typeface="Lucida Sans Unicode"/>
              </a:rPr>
              <a:t>software</a:t>
            </a:r>
            <a:r>
              <a:rPr dirty="0" sz="1650" spc="-20">
                <a:latin typeface="Lucida Sans Unicode"/>
                <a:cs typeface="Lucida Sans Unicode"/>
              </a:rPr>
              <a:t> </a:t>
            </a:r>
            <a:r>
              <a:rPr dirty="0" sz="1650" spc="-10">
                <a:latin typeface="Lucida Sans Unicode"/>
                <a:cs typeface="Lucida Sans Unicode"/>
              </a:rPr>
              <a:t>development organization</a:t>
            </a:r>
            <a:endParaRPr sz="1650">
              <a:latin typeface="Lucida Sans Unicode"/>
              <a:cs typeface="Lucida Sans Unicode"/>
            </a:endParaRPr>
          </a:p>
          <a:p>
            <a:pPr marL="192405" marR="25400">
              <a:lnSpc>
                <a:spcPct val="80000"/>
              </a:lnSpc>
              <a:spcBef>
                <a:spcPts val="415"/>
              </a:spcBef>
            </a:pPr>
            <a:r>
              <a:rPr dirty="0" sz="1850">
                <a:latin typeface="Lucida Sans Unicode"/>
                <a:cs typeface="Lucida Sans Unicode"/>
              </a:rPr>
              <a:t>Evaluate</a:t>
            </a:r>
            <a:r>
              <a:rPr dirty="0" sz="1850" spc="-35">
                <a:latin typeface="Lucida Sans Unicode"/>
                <a:cs typeface="Lucida Sans Unicode"/>
              </a:rPr>
              <a:t> </a:t>
            </a:r>
            <a:r>
              <a:rPr dirty="0" sz="1850">
                <a:latin typeface="Lucida Sans Unicode"/>
                <a:cs typeface="Lucida Sans Unicode"/>
              </a:rPr>
              <a:t>and</a:t>
            </a:r>
            <a:r>
              <a:rPr dirty="0" sz="1850" spc="-30">
                <a:latin typeface="Lucida Sans Unicode"/>
                <a:cs typeface="Lucida Sans Unicode"/>
              </a:rPr>
              <a:t> </a:t>
            </a:r>
            <a:r>
              <a:rPr dirty="0" sz="1850">
                <a:latin typeface="Lucida Sans Unicode"/>
                <a:cs typeface="Lucida Sans Unicode"/>
              </a:rPr>
              <a:t>sum</a:t>
            </a:r>
            <a:r>
              <a:rPr dirty="0" sz="1850" spc="-35">
                <a:latin typeface="Lucida Sans Unicode"/>
                <a:cs typeface="Lucida Sans Unicode"/>
              </a:rPr>
              <a:t> </a:t>
            </a:r>
            <a:r>
              <a:rPr dirty="0" sz="1850">
                <a:latin typeface="Lucida Sans Unicode"/>
                <a:cs typeface="Lucida Sans Unicode"/>
              </a:rPr>
              <a:t>up</a:t>
            </a:r>
            <a:r>
              <a:rPr dirty="0" sz="1850" spc="-30">
                <a:latin typeface="Lucida Sans Unicode"/>
                <a:cs typeface="Lucida Sans Unicode"/>
              </a:rPr>
              <a:t> </a:t>
            </a:r>
            <a:r>
              <a:rPr dirty="0" sz="1850">
                <a:latin typeface="Lucida Sans Unicode"/>
                <a:cs typeface="Lucida Sans Unicode"/>
              </a:rPr>
              <a:t>the</a:t>
            </a:r>
            <a:r>
              <a:rPr dirty="0" sz="1850" spc="-35">
                <a:latin typeface="Lucida Sans Unicode"/>
                <a:cs typeface="Lucida Sans Unicode"/>
              </a:rPr>
              <a:t> </a:t>
            </a:r>
            <a:r>
              <a:rPr dirty="0" sz="1850">
                <a:latin typeface="Lucida Sans Unicode"/>
                <a:cs typeface="Lucida Sans Unicode"/>
              </a:rPr>
              <a:t>adjustment</a:t>
            </a:r>
            <a:r>
              <a:rPr dirty="0" sz="1850" spc="-30">
                <a:latin typeface="Lucida Sans Unicode"/>
                <a:cs typeface="Lucida Sans Unicode"/>
              </a:rPr>
              <a:t> </a:t>
            </a:r>
            <a:r>
              <a:rPr dirty="0" sz="1850">
                <a:latin typeface="Lucida Sans Unicode"/>
                <a:cs typeface="Lucida Sans Unicode"/>
              </a:rPr>
              <a:t>factors</a:t>
            </a:r>
            <a:r>
              <a:rPr dirty="0" sz="1850" spc="-35">
                <a:latin typeface="Lucida Sans Unicode"/>
                <a:cs typeface="Lucida Sans Unicode"/>
              </a:rPr>
              <a:t> </a:t>
            </a:r>
            <a:r>
              <a:rPr dirty="0" sz="1850">
                <a:latin typeface="Lucida Sans Unicode"/>
                <a:cs typeface="Lucida Sans Unicode"/>
              </a:rPr>
              <a:t>(see</a:t>
            </a:r>
            <a:r>
              <a:rPr dirty="0" sz="1850" spc="-30">
                <a:latin typeface="Lucida Sans Unicode"/>
                <a:cs typeface="Lucida Sans Unicode"/>
              </a:rPr>
              <a:t> </a:t>
            </a:r>
            <a:r>
              <a:rPr dirty="0" sz="1850">
                <a:latin typeface="Lucida Sans Unicode"/>
                <a:cs typeface="Lucida Sans Unicode"/>
              </a:rPr>
              <a:t>example</a:t>
            </a:r>
            <a:r>
              <a:rPr dirty="0" sz="1850" spc="-35">
                <a:latin typeface="Lucida Sans Unicode"/>
                <a:cs typeface="Lucida Sans Unicode"/>
              </a:rPr>
              <a:t> </a:t>
            </a:r>
            <a:r>
              <a:rPr dirty="0" sz="1850">
                <a:latin typeface="Lucida Sans Unicode"/>
                <a:cs typeface="Lucida Sans Unicode"/>
              </a:rPr>
              <a:t>in</a:t>
            </a:r>
            <a:r>
              <a:rPr dirty="0" sz="1850" spc="-30">
                <a:latin typeface="Lucida Sans Unicode"/>
                <a:cs typeface="Lucida Sans Unicode"/>
              </a:rPr>
              <a:t> </a:t>
            </a:r>
            <a:r>
              <a:rPr dirty="0" sz="1850" spc="-25">
                <a:latin typeface="Lucida Sans Unicode"/>
                <a:cs typeface="Lucida Sans Unicode"/>
              </a:rPr>
              <a:t>the </a:t>
            </a:r>
            <a:r>
              <a:rPr dirty="0" sz="1850">
                <a:latin typeface="Lucida Sans Unicode"/>
                <a:cs typeface="Lucida Sans Unicode"/>
              </a:rPr>
              <a:t>next</a:t>
            </a:r>
            <a:r>
              <a:rPr dirty="0" sz="1850" spc="-20">
                <a:latin typeface="Lucida Sans Unicode"/>
                <a:cs typeface="Lucida Sans Unicode"/>
              </a:rPr>
              <a:t> </a:t>
            </a:r>
            <a:r>
              <a:rPr dirty="0" sz="1850">
                <a:latin typeface="Lucida Sans Unicode"/>
                <a:cs typeface="Lucida Sans Unicode"/>
              </a:rPr>
              <a:t>few</a:t>
            </a:r>
            <a:r>
              <a:rPr dirty="0" sz="1850" spc="-10">
                <a:latin typeface="Lucida Sans Unicode"/>
                <a:cs typeface="Lucida Sans Unicode"/>
              </a:rPr>
              <a:t> slides)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1048684" name="object 5" descr=""/>
          <p:cNvSpPr txBox="1"/>
          <p:nvPr/>
        </p:nvSpPr>
        <p:spPr>
          <a:xfrm>
            <a:off x="914399" y="2388869"/>
            <a:ext cx="178435" cy="191135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25">
                <a:solidFill>
                  <a:srgbClr val="2DA2BE"/>
                </a:solidFill>
                <a:latin typeface="Lucida Sans Unicode"/>
                <a:cs typeface="Lucida Sans Unicode"/>
              </a:rPr>
              <a:t>3)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048685" name="object 6" descr=""/>
          <p:cNvSpPr txBox="1"/>
          <p:nvPr/>
        </p:nvSpPr>
        <p:spPr>
          <a:xfrm>
            <a:off x="1391319" y="2811388"/>
            <a:ext cx="7113905" cy="279400"/>
          </a:xfrm>
          <a:prstGeom prst="rect"/>
        </p:spPr>
        <p:txBody>
          <a:bodyPr bIns="0" lIns="0" rIns="0" rtlCol="0" tIns="14605" vert="horz" wrap="square">
            <a:spAutoFit/>
          </a:bodyPr>
          <a:p>
            <a:pPr indent="-560705" marL="598805">
              <a:lnSpc>
                <a:spcPct val="100000"/>
              </a:lnSpc>
              <a:spcBef>
                <a:spcPts val="115"/>
              </a:spcBef>
              <a:buClr>
                <a:srgbClr val="2DA2BE"/>
              </a:buClr>
              <a:buChar char="•"/>
              <a:tabLst>
                <a:tab algn="l" pos="598805"/>
              </a:tabLst>
            </a:pPr>
            <a:r>
              <a:rPr dirty="0" sz="1650">
                <a:latin typeface="Lucida Sans Unicode"/>
                <a:cs typeface="Lucida Sans Unicode"/>
              </a:rPr>
              <a:t>“</a:t>
            </a:r>
            <a:r>
              <a:rPr dirty="0" sz="1650">
                <a:latin typeface="Courier New"/>
                <a:cs typeface="Courier New"/>
              </a:rPr>
              <a:t>F</a:t>
            </a:r>
            <a:r>
              <a:rPr baseline="-30303" dirty="0" sz="1650">
                <a:latin typeface="Courier New"/>
                <a:cs typeface="Courier New"/>
              </a:rPr>
              <a:t>i</a:t>
            </a:r>
            <a:r>
              <a:rPr dirty="0" sz="1650">
                <a:latin typeface="Lucida Sans Unicode"/>
                <a:cs typeface="Lucida Sans Unicode"/>
              </a:rPr>
              <a:t>”</a:t>
            </a:r>
            <a:r>
              <a:rPr dirty="0" sz="1650" spc="5">
                <a:latin typeface="Lucida Sans Unicode"/>
                <a:cs typeface="Lucida Sans Unicode"/>
              </a:rPr>
              <a:t> </a:t>
            </a:r>
            <a:r>
              <a:rPr dirty="0" sz="1650">
                <a:latin typeface="Lucida Sans Unicode"/>
                <a:cs typeface="Lucida Sans Unicode"/>
              </a:rPr>
              <a:t>refers</a:t>
            </a:r>
            <a:r>
              <a:rPr dirty="0" sz="1650" spc="5">
                <a:latin typeface="Lucida Sans Unicode"/>
                <a:cs typeface="Lucida Sans Unicode"/>
              </a:rPr>
              <a:t> </a:t>
            </a:r>
            <a:r>
              <a:rPr dirty="0" sz="1650">
                <a:latin typeface="Lucida Sans Unicode"/>
                <a:cs typeface="Lucida Sans Unicode"/>
              </a:rPr>
              <a:t>to</a:t>
            </a:r>
            <a:r>
              <a:rPr dirty="0" sz="1650" spc="5">
                <a:latin typeface="Lucida Sans Unicode"/>
                <a:cs typeface="Lucida Sans Unicode"/>
              </a:rPr>
              <a:t> </a:t>
            </a:r>
            <a:r>
              <a:rPr dirty="0" sz="1650">
                <a:latin typeface="Lucida Sans Unicode"/>
                <a:cs typeface="Lucida Sans Unicode"/>
              </a:rPr>
              <a:t>14</a:t>
            </a:r>
            <a:r>
              <a:rPr dirty="0" sz="1650" spc="5">
                <a:latin typeface="Lucida Sans Unicode"/>
                <a:cs typeface="Lucida Sans Unicode"/>
              </a:rPr>
              <a:t> </a:t>
            </a:r>
            <a:r>
              <a:rPr dirty="0" sz="1650">
                <a:latin typeface="Lucida Sans Unicode"/>
                <a:cs typeface="Lucida Sans Unicode"/>
              </a:rPr>
              <a:t>value</a:t>
            </a:r>
            <a:r>
              <a:rPr dirty="0" sz="1650" spc="5">
                <a:latin typeface="Lucida Sans Unicode"/>
                <a:cs typeface="Lucida Sans Unicode"/>
              </a:rPr>
              <a:t> </a:t>
            </a:r>
            <a:r>
              <a:rPr dirty="0" sz="1650">
                <a:latin typeface="Lucida Sans Unicode"/>
                <a:cs typeface="Lucida Sans Unicode"/>
              </a:rPr>
              <a:t>adjustment</a:t>
            </a:r>
            <a:r>
              <a:rPr dirty="0" sz="1650" spc="5">
                <a:latin typeface="Lucida Sans Unicode"/>
                <a:cs typeface="Lucida Sans Unicode"/>
              </a:rPr>
              <a:t> </a:t>
            </a:r>
            <a:r>
              <a:rPr dirty="0" sz="1650">
                <a:latin typeface="Lucida Sans Unicode"/>
                <a:cs typeface="Lucida Sans Unicode"/>
              </a:rPr>
              <a:t>factors,</a:t>
            </a:r>
            <a:r>
              <a:rPr dirty="0" sz="1650" spc="5">
                <a:latin typeface="Lucida Sans Unicode"/>
                <a:cs typeface="Lucida Sans Unicode"/>
              </a:rPr>
              <a:t> </a:t>
            </a:r>
            <a:r>
              <a:rPr dirty="0" sz="1650">
                <a:latin typeface="Lucida Sans Unicode"/>
                <a:cs typeface="Lucida Sans Unicode"/>
              </a:rPr>
              <a:t>with</a:t>
            </a:r>
            <a:r>
              <a:rPr dirty="0" sz="1650" spc="5">
                <a:latin typeface="Lucida Sans Unicode"/>
                <a:cs typeface="Lucida Sans Unicode"/>
              </a:rPr>
              <a:t> </a:t>
            </a:r>
            <a:r>
              <a:rPr dirty="0" sz="1650">
                <a:latin typeface="Lucida Sans Unicode"/>
                <a:cs typeface="Lucida Sans Unicode"/>
              </a:rPr>
              <a:t>each</a:t>
            </a:r>
            <a:r>
              <a:rPr dirty="0" sz="1650" spc="10">
                <a:latin typeface="Lucida Sans Unicode"/>
                <a:cs typeface="Lucida Sans Unicode"/>
              </a:rPr>
              <a:t> </a:t>
            </a:r>
            <a:r>
              <a:rPr dirty="0" sz="1650">
                <a:latin typeface="Lucida Sans Unicode"/>
                <a:cs typeface="Lucida Sans Unicode"/>
              </a:rPr>
              <a:t>ranging</a:t>
            </a:r>
            <a:r>
              <a:rPr dirty="0" sz="1650" spc="5">
                <a:latin typeface="Lucida Sans Unicode"/>
                <a:cs typeface="Lucida Sans Unicode"/>
              </a:rPr>
              <a:t> </a:t>
            </a:r>
            <a:r>
              <a:rPr dirty="0" sz="1650" spc="-25">
                <a:latin typeface="Lucida Sans Unicode"/>
                <a:cs typeface="Lucida Sans Unicode"/>
              </a:rPr>
              <a:t>in</a:t>
            </a:r>
            <a:endParaRPr sz="1650">
              <a:latin typeface="Lucida Sans Unicode"/>
              <a:cs typeface="Lucida Sans Unicode"/>
            </a:endParaRPr>
          </a:p>
        </p:txBody>
      </p:sp>
      <p:sp>
        <p:nvSpPr>
          <p:cNvPr id="1048686" name="object 7" descr=""/>
          <p:cNvSpPr txBox="1"/>
          <p:nvPr/>
        </p:nvSpPr>
        <p:spPr>
          <a:xfrm>
            <a:off x="1571625" y="3014385"/>
            <a:ext cx="7362190" cy="744221"/>
          </a:xfrm>
          <a:prstGeom prst="rect"/>
        </p:spPr>
        <p:txBody>
          <a:bodyPr bIns="0" lIns="0" rIns="0" rtlCol="0" tIns="14605" vert="horz" wrap="square">
            <a:spAutoFit/>
          </a:bodyPr>
          <a:p>
            <a:pPr marL="419100">
              <a:lnSpc>
                <a:spcPts val="1960"/>
              </a:lnSpc>
              <a:spcBef>
                <a:spcPts val="115"/>
              </a:spcBef>
            </a:pPr>
            <a:r>
              <a:rPr dirty="0" sz="1650">
                <a:latin typeface="Lucida Sans Unicode"/>
                <a:cs typeface="Lucida Sans Unicode"/>
              </a:rPr>
              <a:t>value from 0</a:t>
            </a:r>
            <a:r>
              <a:rPr dirty="0" sz="1650" spc="5">
                <a:latin typeface="Lucida Sans Unicode"/>
                <a:cs typeface="Lucida Sans Unicode"/>
              </a:rPr>
              <a:t> </a:t>
            </a:r>
            <a:r>
              <a:rPr dirty="0" sz="1650">
                <a:latin typeface="Lucida Sans Unicode"/>
                <a:cs typeface="Lucida Sans Unicode"/>
              </a:rPr>
              <a:t>(not important)</a:t>
            </a:r>
            <a:r>
              <a:rPr dirty="0" sz="1650" spc="5">
                <a:latin typeface="Lucida Sans Unicode"/>
                <a:cs typeface="Lucida Sans Unicode"/>
              </a:rPr>
              <a:t> </a:t>
            </a:r>
            <a:r>
              <a:rPr dirty="0" sz="1650">
                <a:latin typeface="Lucida Sans Unicode"/>
                <a:cs typeface="Lucida Sans Unicode"/>
              </a:rPr>
              <a:t>to 5</a:t>
            </a:r>
            <a:r>
              <a:rPr dirty="0" sz="1650" spc="5">
                <a:latin typeface="Lucida Sans Unicode"/>
                <a:cs typeface="Lucida Sans Unicode"/>
              </a:rPr>
              <a:t> </a:t>
            </a:r>
            <a:r>
              <a:rPr dirty="0" sz="1650">
                <a:latin typeface="Lucida Sans Unicode"/>
                <a:cs typeface="Lucida Sans Unicode"/>
              </a:rPr>
              <a:t>(absolutely </a:t>
            </a:r>
            <a:r>
              <a:rPr dirty="0" sz="1650" spc="-10">
                <a:latin typeface="Lucida Sans Unicode"/>
                <a:cs typeface="Lucida Sans Unicode"/>
              </a:rPr>
              <a:t>essential)</a:t>
            </a:r>
            <a:endParaRPr sz="1650">
              <a:latin typeface="Lucida Sans Unicode"/>
              <a:cs typeface="Lucida Sans Unicode"/>
            </a:endParaRPr>
          </a:p>
          <a:p>
            <a:pPr marL="38100" marR="30480">
              <a:lnSpc>
                <a:spcPct val="80000"/>
              </a:lnSpc>
              <a:spcBef>
                <a:spcPts val="425"/>
              </a:spcBef>
              <a:tabLst>
                <a:tab algn="l" pos="5208905"/>
              </a:tabLst>
            </a:pPr>
            <a:r>
              <a:rPr dirty="0" sz="1850">
                <a:latin typeface="Lucida Sans Unicode"/>
                <a:cs typeface="Lucida Sans Unicode"/>
              </a:rPr>
              <a:t>Compute</a:t>
            </a:r>
            <a:r>
              <a:rPr dirty="0" sz="1850" spc="-40">
                <a:latin typeface="Lucida Sans Unicode"/>
                <a:cs typeface="Lucida Sans Unicode"/>
              </a:rPr>
              <a:t> </a:t>
            </a:r>
            <a:r>
              <a:rPr dirty="0" sz="1850">
                <a:latin typeface="Lucida Sans Unicode"/>
                <a:cs typeface="Lucida Sans Unicode"/>
              </a:rPr>
              <a:t>the</a:t>
            </a:r>
            <a:r>
              <a:rPr dirty="0" sz="1850" spc="-40">
                <a:latin typeface="Lucida Sans Unicode"/>
                <a:cs typeface="Lucida Sans Unicode"/>
              </a:rPr>
              <a:t> </a:t>
            </a:r>
            <a:r>
              <a:rPr dirty="0" sz="1850">
                <a:latin typeface="Lucida Sans Unicode"/>
                <a:cs typeface="Lucida Sans Unicode"/>
              </a:rPr>
              <a:t>number</a:t>
            </a:r>
            <a:r>
              <a:rPr dirty="0" sz="1850" spc="-40">
                <a:latin typeface="Lucida Sans Unicode"/>
                <a:cs typeface="Lucida Sans Unicode"/>
              </a:rPr>
              <a:t> </a:t>
            </a:r>
            <a:r>
              <a:rPr dirty="0" sz="1850">
                <a:latin typeface="Lucida Sans Unicode"/>
                <a:cs typeface="Lucida Sans Unicode"/>
              </a:rPr>
              <a:t>of</a:t>
            </a:r>
            <a:r>
              <a:rPr dirty="0" sz="1850" spc="-40">
                <a:latin typeface="Lucida Sans Unicode"/>
                <a:cs typeface="Lucida Sans Unicode"/>
              </a:rPr>
              <a:t> </a:t>
            </a:r>
            <a:r>
              <a:rPr dirty="0" sz="1850">
                <a:latin typeface="Lucida Sans Unicode"/>
                <a:cs typeface="Lucida Sans Unicode"/>
              </a:rPr>
              <a:t>function</a:t>
            </a:r>
            <a:r>
              <a:rPr dirty="0" sz="1850" spc="-40">
                <a:latin typeface="Lucida Sans Unicode"/>
                <a:cs typeface="Lucida Sans Unicode"/>
              </a:rPr>
              <a:t> </a:t>
            </a:r>
            <a:r>
              <a:rPr dirty="0" sz="1850">
                <a:latin typeface="Lucida Sans Unicode"/>
                <a:cs typeface="Lucida Sans Unicode"/>
              </a:rPr>
              <a:t>points</a:t>
            </a:r>
            <a:r>
              <a:rPr dirty="0" sz="1850" spc="-35">
                <a:latin typeface="Lucida Sans Unicode"/>
                <a:cs typeface="Lucida Sans Unicode"/>
              </a:rPr>
              <a:t> </a:t>
            </a:r>
            <a:r>
              <a:rPr dirty="0" sz="1850" spc="-20">
                <a:latin typeface="Lucida Sans Unicode"/>
                <a:cs typeface="Lucida Sans Unicode"/>
              </a:rPr>
              <a:t>(FP)</a:t>
            </a:r>
            <a:r>
              <a:rPr dirty="0" sz="1850">
                <a:latin typeface="Lucida Sans Unicode"/>
                <a:cs typeface="Lucida Sans Unicode"/>
              </a:rPr>
              <a:t>	</a:t>
            </a:r>
            <a:r>
              <a:rPr dirty="0" sz="1850">
                <a:latin typeface="Courier New"/>
                <a:cs typeface="Courier New"/>
              </a:rPr>
              <a:t>aka</a:t>
            </a:r>
            <a:r>
              <a:rPr dirty="0" sz="1850" spc="-90">
                <a:latin typeface="Courier New"/>
                <a:cs typeface="Courier New"/>
              </a:rPr>
              <a:t> </a:t>
            </a:r>
            <a:r>
              <a:rPr dirty="0" sz="1850">
                <a:latin typeface="Courier New"/>
                <a:cs typeface="Courier New"/>
              </a:rPr>
              <a:t>Adjusted</a:t>
            </a:r>
            <a:r>
              <a:rPr dirty="0" sz="1850" spc="-90">
                <a:latin typeface="Courier New"/>
                <a:cs typeface="Courier New"/>
              </a:rPr>
              <a:t> </a:t>
            </a:r>
            <a:r>
              <a:rPr dirty="0" sz="1850" spc="-25">
                <a:latin typeface="Courier New"/>
                <a:cs typeface="Courier New"/>
              </a:rPr>
              <a:t>FP </a:t>
            </a:r>
            <a:r>
              <a:rPr dirty="0" sz="1850">
                <a:latin typeface="Courier New"/>
                <a:cs typeface="Courier New"/>
              </a:rPr>
              <a:t>FP</a:t>
            </a:r>
            <a:r>
              <a:rPr dirty="0" sz="1850" spc="-45">
                <a:latin typeface="Courier New"/>
                <a:cs typeface="Courier New"/>
              </a:rPr>
              <a:t> </a:t>
            </a:r>
            <a:r>
              <a:rPr dirty="0" sz="1850">
                <a:latin typeface="Courier New"/>
                <a:cs typeface="Courier New"/>
              </a:rPr>
              <a:t>=</a:t>
            </a:r>
            <a:r>
              <a:rPr dirty="0" sz="1850" spc="-45">
                <a:latin typeface="Courier New"/>
                <a:cs typeface="Courier New"/>
              </a:rPr>
              <a:t> </a:t>
            </a:r>
            <a:r>
              <a:rPr dirty="0" sz="1850">
                <a:latin typeface="Courier New"/>
                <a:cs typeface="Courier New"/>
              </a:rPr>
              <a:t>count</a:t>
            </a:r>
            <a:r>
              <a:rPr dirty="0" sz="1850" spc="-45">
                <a:latin typeface="Courier New"/>
                <a:cs typeface="Courier New"/>
              </a:rPr>
              <a:t> </a:t>
            </a:r>
            <a:r>
              <a:rPr dirty="0" sz="1850">
                <a:latin typeface="Courier New"/>
                <a:cs typeface="Courier New"/>
              </a:rPr>
              <a:t>total</a:t>
            </a:r>
            <a:r>
              <a:rPr dirty="0" sz="1850" spc="-45">
                <a:latin typeface="Courier New"/>
                <a:cs typeface="Courier New"/>
              </a:rPr>
              <a:t> </a:t>
            </a:r>
            <a:r>
              <a:rPr dirty="0" sz="1850">
                <a:latin typeface="Courier New"/>
                <a:cs typeface="Courier New"/>
              </a:rPr>
              <a:t>*</a:t>
            </a:r>
            <a:r>
              <a:rPr dirty="0" sz="1850" spc="-45">
                <a:latin typeface="Courier New"/>
                <a:cs typeface="Courier New"/>
              </a:rPr>
              <a:t> </a:t>
            </a:r>
            <a:r>
              <a:rPr dirty="0" sz="1850">
                <a:latin typeface="Courier New"/>
                <a:cs typeface="Courier New"/>
              </a:rPr>
              <a:t>[0.65</a:t>
            </a:r>
            <a:r>
              <a:rPr dirty="0" sz="1850" spc="-45">
                <a:latin typeface="Courier New"/>
                <a:cs typeface="Courier New"/>
              </a:rPr>
              <a:t> </a:t>
            </a:r>
            <a:r>
              <a:rPr dirty="0" sz="1850">
                <a:latin typeface="Courier New"/>
                <a:cs typeface="Courier New"/>
              </a:rPr>
              <a:t>+</a:t>
            </a:r>
            <a:r>
              <a:rPr dirty="0" sz="1850" spc="-45">
                <a:latin typeface="Courier New"/>
                <a:cs typeface="Courier New"/>
              </a:rPr>
              <a:t> </a:t>
            </a:r>
            <a:r>
              <a:rPr dirty="0" sz="1850">
                <a:latin typeface="Courier New"/>
                <a:cs typeface="Courier New"/>
              </a:rPr>
              <a:t>0.01</a:t>
            </a:r>
            <a:r>
              <a:rPr dirty="0" sz="1850" spc="-45">
                <a:latin typeface="Courier New"/>
                <a:cs typeface="Courier New"/>
              </a:rPr>
              <a:t> </a:t>
            </a:r>
            <a:r>
              <a:rPr dirty="0" sz="1850">
                <a:latin typeface="Courier New"/>
                <a:cs typeface="Courier New"/>
              </a:rPr>
              <a:t>*</a:t>
            </a:r>
            <a:r>
              <a:rPr dirty="0" sz="1850" spc="-45">
                <a:latin typeface="Courier New"/>
                <a:cs typeface="Courier New"/>
              </a:rPr>
              <a:t> </a:t>
            </a:r>
            <a:r>
              <a:rPr dirty="0" sz="1850" spc="-10">
                <a:latin typeface="Courier New"/>
                <a:cs typeface="Courier New"/>
              </a:rPr>
              <a:t>sum(F</a:t>
            </a:r>
            <a:r>
              <a:rPr baseline="-32407" dirty="0" sz="1800" spc="-15">
                <a:latin typeface="Courier New"/>
                <a:cs typeface="Courier New"/>
              </a:rPr>
              <a:t>i</a:t>
            </a:r>
            <a:r>
              <a:rPr dirty="0" sz="1850" spc="-10">
                <a:latin typeface="Courier New"/>
                <a:cs typeface="Courier New"/>
              </a:rPr>
              <a:t>)]</a:t>
            </a:r>
            <a:endParaRPr sz="1850">
              <a:latin typeface="Courier New"/>
              <a:cs typeface="Courier New"/>
            </a:endParaRPr>
          </a:p>
        </p:txBody>
      </p:sp>
      <p:sp>
        <p:nvSpPr>
          <p:cNvPr id="1048687" name="object 8"/>
          <p:cNvSpPr txBox="1">
            <a:spLocks noGrp="1"/>
          </p:cNvSpPr>
          <p:nvPr>
            <p:ph type="title"/>
          </p:nvPr>
        </p:nvSpPr>
        <p:spPr>
          <a:xfrm>
            <a:off x="733425" y="-148437"/>
            <a:ext cx="6191885" cy="1621663"/>
          </a:xfrm>
          <a:prstGeom prst="rect"/>
        </p:spPr>
        <p:txBody>
          <a:bodyPr bIns="0" lIns="0" rIns="0" rtlCol="0" tIns="74295" vert="horz" wrap="square">
            <a:spAutoFit/>
          </a:bodyPr>
          <a:p>
            <a:pPr marL="38100">
              <a:lnSpc>
                <a:spcPct val="100000"/>
              </a:lnSpc>
              <a:spcBef>
                <a:spcPts val="585"/>
              </a:spcBef>
            </a:pPr>
            <a:r>
              <a:rPr dirty="0" spc="270"/>
              <a:t>Function</a:t>
            </a:r>
            <a:r>
              <a:rPr dirty="0" spc="-5"/>
              <a:t> </a:t>
            </a:r>
            <a:r>
              <a:rPr dirty="0" spc="285"/>
              <a:t>Point</a:t>
            </a:r>
          </a:p>
          <a:p>
            <a:pPr marL="38100">
              <a:lnSpc>
                <a:spcPct val="100000"/>
              </a:lnSpc>
              <a:spcBef>
                <a:spcPts val="484"/>
              </a:spcBef>
            </a:pPr>
            <a:r>
              <a:rPr baseline="6775" dirty="0" sz="6150" spc="-2152"/>
              <a:t>C</a:t>
            </a:r>
            <a:r>
              <a:rPr b="0" dirty="0" sz="1250" spc="50">
                <a:solidFill>
                  <a:srgbClr val="2DA2BE"/>
                </a:solidFill>
                <a:latin typeface="Lucida Sans Unicode"/>
                <a:cs typeface="Lucida Sans Unicode"/>
              </a:rPr>
              <a:t>1</a:t>
            </a:r>
            <a:r>
              <a:rPr b="0" dirty="0" sz="1250" spc="55">
                <a:solidFill>
                  <a:srgbClr val="2DA2BE"/>
                </a:solidFill>
                <a:latin typeface="Lucida Sans Unicode"/>
                <a:cs typeface="Lucida Sans Unicode"/>
              </a:rPr>
              <a:t>)</a:t>
            </a:r>
            <a:r>
              <a:rPr b="0" dirty="0" sz="1250" spc="160">
                <a:solidFill>
                  <a:srgbClr val="2DA2BE"/>
                </a:solidFill>
                <a:latin typeface="Lucida Sans Unicode"/>
                <a:cs typeface="Lucida Sans Unicode"/>
              </a:rPr>
              <a:t> </a:t>
            </a:r>
            <a:r>
              <a:rPr baseline="6775" dirty="0" sz="6150" spc="30"/>
              <a:t>o</a:t>
            </a:r>
            <a:r>
              <a:rPr baseline="6775" dirty="0" sz="6150" spc="-4184"/>
              <a:t>m</a:t>
            </a:r>
            <a:r>
              <a:rPr b="0" dirty="0" sz="1850" spc="25">
                <a:solidFill>
                  <a:srgbClr val="000000"/>
                </a:solidFill>
                <a:latin typeface="Lucida Sans Unicode"/>
                <a:cs typeface="Lucida Sans Unicode"/>
              </a:rPr>
              <a:t>Ide</a:t>
            </a:r>
            <a:r>
              <a:rPr b="0" dirty="0" sz="1850" spc="-605">
                <a:solidFill>
                  <a:srgbClr val="000000"/>
                </a:solidFill>
                <a:latin typeface="Lucida Sans Unicode"/>
                <a:cs typeface="Lucida Sans Unicode"/>
              </a:rPr>
              <a:t>n</a:t>
            </a:r>
            <a:r>
              <a:rPr baseline="6775" dirty="0" sz="6150" spc="-2782"/>
              <a:t>p</a:t>
            </a:r>
            <a:r>
              <a:rPr b="0" dirty="0" sz="1850" spc="25">
                <a:solidFill>
                  <a:srgbClr val="000000"/>
                </a:solidFill>
                <a:latin typeface="Lucida Sans Unicode"/>
                <a:cs typeface="Lucida Sans Unicode"/>
              </a:rPr>
              <a:t>tif</a:t>
            </a:r>
            <a:r>
              <a:rPr b="0" dirty="0" sz="1850" spc="-620">
                <a:solidFill>
                  <a:srgbClr val="000000"/>
                </a:solidFill>
                <a:latin typeface="Lucida Sans Unicode"/>
                <a:cs typeface="Lucida Sans Unicode"/>
              </a:rPr>
              <a:t>y</a:t>
            </a:r>
            <a:r>
              <a:rPr baseline="6775" dirty="0" sz="6150" spc="-2790"/>
              <a:t>u</a:t>
            </a:r>
            <a:r>
              <a:rPr b="0" dirty="0" sz="1850" spc="25">
                <a:solidFill>
                  <a:srgbClr val="000000"/>
                </a:solidFill>
                <a:latin typeface="Lucida Sans Unicode"/>
                <a:cs typeface="Lucida Sans Unicode"/>
              </a:rPr>
              <a:t>/c</a:t>
            </a:r>
            <a:r>
              <a:rPr b="0" dirty="0" sz="1850" spc="-790">
                <a:solidFill>
                  <a:srgbClr val="000000"/>
                </a:solidFill>
                <a:latin typeface="Lucida Sans Unicode"/>
                <a:cs typeface="Lucida Sans Unicode"/>
              </a:rPr>
              <a:t>o</a:t>
            </a:r>
            <a:r>
              <a:rPr baseline="6775" dirty="0" sz="6150" spc="-1312"/>
              <a:t>t</a:t>
            </a:r>
            <a:r>
              <a:rPr b="0" dirty="0" sz="1850" spc="25">
                <a:solidFill>
                  <a:srgbClr val="000000"/>
                </a:solidFill>
                <a:latin typeface="Lucida Sans Unicode"/>
                <a:cs typeface="Lucida Sans Unicode"/>
              </a:rPr>
              <a:t>l</a:t>
            </a:r>
            <a:r>
              <a:rPr b="0" dirty="0" sz="1850" spc="-70">
                <a:solidFill>
                  <a:srgbClr val="000000"/>
                </a:solidFill>
                <a:latin typeface="Lucida Sans Unicode"/>
                <a:cs typeface="Lucida Sans Unicode"/>
              </a:rPr>
              <a:t>l</a:t>
            </a:r>
            <a:r>
              <a:rPr baseline="6775" dirty="0" sz="6150" spc="-3157"/>
              <a:t>a</a:t>
            </a:r>
            <a:r>
              <a:rPr b="0" dirty="0" sz="1850" spc="25">
                <a:solidFill>
                  <a:srgbClr val="000000"/>
                </a:solidFill>
                <a:latin typeface="Lucida Sans Unicode"/>
                <a:cs typeface="Lucida Sans Unicode"/>
              </a:rPr>
              <a:t>ec</a:t>
            </a:r>
            <a:r>
              <a:rPr b="0" dirty="0" sz="1850" spc="-185">
                <a:solidFill>
                  <a:srgbClr val="000000"/>
                </a:solidFill>
                <a:latin typeface="Lucida Sans Unicode"/>
                <a:cs typeface="Lucida Sans Unicode"/>
              </a:rPr>
              <a:t>t</a:t>
            </a:r>
            <a:r>
              <a:rPr baseline="6775" dirty="0" sz="6150" spc="-1320"/>
              <a:t>t</a:t>
            </a:r>
            <a:r>
              <a:rPr b="0" dirty="0" sz="1850" spc="20">
                <a:solidFill>
                  <a:srgbClr val="000000"/>
                </a:solidFill>
                <a:latin typeface="Lucida Sans Unicode"/>
                <a:cs typeface="Lucida Sans Unicode"/>
              </a:rPr>
              <a:t>t</a:t>
            </a:r>
            <a:r>
              <a:rPr b="0" dirty="0" sz="1850" spc="-835">
                <a:solidFill>
                  <a:srgbClr val="000000"/>
                </a:solidFill>
                <a:latin typeface="Lucida Sans Unicode"/>
                <a:cs typeface="Lucida Sans Unicode"/>
              </a:rPr>
              <a:t>h</a:t>
            </a:r>
            <a:r>
              <a:rPr baseline="6775" dirty="0" sz="6150" spc="-757"/>
              <a:t>i</a:t>
            </a:r>
            <a:r>
              <a:rPr b="0" dirty="0" sz="1850" spc="-380">
                <a:solidFill>
                  <a:srgbClr val="000000"/>
                </a:solidFill>
                <a:latin typeface="Lucida Sans Unicode"/>
                <a:cs typeface="Lucida Sans Unicode"/>
              </a:rPr>
              <a:t>e</a:t>
            </a:r>
            <a:r>
              <a:rPr baseline="6775" dirty="0" sz="6150" spc="-2227"/>
              <a:t>o</a:t>
            </a:r>
            <a:r>
              <a:rPr b="0" dirty="0" sz="1850" spc="15">
                <a:solidFill>
                  <a:srgbClr val="000000"/>
                </a:solidFill>
                <a:latin typeface="Lucida Sans Unicode"/>
                <a:cs typeface="Lucida Sans Unicode"/>
              </a:rPr>
              <a:t>in</a:t>
            </a:r>
            <a:r>
              <a:rPr b="0" dirty="0" sz="1850" spc="-565">
                <a:solidFill>
                  <a:srgbClr val="000000"/>
                </a:solidFill>
                <a:latin typeface="Lucida Sans Unicode"/>
                <a:cs typeface="Lucida Sans Unicode"/>
              </a:rPr>
              <a:t>f</a:t>
            </a:r>
            <a:r>
              <a:rPr baseline="6775" dirty="0" sz="6150" spc="-2865"/>
              <a:t>n</a:t>
            </a:r>
            <a:r>
              <a:rPr b="0" dirty="0" sz="1850" spc="15">
                <a:solidFill>
                  <a:srgbClr val="000000"/>
                </a:solidFill>
                <a:latin typeface="Lucida Sans Unicode"/>
                <a:cs typeface="Lucida Sans Unicode"/>
              </a:rPr>
              <a:t>or</a:t>
            </a:r>
            <a:r>
              <a:rPr b="0" dirty="0" sz="1850" spc="20">
                <a:solidFill>
                  <a:srgbClr val="000000"/>
                </a:solidFill>
                <a:latin typeface="Lucida Sans Unicode"/>
                <a:cs typeface="Lucida Sans Unicode"/>
              </a:rPr>
              <a:t>m</a:t>
            </a:r>
            <a:r>
              <a:rPr b="0" dirty="0" sz="1850" spc="15">
                <a:solidFill>
                  <a:srgbClr val="000000"/>
                </a:solidFill>
                <a:latin typeface="Lucida Sans Unicode"/>
                <a:cs typeface="Lucida Sans Unicode"/>
              </a:rPr>
              <a:t>atio</a:t>
            </a:r>
            <a:r>
              <a:rPr b="0" dirty="0" sz="1850" spc="25">
                <a:solidFill>
                  <a:srgbClr val="000000"/>
                </a:solidFill>
                <a:latin typeface="Lucida Sans Unicode"/>
                <a:cs typeface="Lucida Sans Unicode"/>
              </a:rPr>
              <a:t>n</a:t>
            </a:r>
            <a:r>
              <a:rPr b="0" dirty="0" sz="1850" spc="1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b="0" dirty="0" sz="1850">
                <a:solidFill>
                  <a:srgbClr val="000000"/>
                </a:solidFill>
                <a:latin typeface="Lucida Sans Unicode"/>
                <a:cs typeface="Lucida Sans Unicode"/>
              </a:rPr>
              <a:t>domain</a:t>
            </a:r>
            <a:r>
              <a:rPr b="0" dirty="0" sz="1850" spc="1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b="0" dirty="0" sz="1850" spc="-10">
                <a:solidFill>
                  <a:srgbClr val="000000"/>
                </a:solidFill>
                <a:latin typeface="Lucida Sans Unicode"/>
                <a:cs typeface="Lucida Sans Unicode"/>
              </a:rPr>
              <a:t>values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1048688" name="object 9" descr=""/>
          <p:cNvSpPr txBox="1"/>
          <p:nvPr/>
        </p:nvSpPr>
        <p:spPr>
          <a:xfrm>
            <a:off x="914399" y="3337915"/>
            <a:ext cx="178435" cy="191135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25">
                <a:solidFill>
                  <a:srgbClr val="2DA2BE"/>
                </a:solidFill>
                <a:latin typeface="Lucida Sans Unicode"/>
                <a:cs typeface="Lucida Sans Unicode"/>
              </a:rPr>
              <a:t>4)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048689" name="object 10" descr=""/>
          <p:cNvSpPr txBox="1"/>
          <p:nvPr/>
        </p:nvSpPr>
        <p:spPr>
          <a:xfrm>
            <a:off x="4771085" y="4054855"/>
            <a:ext cx="1732280" cy="29972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z="1800">
                <a:latin typeface="Times New Roman"/>
                <a:cs typeface="Times New Roman"/>
              </a:rPr>
              <a:t>Weighting</a:t>
            </a:r>
            <a:r>
              <a:rPr b="1" dirty="0" sz="1800" spc="-100">
                <a:latin typeface="Times New Roman"/>
                <a:cs typeface="Times New Roman"/>
              </a:rPr>
              <a:t> </a:t>
            </a:r>
            <a:r>
              <a:rPr b="1" dirty="0" sz="1800" spc="-10">
                <a:latin typeface="Times New Roman"/>
                <a:cs typeface="Times New Roman"/>
              </a:rPr>
              <a:t>Factor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48690" name="object 11" descr=""/>
          <p:cNvSpPr txBox="1"/>
          <p:nvPr/>
        </p:nvSpPr>
        <p:spPr>
          <a:xfrm>
            <a:off x="1631950" y="4054855"/>
            <a:ext cx="1990725" cy="1879599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dirty="0" sz="1800" spc="-10">
                <a:latin typeface="Times New Roman"/>
                <a:cs typeface="Times New Roman"/>
              </a:rPr>
              <a:t>Information </a:t>
            </a:r>
            <a:r>
              <a:rPr b="1" dirty="0" sz="1800" u="heavy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Domain</a:t>
            </a:r>
            <a:r>
              <a:rPr b="1" dirty="0" sz="1800" spc="-114" u="heavy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dirty="0" sz="1800" spc="-10" u="heavy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Value</a:t>
            </a:r>
            <a:r>
              <a:rPr b="1"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External</a:t>
            </a:r>
            <a:r>
              <a:rPr dirty="0" sz="1800" spc="-10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Inputs </a:t>
            </a:r>
            <a:r>
              <a:rPr dirty="0" sz="1800">
                <a:latin typeface="Times New Roman"/>
                <a:cs typeface="Times New Roman"/>
              </a:rPr>
              <a:t>External</a:t>
            </a:r>
            <a:r>
              <a:rPr dirty="0" sz="1800" spc="-10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Outputs </a:t>
            </a:r>
            <a:r>
              <a:rPr dirty="0" sz="1800">
                <a:latin typeface="Times New Roman"/>
                <a:cs typeface="Times New Roman"/>
              </a:rPr>
              <a:t>External</a:t>
            </a:r>
            <a:r>
              <a:rPr dirty="0" sz="1800" spc="-10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Inquiries </a:t>
            </a:r>
            <a:r>
              <a:rPr dirty="0" sz="1800">
                <a:latin typeface="Times New Roman"/>
                <a:cs typeface="Times New Roman"/>
              </a:rPr>
              <a:t>Internal</a:t>
            </a:r>
            <a:r>
              <a:rPr dirty="0" sz="1800" spc="-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Logical</a:t>
            </a:r>
            <a:r>
              <a:rPr dirty="0" sz="1800" spc="-9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Files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48691" name="object 12" descr=""/>
          <p:cNvSpPr txBox="1"/>
          <p:nvPr/>
        </p:nvSpPr>
        <p:spPr>
          <a:xfrm>
            <a:off x="6432550" y="5426455"/>
            <a:ext cx="1523365" cy="29972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  <a:tabLst>
                <a:tab algn="l" pos="697865"/>
                <a:tab algn="l" pos="1510030"/>
              </a:tabLst>
            </a:pPr>
            <a:r>
              <a:rPr dirty="0" sz="1800" spc="-25">
                <a:latin typeface="Times New Roman"/>
                <a:cs typeface="Times New Roman"/>
              </a:rPr>
              <a:t>15</a:t>
            </a:r>
            <a:r>
              <a:rPr dirty="0" sz="1800">
                <a:latin typeface="Times New Roman"/>
                <a:cs typeface="Times New Roman"/>
              </a:rPr>
              <a:t>	= </a:t>
            </a:r>
            <a:r>
              <a:rPr dirty="0" sz="1800" u="sng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48692" name="object 13" descr=""/>
          <p:cNvSpPr txBox="1"/>
          <p:nvPr/>
        </p:nvSpPr>
        <p:spPr>
          <a:xfrm>
            <a:off x="3917950" y="4329176"/>
            <a:ext cx="3644900" cy="1879599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  <a:tabLst>
                <a:tab algn="l" pos="926465"/>
                <a:tab algn="l" pos="1840864"/>
              </a:tabLst>
            </a:pPr>
            <a:r>
              <a:rPr b="1" dirty="0" sz="1800" spc="-10" u="heavy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Count</a:t>
            </a:r>
            <a:r>
              <a:rPr b="1" dirty="0" sz="1800">
                <a:latin typeface="Times New Roman"/>
                <a:cs typeface="Times New Roman"/>
              </a:rPr>
              <a:t>	</a:t>
            </a:r>
            <a:r>
              <a:rPr b="1" dirty="0" sz="1800" spc="-10" u="heavy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Simple</a:t>
            </a:r>
            <a:r>
              <a:rPr b="1" dirty="0" sz="1800">
                <a:latin typeface="Times New Roman"/>
                <a:cs typeface="Times New Roman"/>
              </a:rPr>
              <a:t>	A</a:t>
            </a:r>
            <a:r>
              <a:rPr b="1" dirty="0" sz="1800" u="heavy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verage</a:t>
            </a:r>
            <a:r>
              <a:rPr b="1" dirty="0" sz="1800" spc="280">
                <a:latin typeface="Times New Roman"/>
                <a:cs typeface="Times New Roman"/>
              </a:rPr>
              <a:t> </a:t>
            </a:r>
            <a:r>
              <a:rPr b="1" dirty="0" sz="1800" spc="-10" u="heavy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Complex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algn="l" pos="638810"/>
                <a:tab algn="l" pos="1212215"/>
                <a:tab algn="l" pos="1669414"/>
                <a:tab algn="l" pos="2126615"/>
                <a:tab algn="l" pos="3110230"/>
              </a:tabLst>
            </a:pPr>
            <a:r>
              <a:rPr dirty="0" sz="1800" u="sng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 x	</a:t>
            </a:r>
            <a:r>
              <a:rPr dirty="0" sz="1800" spc="-50">
                <a:latin typeface="Times New Roman"/>
                <a:cs typeface="Times New Roman"/>
              </a:rPr>
              <a:t>3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50">
                <a:latin typeface="Times New Roman"/>
                <a:cs typeface="Times New Roman"/>
              </a:rPr>
              <a:t>4</a:t>
            </a:r>
            <a:r>
              <a:rPr dirty="0" sz="1800">
                <a:latin typeface="Times New Roman"/>
                <a:cs typeface="Times New Roman"/>
              </a:rPr>
              <a:t>	6 = </a:t>
            </a:r>
            <a:r>
              <a:rPr dirty="0" sz="1800" u="sng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algn="l" pos="638810"/>
                <a:tab algn="l" pos="1212215"/>
                <a:tab algn="l" pos="1669414"/>
                <a:tab algn="l" pos="2126615"/>
                <a:tab algn="l" pos="3110230"/>
              </a:tabLst>
            </a:pPr>
            <a:r>
              <a:rPr dirty="0" sz="1800" u="sng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 x	</a:t>
            </a:r>
            <a:r>
              <a:rPr dirty="0" sz="1800" spc="-50">
                <a:latin typeface="Times New Roman"/>
                <a:cs typeface="Times New Roman"/>
              </a:rPr>
              <a:t>4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50">
                <a:latin typeface="Times New Roman"/>
                <a:cs typeface="Times New Roman"/>
              </a:rPr>
              <a:t>5</a:t>
            </a:r>
            <a:r>
              <a:rPr dirty="0" sz="1800">
                <a:latin typeface="Times New Roman"/>
                <a:cs typeface="Times New Roman"/>
              </a:rPr>
              <a:t>	7 = </a:t>
            </a:r>
            <a:r>
              <a:rPr dirty="0" sz="1800" u="sng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algn="l" pos="638810"/>
                <a:tab algn="l" pos="1212215"/>
                <a:tab algn="l" pos="1669414"/>
                <a:tab algn="l" pos="2126615"/>
                <a:tab algn="l" pos="3110230"/>
              </a:tabLst>
            </a:pPr>
            <a:r>
              <a:rPr dirty="0" sz="1800" u="sng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 x	</a:t>
            </a:r>
            <a:r>
              <a:rPr dirty="0" sz="1800" spc="-50">
                <a:latin typeface="Times New Roman"/>
                <a:cs typeface="Times New Roman"/>
              </a:rPr>
              <a:t>3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50">
                <a:latin typeface="Times New Roman"/>
                <a:cs typeface="Times New Roman"/>
              </a:rPr>
              <a:t>4</a:t>
            </a:r>
            <a:r>
              <a:rPr dirty="0" sz="1800">
                <a:latin typeface="Times New Roman"/>
                <a:cs typeface="Times New Roman"/>
              </a:rPr>
              <a:t>	6 = </a:t>
            </a:r>
            <a:r>
              <a:rPr dirty="0" sz="1800" u="sng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algn="l" pos="638810"/>
                <a:tab algn="l" pos="1212215"/>
                <a:tab algn="l" pos="1669414"/>
              </a:tabLst>
            </a:pPr>
            <a:r>
              <a:rPr dirty="0" sz="1800" u="sng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 x	</a:t>
            </a:r>
            <a:r>
              <a:rPr dirty="0" sz="1800" spc="-50">
                <a:latin typeface="Times New Roman"/>
                <a:cs typeface="Times New Roman"/>
              </a:rPr>
              <a:t>7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25">
                <a:latin typeface="Times New Roman"/>
                <a:cs typeface="Times New Roman"/>
              </a:rPr>
              <a:t>10</a:t>
            </a:r>
            <a:endParaRPr sz="1800">
              <a:latin typeface="Times New Roman"/>
              <a:cs typeface="Times New Roman"/>
            </a:endParaRPr>
          </a:p>
          <a:p>
            <a:pPr marL="1212850">
              <a:lnSpc>
                <a:spcPct val="100000"/>
              </a:lnSpc>
              <a:tabLst>
                <a:tab algn="l" pos="1669414"/>
                <a:tab algn="l" pos="2069464"/>
              </a:tabLst>
            </a:pPr>
            <a:r>
              <a:rPr dirty="0" sz="1800" spc="-50">
                <a:latin typeface="Times New Roman"/>
                <a:cs typeface="Times New Roman"/>
              </a:rPr>
              <a:t>5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50">
                <a:latin typeface="Times New Roman"/>
                <a:cs typeface="Times New Roman"/>
              </a:rPr>
              <a:t>7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25">
                <a:latin typeface="Times New Roman"/>
                <a:cs typeface="Times New Roman"/>
              </a:rPr>
              <a:t>10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48693" name="object 14" descr=""/>
          <p:cNvSpPr txBox="1"/>
          <p:nvPr/>
        </p:nvSpPr>
        <p:spPr>
          <a:xfrm>
            <a:off x="6661150" y="5700776"/>
            <a:ext cx="837565" cy="29972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  <a:tabLst>
                <a:tab algn="l" pos="824230"/>
              </a:tabLst>
            </a:pPr>
            <a:r>
              <a:rPr dirty="0" sz="1800">
                <a:latin typeface="Times New Roman"/>
                <a:cs typeface="Times New Roman"/>
              </a:rPr>
              <a:t>= </a:t>
            </a:r>
            <a:r>
              <a:rPr dirty="0" sz="1800" u="sng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48694" name="object 15" descr=""/>
          <p:cNvSpPr txBox="1"/>
          <p:nvPr/>
        </p:nvSpPr>
        <p:spPr>
          <a:xfrm>
            <a:off x="1631950" y="5700776"/>
            <a:ext cx="3111500" cy="8128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  <a:tabLst>
                <a:tab algn="l" pos="2298065"/>
                <a:tab algn="l" pos="2924810"/>
              </a:tabLst>
            </a:pPr>
            <a:r>
              <a:rPr dirty="0" sz="1800">
                <a:latin typeface="Times New Roman"/>
                <a:cs typeface="Times New Roman"/>
              </a:rPr>
              <a:t>External</a:t>
            </a:r>
            <a:r>
              <a:rPr dirty="0" sz="1800" spc="-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Interface</a:t>
            </a:r>
            <a:r>
              <a:rPr dirty="0" sz="1800" spc="-10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Files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u="sng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800" spc="-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x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b="1" dirty="0" sz="1800">
                <a:latin typeface="Times New Roman"/>
                <a:cs typeface="Times New Roman"/>
              </a:rPr>
              <a:t>Count </a:t>
            </a:r>
            <a:r>
              <a:rPr b="1" dirty="0" sz="1800" spc="-10">
                <a:latin typeface="Times New Roman"/>
                <a:cs typeface="Times New Roman"/>
              </a:rPr>
              <a:t>total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48695" name="object 16" descr=""/>
          <p:cNvSpPr/>
          <p:nvPr/>
        </p:nvSpPr>
        <p:spPr>
          <a:xfrm>
            <a:off x="5302250" y="6261201"/>
            <a:ext cx="914400" cy="0"/>
          </a:xfrm>
          <a:custGeom>
            <a:avLst/>
            <a:ahLst/>
            <a:rect l="l" t="t" r="r" b="b"/>
            <a:pathLst>
              <a:path w="914400" h="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bIns="0" lIns="0" rIns="0" rtlCol="0" tIns="0" wrap="square"/>
          <a:p/>
        </p:txBody>
      </p:sp>
      <p:sp>
        <p:nvSpPr>
          <p:cNvPr id="1048696" name="object 17" descr="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0" vert="horz" wrap="square">
            <a:spAutoFit/>
          </a:bodyPr>
          <a:p>
            <a:pPr marL="38100">
              <a:lnSpc>
                <a:spcPts val="1630"/>
              </a:lnSpc>
            </a:pPr>
            <a:fld id="{81D60167-4931-47E6-BA6A-407CBD079E47}" type="slidenum">
              <a:rPr dirty="0" sz="1400" spc="-25">
                <a:latin typeface="Times New Roman"/>
                <a:cs typeface="Times New Roman"/>
              </a:rPr>
              <a:t>18</a:t>
            </a:fld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object 2" descr=""/>
          <p:cNvSpPr txBox="1"/>
          <p:nvPr/>
        </p:nvSpPr>
        <p:spPr>
          <a:xfrm>
            <a:off x="746263" y="4204208"/>
            <a:ext cx="6388100" cy="1181101"/>
          </a:xfrm>
          <a:prstGeom prst="rect"/>
        </p:spPr>
        <p:txBody>
          <a:bodyPr bIns="0" lIns="0" rIns="0" rtlCol="0" tIns="12700" vert="horz" wrap="square">
            <a:spAutoFit/>
          </a:bodyPr>
          <a:p>
            <a:pPr indent="-276860" marL="314325" marR="30480">
              <a:lnSpc>
                <a:spcPct val="100000"/>
              </a:lnSpc>
              <a:spcBef>
                <a:spcPts val="100"/>
              </a:spcBef>
              <a:buClr>
                <a:srgbClr val="2DA2BE"/>
              </a:buClr>
              <a:buSzPct val="66666"/>
              <a:buFont typeface="Lucida Sans Unicode"/>
              <a:buChar char="□"/>
              <a:tabLst>
                <a:tab algn="l" pos="314325"/>
              </a:tabLst>
            </a:pPr>
            <a:r>
              <a:rPr dirty="0" sz="2400">
                <a:latin typeface="Courier New"/>
                <a:cs typeface="Courier New"/>
              </a:rPr>
              <a:t>FP</a:t>
            </a:r>
            <a:r>
              <a:rPr dirty="0" sz="2400" spc="-25">
                <a:latin typeface="Courier New"/>
                <a:cs typeface="Courier New"/>
              </a:rPr>
              <a:t> </a:t>
            </a:r>
            <a:r>
              <a:rPr dirty="0" sz="2400">
                <a:latin typeface="Courier New"/>
                <a:cs typeface="Courier New"/>
              </a:rPr>
              <a:t>=</a:t>
            </a:r>
            <a:r>
              <a:rPr dirty="0" sz="2400" spc="-15">
                <a:latin typeface="Courier New"/>
                <a:cs typeface="Courier New"/>
              </a:rPr>
              <a:t> </a:t>
            </a:r>
            <a:r>
              <a:rPr dirty="0" sz="2400">
                <a:latin typeface="Courier New"/>
                <a:cs typeface="Courier New"/>
              </a:rPr>
              <a:t>count</a:t>
            </a:r>
            <a:r>
              <a:rPr dirty="0" sz="2400" spc="-15">
                <a:latin typeface="Courier New"/>
                <a:cs typeface="Courier New"/>
              </a:rPr>
              <a:t> </a:t>
            </a:r>
            <a:r>
              <a:rPr dirty="0" sz="2400">
                <a:latin typeface="Courier New"/>
                <a:cs typeface="Courier New"/>
              </a:rPr>
              <a:t>total</a:t>
            </a:r>
            <a:r>
              <a:rPr dirty="0" sz="2400" spc="-15">
                <a:latin typeface="Courier New"/>
                <a:cs typeface="Courier New"/>
              </a:rPr>
              <a:t> </a:t>
            </a:r>
            <a:r>
              <a:rPr dirty="0" sz="2400">
                <a:latin typeface="Courier New"/>
                <a:cs typeface="Courier New"/>
              </a:rPr>
              <a:t>*</a:t>
            </a:r>
            <a:r>
              <a:rPr dirty="0" sz="2400" spc="-15">
                <a:latin typeface="Courier New"/>
                <a:cs typeface="Courier New"/>
              </a:rPr>
              <a:t> </a:t>
            </a:r>
            <a:r>
              <a:rPr dirty="0" sz="2400">
                <a:latin typeface="Courier New"/>
                <a:cs typeface="Courier New"/>
              </a:rPr>
              <a:t>[0.65</a:t>
            </a:r>
            <a:r>
              <a:rPr dirty="0" sz="2400" spc="-15">
                <a:latin typeface="Courier New"/>
                <a:cs typeface="Courier New"/>
              </a:rPr>
              <a:t> </a:t>
            </a:r>
            <a:r>
              <a:rPr dirty="0" sz="2400">
                <a:latin typeface="Courier New"/>
                <a:cs typeface="Courier New"/>
              </a:rPr>
              <a:t>+</a:t>
            </a:r>
            <a:r>
              <a:rPr dirty="0" sz="2400" spc="-15">
                <a:latin typeface="Courier New"/>
                <a:cs typeface="Courier New"/>
              </a:rPr>
              <a:t> </a:t>
            </a:r>
            <a:r>
              <a:rPr dirty="0" sz="2400">
                <a:latin typeface="Courier New"/>
                <a:cs typeface="Courier New"/>
              </a:rPr>
              <a:t>0.01</a:t>
            </a:r>
            <a:r>
              <a:rPr dirty="0" sz="2400" spc="-15">
                <a:latin typeface="Courier New"/>
                <a:cs typeface="Courier New"/>
              </a:rPr>
              <a:t> </a:t>
            </a:r>
            <a:r>
              <a:rPr dirty="0" sz="2400" spc="-50">
                <a:latin typeface="Courier New"/>
                <a:cs typeface="Courier New"/>
              </a:rPr>
              <a:t>* </a:t>
            </a:r>
            <a:r>
              <a:rPr dirty="0" sz="2400" spc="-10">
                <a:latin typeface="Courier New"/>
                <a:cs typeface="Courier New"/>
              </a:rPr>
              <a:t>sum(F</a:t>
            </a:r>
            <a:r>
              <a:rPr baseline="-31250" dirty="0" sz="2400" spc="-15">
                <a:latin typeface="Courier New"/>
                <a:cs typeface="Courier New"/>
              </a:rPr>
              <a:t>i</a:t>
            </a:r>
            <a:r>
              <a:rPr dirty="0" sz="2400" spc="-10">
                <a:latin typeface="Courier New"/>
                <a:cs typeface="Courier New"/>
              </a:rPr>
              <a:t>)]</a:t>
            </a:r>
            <a:endParaRPr sz="2400">
              <a:latin typeface="Courier New"/>
              <a:cs typeface="Courier New"/>
            </a:endParaRPr>
          </a:p>
          <a:p>
            <a:pPr indent="-276225" marL="314325">
              <a:lnSpc>
                <a:spcPct val="100000"/>
              </a:lnSpc>
              <a:spcBef>
                <a:spcPts val="400"/>
              </a:spcBef>
              <a:buClr>
                <a:srgbClr val="2DA2BE"/>
              </a:buClr>
              <a:buSzPct val="66666"/>
              <a:buFont typeface="Lucida Sans Unicode"/>
              <a:buChar char="□"/>
              <a:tabLst>
                <a:tab algn="l" pos="314325"/>
              </a:tabLst>
            </a:pPr>
            <a:r>
              <a:rPr dirty="0" sz="2400">
                <a:latin typeface="Courier New"/>
                <a:cs typeface="Courier New"/>
              </a:rPr>
              <a:t>FP</a:t>
            </a:r>
            <a:r>
              <a:rPr dirty="0" sz="2400" spc="-15">
                <a:latin typeface="Courier New"/>
                <a:cs typeface="Courier New"/>
              </a:rPr>
              <a:t> </a:t>
            </a:r>
            <a:r>
              <a:rPr dirty="0" sz="2400">
                <a:latin typeface="Courier New"/>
                <a:cs typeface="Courier New"/>
              </a:rPr>
              <a:t>=</a:t>
            </a:r>
            <a:r>
              <a:rPr dirty="0" sz="2400" spc="-10">
                <a:latin typeface="Courier New"/>
                <a:cs typeface="Courier New"/>
              </a:rPr>
              <a:t> </a:t>
            </a:r>
            <a:r>
              <a:rPr dirty="0" sz="2400">
                <a:latin typeface="Courier New"/>
                <a:cs typeface="Courier New"/>
              </a:rPr>
              <a:t>50</a:t>
            </a:r>
            <a:r>
              <a:rPr dirty="0" sz="2400" spc="-10">
                <a:latin typeface="Courier New"/>
                <a:cs typeface="Courier New"/>
              </a:rPr>
              <a:t> </a:t>
            </a:r>
            <a:r>
              <a:rPr dirty="0" sz="2400">
                <a:latin typeface="Courier New"/>
                <a:cs typeface="Courier New"/>
              </a:rPr>
              <a:t>*</a:t>
            </a:r>
            <a:r>
              <a:rPr dirty="0" sz="2400" spc="-10">
                <a:latin typeface="Courier New"/>
                <a:cs typeface="Courier New"/>
              </a:rPr>
              <a:t> </a:t>
            </a:r>
            <a:r>
              <a:rPr dirty="0" sz="2400">
                <a:latin typeface="Courier New"/>
                <a:cs typeface="Courier New"/>
              </a:rPr>
              <a:t>[0.65</a:t>
            </a:r>
            <a:r>
              <a:rPr dirty="0" sz="2400" spc="-15">
                <a:latin typeface="Courier New"/>
                <a:cs typeface="Courier New"/>
              </a:rPr>
              <a:t> </a:t>
            </a:r>
            <a:r>
              <a:rPr dirty="0" sz="2400">
                <a:latin typeface="Courier New"/>
                <a:cs typeface="Courier New"/>
              </a:rPr>
              <a:t>+</a:t>
            </a:r>
            <a:r>
              <a:rPr dirty="0" sz="2400" spc="-10">
                <a:latin typeface="Courier New"/>
                <a:cs typeface="Courier New"/>
              </a:rPr>
              <a:t> </a:t>
            </a:r>
            <a:r>
              <a:rPr dirty="0" sz="2400">
                <a:latin typeface="Courier New"/>
                <a:cs typeface="Courier New"/>
              </a:rPr>
              <a:t>(0.01</a:t>
            </a:r>
            <a:r>
              <a:rPr dirty="0" sz="2400" spc="-10">
                <a:latin typeface="Courier New"/>
                <a:cs typeface="Courier New"/>
              </a:rPr>
              <a:t> </a:t>
            </a:r>
            <a:r>
              <a:rPr dirty="0" sz="2400">
                <a:latin typeface="Courier New"/>
                <a:cs typeface="Courier New"/>
              </a:rPr>
              <a:t>*</a:t>
            </a:r>
            <a:r>
              <a:rPr dirty="0" sz="2400" spc="-10">
                <a:latin typeface="Courier New"/>
                <a:cs typeface="Courier New"/>
              </a:rPr>
              <a:t> </a:t>
            </a:r>
            <a:r>
              <a:rPr dirty="0" sz="2400" spc="-20">
                <a:latin typeface="Courier New"/>
                <a:cs typeface="Courier New"/>
              </a:rPr>
              <a:t>46)]</a:t>
            </a:r>
            <a:endParaRPr sz="2400">
              <a:latin typeface="Courier New"/>
              <a:cs typeface="Courier New"/>
            </a:endParaRPr>
          </a:p>
          <a:p>
            <a:pPr indent="-276225" marL="314325">
              <a:lnSpc>
                <a:spcPct val="100000"/>
              </a:lnSpc>
              <a:spcBef>
                <a:spcPts val="400"/>
              </a:spcBef>
              <a:buClr>
                <a:srgbClr val="2DA2BE"/>
              </a:buClr>
              <a:buSzPct val="66666"/>
              <a:buFont typeface="Lucida Sans Unicode"/>
              <a:buChar char="□"/>
              <a:tabLst>
                <a:tab algn="l" pos="314325"/>
              </a:tabLst>
            </a:pPr>
            <a:r>
              <a:rPr dirty="0" sz="2400">
                <a:latin typeface="Courier New"/>
                <a:cs typeface="Courier New"/>
              </a:rPr>
              <a:t>FP</a:t>
            </a:r>
            <a:r>
              <a:rPr dirty="0" sz="2400" spc="-30">
                <a:latin typeface="Courier New"/>
                <a:cs typeface="Courier New"/>
              </a:rPr>
              <a:t> </a:t>
            </a:r>
            <a:r>
              <a:rPr dirty="0" sz="2400">
                <a:latin typeface="Courier New"/>
                <a:cs typeface="Courier New"/>
              </a:rPr>
              <a:t>=</a:t>
            </a:r>
            <a:r>
              <a:rPr dirty="0" sz="2400" spc="-15">
                <a:latin typeface="Courier New"/>
                <a:cs typeface="Courier New"/>
              </a:rPr>
              <a:t> </a:t>
            </a:r>
            <a:r>
              <a:rPr dirty="0" sz="2400">
                <a:latin typeface="Courier New"/>
                <a:cs typeface="Courier New"/>
              </a:rPr>
              <a:t>55.5</a:t>
            </a:r>
            <a:r>
              <a:rPr dirty="0" sz="2400" spc="-15">
                <a:latin typeface="Courier New"/>
                <a:cs typeface="Courier New"/>
              </a:rPr>
              <a:t> </a:t>
            </a:r>
            <a:r>
              <a:rPr dirty="0" sz="2400">
                <a:latin typeface="Courier New"/>
                <a:cs typeface="Courier New"/>
              </a:rPr>
              <a:t>(rounded</a:t>
            </a:r>
            <a:r>
              <a:rPr dirty="0" sz="2400" spc="-15">
                <a:latin typeface="Courier New"/>
                <a:cs typeface="Courier New"/>
              </a:rPr>
              <a:t> </a:t>
            </a:r>
            <a:r>
              <a:rPr dirty="0" sz="2400">
                <a:latin typeface="Courier New"/>
                <a:cs typeface="Courier New"/>
              </a:rPr>
              <a:t>up</a:t>
            </a:r>
            <a:r>
              <a:rPr dirty="0" sz="2400" spc="-15">
                <a:latin typeface="Courier New"/>
                <a:cs typeface="Courier New"/>
              </a:rPr>
              <a:t> </a:t>
            </a:r>
            <a:r>
              <a:rPr dirty="0" sz="2400">
                <a:latin typeface="Courier New"/>
                <a:cs typeface="Courier New"/>
              </a:rPr>
              <a:t>to</a:t>
            </a:r>
            <a:r>
              <a:rPr dirty="0" sz="2400" spc="-15">
                <a:latin typeface="Courier New"/>
                <a:cs typeface="Courier New"/>
              </a:rPr>
              <a:t> </a:t>
            </a:r>
            <a:r>
              <a:rPr dirty="0" sz="2400" spc="-25">
                <a:latin typeface="Courier New"/>
                <a:cs typeface="Courier New"/>
              </a:rPr>
              <a:t>56)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48698" name="object 3"/>
          <p:cNvSpPr txBox="1">
            <a:spLocks noGrp="1"/>
          </p:cNvSpPr>
          <p:nvPr>
            <p:ph type="title"/>
          </p:nvPr>
        </p:nvSpPr>
        <p:spPr>
          <a:xfrm>
            <a:off x="758825" y="225552"/>
            <a:ext cx="6599555" cy="622301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70"/>
              <a:t>Function</a:t>
            </a:r>
            <a:r>
              <a:rPr dirty="0" spc="-5"/>
              <a:t> </a:t>
            </a:r>
            <a:r>
              <a:rPr dirty="0" spc="295"/>
              <a:t>Point</a:t>
            </a:r>
            <a:r>
              <a:rPr dirty="0" spc="-5"/>
              <a:t> </a:t>
            </a:r>
            <a:r>
              <a:rPr dirty="0" spc="285"/>
              <a:t>Example</a:t>
            </a:r>
          </a:p>
        </p:txBody>
      </p:sp>
      <p:grpSp>
        <p:nvGrpSpPr>
          <p:cNvPr id="88" name="object 4" descr=""/>
          <p:cNvGrpSpPr/>
          <p:nvPr/>
        </p:nvGrpSpPr>
        <p:grpSpPr>
          <a:xfrm>
            <a:off x="757237" y="1366837"/>
            <a:ext cx="7705725" cy="2308225"/>
            <a:chOff x="757237" y="1366837"/>
            <a:chExt cx="7705725" cy="2308225"/>
          </a:xfrm>
        </p:grpSpPr>
        <p:sp>
          <p:nvSpPr>
            <p:cNvPr id="1048699" name="object 5" descr=""/>
            <p:cNvSpPr/>
            <p:nvPr/>
          </p:nvSpPr>
          <p:spPr>
            <a:xfrm>
              <a:off x="4495800" y="1981200"/>
              <a:ext cx="685800" cy="1447800"/>
            </a:xfrm>
            <a:custGeom>
              <a:avLst/>
              <a:ahLst/>
              <a:rect l="l" t="t" r="r" b="b"/>
              <a:pathLst>
                <a:path w="685800" h="1447800">
                  <a:moveTo>
                    <a:pt x="0" y="0"/>
                  </a:moveTo>
                  <a:lnTo>
                    <a:pt x="685799" y="0"/>
                  </a:lnTo>
                  <a:lnTo>
                    <a:pt x="685799" y="1447799"/>
                  </a:lnTo>
                  <a:lnTo>
                    <a:pt x="0" y="1447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  <a:prstDash val="lgDash"/>
            </a:ln>
          </p:spPr>
          <p:txBody>
            <a:bodyPr bIns="0" lIns="0" rIns="0" rtlCol="0" tIns="0" wrap="square"/>
            <a:p/>
          </p:txBody>
        </p:sp>
        <p:sp>
          <p:nvSpPr>
            <p:cNvPr id="1048700" name="object 6" descr=""/>
            <p:cNvSpPr/>
            <p:nvPr/>
          </p:nvSpPr>
          <p:spPr>
            <a:xfrm>
              <a:off x="762000" y="1371600"/>
              <a:ext cx="7696200" cy="2298700"/>
            </a:xfrm>
            <a:custGeom>
              <a:avLst/>
              <a:ahLst/>
              <a:rect l="l" t="t" r="r" b="b"/>
              <a:pathLst>
                <a:path w="7696200" h="2298700">
                  <a:moveTo>
                    <a:pt x="0" y="0"/>
                  </a:moveTo>
                  <a:lnTo>
                    <a:pt x="7696199" y="0"/>
                  </a:lnTo>
                  <a:lnTo>
                    <a:pt x="7696199" y="2298699"/>
                  </a:lnTo>
                  <a:lnTo>
                    <a:pt x="0" y="2298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bIns="0" lIns="0" rIns="0" rtlCol="0" tIns="0" wrap="square"/>
            <a:p/>
          </p:txBody>
        </p:sp>
      </p:grpSp>
      <p:graphicFrame>
        <p:nvGraphicFramePr>
          <p:cNvPr id="4194309" name="object 7" descr=""/>
          <p:cNvGraphicFramePr>
            <a:graphicFrameLocks noGrp="1"/>
          </p:cNvGraphicFramePr>
          <p:nvPr/>
        </p:nvGraphicFramePr>
        <p:xfrm>
          <a:off x="762000" y="1371600"/>
          <a:ext cx="6099175" cy="2296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99335"/>
                <a:gridCol w="719455"/>
                <a:gridCol w="178435"/>
                <a:gridCol w="535305"/>
                <a:gridCol w="685800"/>
                <a:gridCol w="417195"/>
                <a:gridCol w="714375"/>
                <a:gridCol w="236220"/>
                <a:gridCol w="236854"/>
              </a:tblGrid>
              <a:tr h="601980">
                <a:tc>
                  <a:txBody>
                    <a:bodyPr/>
                    <a:p>
                      <a:pPr marL="85725" marR="8286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b="1" dirty="0" sz="1800" spc="-10">
                          <a:latin typeface="Times New Roman"/>
                          <a:cs typeface="Times New Roman"/>
                        </a:rPr>
                        <a:t>Information </a:t>
                      </a:r>
                      <a:r>
                        <a:rPr b="1" dirty="0" sz="1800" u="heavy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Domain</a:t>
                      </a:r>
                      <a:r>
                        <a:rPr b="1" dirty="0" sz="1800" spc="-114" u="heavy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b="1" dirty="0" sz="1800" spc="-35" u="heavy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Value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71755">
                        <a:lnSpc>
                          <a:spcPct val="100000"/>
                        </a:lnSpc>
                      </a:pPr>
                      <a:r>
                        <a:rPr b="1" dirty="0" sz="1800" spc="-10" u="heavy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Count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/>
                </a:tc>
                <a:tc gridSpan="7">
                  <a:txBody>
                    <a:bodyPr/>
                    <a:p>
                      <a:pPr marL="205104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b="1" dirty="0" sz="1800">
                          <a:latin typeface="Times New Roman"/>
                          <a:cs typeface="Times New Roman"/>
                        </a:rPr>
                        <a:t>Weighting</a:t>
                      </a:r>
                      <a:r>
                        <a:rPr b="1" dirty="0" sz="1800" spc="-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b="1" dirty="0" sz="1800" spc="-10">
                          <a:latin typeface="Times New Roman"/>
                          <a:cs typeface="Times New Roman"/>
                        </a:rPr>
                        <a:t>Factor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66065">
                        <a:lnSpc>
                          <a:spcPct val="100000"/>
                        </a:lnSpc>
                        <a:tabLst>
                          <a:tab algn="l" pos="1180465"/>
                        </a:tabLst>
                      </a:pPr>
                      <a:r>
                        <a:rPr b="1" dirty="0" sz="1800" spc="-10" u="heavy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Simple</a:t>
                      </a:r>
                      <a:r>
                        <a:rPr b="1" dirty="0" sz="1800">
                          <a:latin typeface="Times New Roman"/>
                          <a:cs typeface="Times New Roman"/>
                        </a:rPr>
                        <a:t>	A</a:t>
                      </a:r>
                      <a:r>
                        <a:rPr b="1" dirty="0" sz="1800" u="heavy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verage</a:t>
                      </a:r>
                      <a:r>
                        <a:rPr b="1" dirty="0" sz="1800" spc="2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b="1" dirty="0" sz="1800" spc="-10" u="heavy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Complex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/>
                </a:tc>
                <a:tc hMerge="1">
                  <a:txBody>
                    <a:bodyPr/>
                    <a:p/>
                  </a:txBody>
                  <a:tcPr marL="0" marR="0" marT="0" marB="0"/>
                </a:tc>
                <a:tc hMerge="1">
                  <a:txBody>
                    <a:bodyPr/>
                    <a:p/>
                  </a:txBody>
                  <a:tcPr marL="0" marR="0" marT="0" marB="0"/>
                </a:tc>
                <a:tc hMerge="1">
                  <a:txBody>
                    <a:bodyPr/>
                    <a:p/>
                  </a:txBody>
                  <a:tcPr marL="0" marR="0" marT="0" marB="0"/>
                </a:tc>
                <a:tc hMerge="1">
                  <a:txBody>
                    <a:bodyPr/>
                    <a:p/>
                  </a:txBody>
                  <a:tcPr marL="0" marR="0" marT="0" marB="0"/>
                </a:tc>
                <a:tc hMerge="1">
                  <a:txBody>
                    <a:bodyPr/>
                    <a:p/>
                  </a:txBody>
                  <a:tcPr marL="0" marR="0" marT="0" marB="0"/>
                </a:tc>
                <a:tc hMerge="1">
                  <a:txBody>
                    <a:bodyPr/>
                    <a:p/>
                  </a:txBody>
                  <a:tcPr marL="0" marR="0" marT="0" marB="0"/>
                </a:tc>
              </a:tr>
              <a:tr h="263525">
                <a:tc>
                  <a:txBody>
                    <a:bodyPr/>
                    <a:p>
                      <a:pPr marL="85725">
                        <a:lnSpc>
                          <a:spcPts val="1910"/>
                        </a:lnSpc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External</a:t>
                      </a:r>
                      <a:r>
                        <a:rPr dirty="0" sz="1800" spc="-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Inputs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marL="71755">
                        <a:lnSpc>
                          <a:spcPts val="1910"/>
                        </a:lnSpc>
                      </a:pP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algn="ctr" marL="11430">
                        <a:lnSpc>
                          <a:spcPts val="1910"/>
                        </a:lnSpc>
                      </a:pP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x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algn="r" marR="40640">
                        <a:lnSpc>
                          <a:spcPts val="1910"/>
                        </a:lnSpc>
                      </a:pP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algn="ctr" marL="19050">
                        <a:lnSpc>
                          <a:spcPts val="1910"/>
                        </a:lnSpc>
                      </a:pP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algn="r" marR="41910">
                        <a:lnSpc>
                          <a:spcPts val="1910"/>
                        </a:lnSpc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6 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=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marL="121285">
                        <a:lnSpc>
                          <a:spcPts val="1910"/>
                        </a:lnSpc>
                      </a:pP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74320">
                <a:tc>
                  <a:txBody>
                    <a:bodyPr/>
                    <a:p>
                      <a:pPr marL="85725">
                        <a:lnSpc>
                          <a:spcPts val="2045"/>
                        </a:lnSpc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External</a:t>
                      </a:r>
                      <a:r>
                        <a:rPr dirty="0" sz="1800" spc="-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Outputs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marL="71755">
                        <a:lnSpc>
                          <a:spcPts val="2045"/>
                        </a:lnSpc>
                      </a:pP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algn="ctr" marL="11430">
                        <a:lnSpc>
                          <a:spcPts val="2045"/>
                        </a:lnSpc>
                      </a:pP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x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algn="r" marR="40640">
                        <a:lnSpc>
                          <a:spcPts val="2045"/>
                        </a:lnSpc>
                      </a:pP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algn="ctr" marL="19050">
                        <a:lnSpc>
                          <a:spcPts val="2045"/>
                        </a:lnSpc>
                      </a:pP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algn="r" marR="41910">
                        <a:lnSpc>
                          <a:spcPts val="2045"/>
                        </a:lnSpc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7 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=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marL="121285">
                        <a:lnSpc>
                          <a:spcPts val="2045"/>
                        </a:lnSpc>
                      </a:pP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73685">
                <a:tc>
                  <a:txBody>
                    <a:bodyPr/>
                    <a:p>
                      <a:pPr marL="85725">
                        <a:lnSpc>
                          <a:spcPts val="2045"/>
                        </a:lnSpc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External</a:t>
                      </a:r>
                      <a:r>
                        <a:rPr dirty="0" sz="1800" spc="-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Inquiries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marL="71755">
                        <a:lnSpc>
                          <a:spcPts val="2045"/>
                        </a:lnSpc>
                      </a:pP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algn="ctr" marL="11430">
                        <a:lnSpc>
                          <a:spcPts val="2045"/>
                        </a:lnSpc>
                      </a:pP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x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algn="r" marR="40640">
                        <a:lnSpc>
                          <a:spcPts val="2045"/>
                        </a:lnSpc>
                      </a:pP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algn="ctr" marL="19050">
                        <a:lnSpc>
                          <a:spcPts val="2045"/>
                        </a:lnSpc>
                      </a:pP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algn="r" marR="41910">
                        <a:lnSpc>
                          <a:spcPts val="2045"/>
                        </a:lnSpc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6 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=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marL="121285">
                        <a:lnSpc>
                          <a:spcPts val="2045"/>
                        </a:lnSpc>
                      </a:pP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73685">
                <a:tc>
                  <a:txBody>
                    <a:bodyPr/>
                    <a:p>
                      <a:pPr marL="85725">
                        <a:lnSpc>
                          <a:spcPts val="2045"/>
                        </a:lnSpc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Internal</a:t>
                      </a:r>
                      <a:r>
                        <a:rPr dirty="0" sz="1800" spc="-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Logical</a:t>
                      </a:r>
                      <a:r>
                        <a:rPr dirty="0" sz="1800" spc="-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Files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marL="71755">
                        <a:lnSpc>
                          <a:spcPts val="2045"/>
                        </a:lnSpc>
                      </a:pP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algn="ctr" marL="11430">
                        <a:lnSpc>
                          <a:spcPts val="2045"/>
                        </a:lnSpc>
                      </a:pP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x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algn="r" marR="40640">
                        <a:lnSpc>
                          <a:spcPts val="2045"/>
                        </a:lnSpc>
                      </a:pP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marL="295275">
                        <a:lnSpc>
                          <a:spcPts val="2045"/>
                        </a:lnSpc>
                      </a:pP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10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marL="49530">
                        <a:lnSpc>
                          <a:spcPts val="2045"/>
                        </a:lnSpc>
                      </a:pP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15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marL="20955">
                        <a:lnSpc>
                          <a:spcPts val="2045"/>
                        </a:lnSpc>
                      </a:pP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=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marL="85090">
                        <a:lnSpc>
                          <a:spcPts val="2045"/>
                        </a:lnSpc>
                      </a:pP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74320">
                <a:tc>
                  <a:txBody>
                    <a:bodyPr/>
                    <a:p>
                      <a:pPr marL="85725">
                        <a:lnSpc>
                          <a:spcPts val="2045"/>
                        </a:lnSpc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External</a:t>
                      </a:r>
                      <a:r>
                        <a:rPr dirty="0" sz="1800" spc="-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Interface</a:t>
                      </a:r>
                      <a:r>
                        <a:rPr dirty="0" sz="1800" spc="-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Files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marL="71755">
                        <a:lnSpc>
                          <a:spcPts val="2045"/>
                        </a:lnSpc>
                      </a:pP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algn="ctr" marL="11430">
                        <a:lnSpc>
                          <a:spcPts val="2045"/>
                        </a:lnSpc>
                      </a:pP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x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algn="r" marR="40640">
                        <a:lnSpc>
                          <a:spcPts val="2045"/>
                        </a:lnSpc>
                      </a:pP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algn="ctr" marL="19050">
                        <a:lnSpc>
                          <a:spcPts val="2045"/>
                        </a:lnSpc>
                      </a:pP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marL="9525">
                        <a:lnSpc>
                          <a:spcPts val="2045"/>
                        </a:lnSpc>
                      </a:pP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10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marL="278130">
                        <a:lnSpc>
                          <a:spcPts val="2045"/>
                        </a:lnSpc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18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20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34645">
                <a:tc>
                  <a:txBody>
                    <a:bodyPr/>
                    <a:p>
                      <a:pPr marL="85725">
                        <a:lnSpc>
                          <a:spcPts val="2045"/>
                        </a:lnSpc>
                      </a:pPr>
                      <a:r>
                        <a:rPr b="1" dirty="0" sz="1800">
                          <a:latin typeface="Times New Roman"/>
                          <a:cs typeface="Times New Roman"/>
                        </a:rPr>
                        <a:t>Count </a:t>
                      </a:r>
                      <a:r>
                        <a:rPr b="1" dirty="0" sz="1800" spc="-10">
                          <a:latin typeface="Times New Roman"/>
                          <a:cs typeface="Times New Roman"/>
                        </a:rPr>
                        <a:t>total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marL="180975">
                        <a:lnSpc>
                          <a:spcPts val="2045"/>
                        </a:lnSpc>
                      </a:pPr>
                      <a:r>
                        <a:rPr b="1" dirty="0" sz="1800" spc="-25">
                          <a:latin typeface="Times New Roman"/>
                          <a:cs typeface="Times New Roman"/>
                        </a:rPr>
                        <a:t>50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048701" name="object 8" descr="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0" vert="horz" wrap="square">
            <a:spAutoFit/>
          </a:bodyPr>
          <a:p>
            <a:pPr marL="38100">
              <a:lnSpc>
                <a:spcPts val="1630"/>
              </a:lnSpc>
            </a:pPr>
            <a:fld id="{81D60167-4931-47E6-BA6A-407CBD079E47}" type="slidenum">
              <a:rPr dirty="0" sz="1400" spc="-25">
                <a:latin typeface="Times New Roman"/>
                <a:cs typeface="Times New Roman"/>
              </a:rPr>
              <a:t>19</a:t>
            </a:fld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object 2"/>
          <p:cNvSpPr txBox="1">
            <a:spLocks noGrp="1"/>
          </p:cNvSpPr>
          <p:nvPr>
            <p:ph type="title"/>
          </p:nvPr>
        </p:nvSpPr>
        <p:spPr>
          <a:xfrm>
            <a:off x="457200" y="-148437"/>
            <a:ext cx="7922259" cy="1490729"/>
          </a:xfrm>
          <a:prstGeom prst="rect"/>
        </p:spPr>
        <p:txBody>
          <a:bodyPr bIns="0" lIns="0" rIns="0" rtlCol="0" tIns="412204" vert="horz" wrap="square">
            <a:spAutoFit/>
          </a:bodyPr>
          <a:p>
            <a:pPr marL="85725" marR="5080">
              <a:lnSpc>
                <a:spcPct val="101099"/>
              </a:lnSpc>
              <a:spcBef>
                <a:spcPts val="90"/>
              </a:spcBef>
            </a:pPr>
            <a:r>
              <a:rPr dirty="0" sz="3650" spc="465"/>
              <a:t>An</a:t>
            </a:r>
            <a:r>
              <a:rPr dirty="0" sz="3650" spc="5"/>
              <a:t> </a:t>
            </a:r>
            <a:r>
              <a:rPr dirty="0" sz="3650" spc="305"/>
              <a:t>Example</a:t>
            </a:r>
            <a:r>
              <a:rPr dirty="0" sz="3650" spc="5"/>
              <a:t> </a:t>
            </a:r>
            <a:r>
              <a:rPr dirty="0" sz="3650" spc="370"/>
              <a:t>of</a:t>
            </a:r>
            <a:r>
              <a:rPr dirty="0" sz="3650" spc="10"/>
              <a:t> </a:t>
            </a:r>
            <a:r>
              <a:rPr dirty="0" sz="3650" spc="235"/>
              <a:t>FP-</a:t>
            </a:r>
            <a:r>
              <a:rPr dirty="0" sz="3650" spc="240"/>
              <a:t>Based </a:t>
            </a:r>
            <a:r>
              <a:rPr dirty="0" sz="3650" spc="325"/>
              <a:t>Estimation</a:t>
            </a:r>
            <a:endParaRPr sz="3650"/>
          </a:p>
        </p:txBody>
      </p:sp>
      <p:sp>
        <p:nvSpPr>
          <p:cNvPr id="1048703" name="object 5" descr=""/>
          <p:cNvSpPr txBox="1">
            <a:spLocks noGrp="1"/>
          </p:cNvSpPr>
          <p:nvPr>
            <p:ph type="sldNum" sz="quarter" idx="7"/>
          </p:nvPr>
        </p:nvSpPr>
        <p:spPr>
          <a:xfrm>
            <a:off x="8385274" y="6469562"/>
            <a:ext cx="266998" cy="195997"/>
          </a:xfrm>
          <a:prstGeom prst="rect"/>
        </p:spPr>
        <p:txBody>
          <a:bodyPr bIns="0" lIns="0" rIns="0" rtlCol="0" tIns="56297" vert="horz" wrap="square">
            <a:spAutoFit/>
          </a:bodyPr>
          <a:p>
            <a:pPr marL="7429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20</a:t>
            </a:fld>
          </a:p>
        </p:txBody>
      </p:sp>
      <p:graphicFrame>
        <p:nvGraphicFramePr>
          <p:cNvPr id="4194310" name="object 3" descr=""/>
          <p:cNvGraphicFramePr>
            <a:graphicFrameLocks noGrp="1"/>
          </p:cNvGraphicFramePr>
          <p:nvPr/>
        </p:nvGraphicFramePr>
        <p:xfrm>
          <a:off x="595312" y="1814512"/>
          <a:ext cx="7800975" cy="3933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2200"/>
                <a:gridCol w="838200"/>
                <a:gridCol w="381000"/>
                <a:gridCol w="990600"/>
                <a:gridCol w="1066800"/>
                <a:gridCol w="1143000"/>
                <a:gridCol w="304800"/>
                <a:gridCol w="609600"/>
              </a:tblGrid>
              <a:tr h="340995">
                <a:tc rowSpan="2">
                  <a:txBody>
                    <a:bodyPr/>
                    <a:p>
                      <a:pPr indent="-694055" marL="915669" marR="21653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1" dirty="0" sz="1600" spc="-10">
                          <a:latin typeface="Arial"/>
                          <a:cs typeface="Arial"/>
                        </a:rPr>
                        <a:t>Information</a:t>
                      </a:r>
                      <a:r>
                        <a:rPr b="1" dirty="0" sz="1600" spc="-35">
                          <a:latin typeface="Arial"/>
                          <a:cs typeface="Arial"/>
                        </a:rPr>
                        <a:t> </a:t>
                      </a:r>
                      <a:r>
                        <a:rPr b="1" dirty="0" sz="1600" spc="-10">
                          <a:latin typeface="Arial"/>
                          <a:cs typeface="Arial"/>
                        </a:rPr>
                        <a:t>Domain Value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p>
                      <a:pPr marL="12573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1" dirty="0" sz="1600" spc="-10">
                          <a:latin typeface="Arial"/>
                          <a:cs typeface="Arial"/>
                        </a:rPr>
                        <a:t>Count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p>
                      <a:pPr marL="125793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1" dirty="0" sz="1600" spc="-10">
                          <a:latin typeface="Arial"/>
                          <a:cs typeface="Arial"/>
                        </a:rPr>
                        <a:t>Weighting</a:t>
                      </a:r>
                      <a:r>
                        <a:rPr b="1" dirty="0" sz="1600" spc="-65">
                          <a:latin typeface="Arial"/>
                          <a:cs typeface="Arial"/>
                        </a:rPr>
                        <a:t> </a:t>
                      </a:r>
                      <a:r>
                        <a:rPr b="1" dirty="0" sz="1600" spc="-10">
                          <a:latin typeface="Arial"/>
                          <a:cs typeface="Arial"/>
                        </a:rPr>
                        <a:t>factor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p/>
                  </a:txBody>
                  <a:tcPr marL="0" marR="0" marT="0" marB="0"/>
                </a:tc>
                <a:tc hMerge="1">
                  <a:txBody>
                    <a:bodyPr/>
                    <a:p/>
                  </a:txBody>
                  <a:tcPr marL="0" marR="0" marT="0" marB="0"/>
                </a:tc>
                <a:tc hMerge="1">
                  <a:txBody>
                    <a:bodyPr/>
                    <a:p/>
                  </a:txBody>
                  <a:tcPr marL="0" marR="0" marT="0" marB="0"/>
                </a:tc>
                <a:tc hMerge="1">
                  <a:txBody>
                    <a:bodyPr/>
                    <a:p/>
                  </a:txBody>
                  <a:tcPr marL="0" marR="0" marT="0" marB="0"/>
                </a:tc>
              </a:tr>
              <a:tr h="335280">
                <a:tc vMerge="1">
                  <a:txBody>
                    <a:bodyPr/>
                    <a:p/>
                  </a:txBody>
                  <a:tcPr marL="0" marR="0" marT="298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p/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p/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1" dirty="0" sz="1600" spc="-10">
                          <a:latin typeface="Arial"/>
                          <a:cs typeface="Arial"/>
                        </a:rPr>
                        <a:t>Simple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1" dirty="0" sz="1600" spc="-10">
                          <a:latin typeface="Arial"/>
                          <a:cs typeface="Arial"/>
                        </a:rPr>
                        <a:t>Average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1" dirty="0" sz="1600" spc="-10">
                          <a:latin typeface="Arial"/>
                          <a:cs typeface="Arial"/>
                        </a:rPr>
                        <a:t>Complex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p>
                      <a:pPr marL="857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External</a:t>
                      </a:r>
                      <a:r>
                        <a:rPr dirty="0" sz="16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Inputs</a:t>
                      </a:r>
                      <a:r>
                        <a:rPr dirty="0" sz="16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(EIS)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50">
                          <a:latin typeface="Arial MT"/>
                          <a:cs typeface="Arial MT"/>
                        </a:rPr>
                        <a:t>6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marR="660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50">
                          <a:latin typeface="Arial MT"/>
                          <a:cs typeface="Arial MT"/>
                        </a:rPr>
                        <a:t>X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1" dirty="0" sz="1600" spc="-5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69696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50">
                          <a:latin typeface="Arial MT"/>
                          <a:cs typeface="Arial MT"/>
                        </a:rPr>
                        <a:t>4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50">
                          <a:latin typeface="Arial MT"/>
                          <a:cs typeface="Arial MT"/>
                        </a:rPr>
                        <a:t>6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50">
                          <a:latin typeface="Arial MT"/>
                          <a:cs typeface="Arial MT"/>
                        </a:rPr>
                        <a:t>=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2770">
                <a:tc>
                  <a:txBody>
                    <a:bodyPr/>
                    <a:p>
                      <a:pPr marL="857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External</a:t>
                      </a:r>
                      <a:r>
                        <a:rPr dirty="0" sz="16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Outputs</a:t>
                      </a:r>
                      <a:r>
                        <a:rPr dirty="0" sz="16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(EOs)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50">
                          <a:latin typeface="Arial MT"/>
                          <a:cs typeface="Arial MT"/>
                        </a:rPr>
                        <a:t>3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marR="660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50">
                          <a:latin typeface="Arial MT"/>
                          <a:cs typeface="Arial MT"/>
                        </a:rPr>
                        <a:t>X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1" dirty="0" sz="1600" spc="-5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69696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50">
                          <a:latin typeface="Arial MT"/>
                          <a:cs typeface="Arial MT"/>
                        </a:rPr>
                        <a:t>5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50">
                          <a:latin typeface="Arial MT"/>
                          <a:cs typeface="Arial MT"/>
                        </a:rPr>
                        <a:t>7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50">
                          <a:latin typeface="Arial MT"/>
                          <a:cs typeface="Arial MT"/>
                        </a:rPr>
                        <a:t>=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2770">
                <a:tc>
                  <a:txBody>
                    <a:bodyPr/>
                    <a:p>
                      <a:pPr marL="857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External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Inquiries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(EQs)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50">
                          <a:latin typeface="Arial MT"/>
                          <a:cs typeface="Arial MT"/>
                        </a:rPr>
                        <a:t>5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marR="660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50">
                          <a:latin typeface="Arial MT"/>
                          <a:cs typeface="Arial MT"/>
                        </a:rPr>
                        <a:t>X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1" dirty="0" sz="1600" spc="-5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69696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50">
                          <a:latin typeface="Arial MT"/>
                          <a:cs typeface="Arial MT"/>
                        </a:rPr>
                        <a:t>4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50">
                          <a:latin typeface="Arial MT"/>
                          <a:cs typeface="Arial MT"/>
                        </a:rPr>
                        <a:t>6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50">
                          <a:latin typeface="Arial MT"/>
                          <a:cs typeface="Arial MT"/>
                        </a:rPr>
                        <a:t>=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9120">
                <a:tc>
                  <a:txBody>
                    <a:bodyPr/>
                    <a:p>
                      <a:pPr marL="85725" marR="40576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Internal</a:t>
                      </a:r>
                      <a:r>
                        <a:rPr dirty="0" sz="16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Logical</a:t>
                      </a:r>
                      <a:r>
                        <a:rPr dirty="0" sz="16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Files (ILFs)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50">
                          <a:latin typeface="Arial MT"/>
                          <a:cs typeface="Arial MT"/>
                        </a:rPr>
                        <a:t>2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marR="660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50">
                          <a:latin typeface="Arial MT"/>
                          <a:cs typeface="Arial MT"/>
                        </a:rPr>
                        <a:t>X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1" dirty="0" sz="1600" spc="-5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69696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10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15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50">
                          <a:latin typeface="Arial MT"/>
                          <a:cs typeface="Arial MT"/>
                        </a:rPr>
                        <a:t>=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9120">
                <a:tc>
                  <a:txBody>
                    <a:bodyPr/>
                    <a:p>
                      <a:pPr marL="85725" marR="19113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External</a:t>
                      </a:r>
                      <a:r>
                        <a:rPr dirty="0" sz="1600" spc="-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Interface</a:t>
                      </a:r>
                      <a:r>
                        <a:rPr dirty="0" sz="1600" spc="-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Files (EIFs)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50">
                          <a:latin typeface="Arial MT"/>
                          <a:cs typeface="Arial MT"/>
                        </a:rPr>
                        <a:t>4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marR="660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50">
                          <a:latin typeface="Arial MT"/>
                          <a:cs typeface="Arial MT"/>
                        </a:rPr>
                        <a:t>X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1" dirty="0" sz="1600" spc="-5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69696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50">
                          <a:latin typeface="Arial MT"/>
                          <a:cs typeface="Arial MT"/>
                        </a:rPr>
                        <a:t>7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10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50">
                          <a:latin typeface="Arial MT"/>
                          <a:cs typeface="Arial MT"/>
                        </a:rPr>
                        <a:t>=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7520">
                <a:tc>
                  <a:txBody>
                    <a:bodyPr/>
                    <a:p>
                      <a:pPr marL="857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Count</a:t>
                      </a:r>
                      <a:r>
                        <a:rPr dirty="0" sz="16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Total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p/>
                  </a:txBody>
                  <a:tcPr marL="0" marR="0" marT="0" marB="0"/>
                </a:tc>
                <a:tc hMerge="1">
                  <a:txBody>
                    <a:bodyPr/>
                    <a:p/>
                  </a:txBody>
                  <a:tcPr marL="0" marR="0" marT="0" marB="0"/>
                </a:tc>
                <a:tc hMerge="1">
                  <a:txBody>
                    <a:bodyPr/>
                    <a:p/>
                  </a:txBody>
                  <a:tcPr marL="0" marR="0" marT="0" marB="0"/>
                </a:tc>
                <a:tc hMerge="1">
                  <a:txBody>
                    <a:bodyPr/>
                    <a:p/>
                  </a:txBody>
                  <a:tcPr marL="0" marR="0" marT="0" marB="0"/>
                </a:tc>
                <a:tc hMerge="1">
                  <a:txBody>
                    <a:bodyPr/>
                    <a:p/>
                  </a:txBody>
                  <a:tcPr marL="0" marR="0" marT="0" marB="0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48704" name="object 4" descr=""/>
          <p:cNvSpPr txBox="1"/>
          <p:nvPr/>
        </p:nvSpPr>
        <p:spPr>
          <a:xfrm>
            <a:off x="2511425" y="5956808"/>
            <a:ext cx="3310254" cy="7239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Computing function </a:t>
            </a:r>
            <a:r>
              <a:rPr dirty="0" sz="2400" spc="-10">
                <a:latin typeface="Times New Roman"/>
                <a:cs typeface="Times New Roman"/>
              </a:rPr>
              <a:t>points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7" name="object 2" descr="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2362200" y="1828800"/>
            <a:ext cx="4876799" cy="4190999"/>
          </a:xfrm>
          <a:prstGeom prst="rect"/>
        </p:spPr>
      </p:pic>
      <p:sp>
        <p:nvSpPr>
          <p:cNvPr id="1048705" name="object 3"/>
          <p:cNvSpPr txBox="1">
            <a:spLocks noGrp="1"/>
          </p:cNvSpPr>
          <p:nvPr>
            <p:ph type="title"/>
          </p:nvPr>
        </p:nvSpPr>
        <p:spPr>
          <a:xfrm>
            <a:off x="457200" y="-148437"/>
            <a:ext cx="7922259" cy="1490729"/>
          </a:xfrm>
          <a:prstGeom prst="rect"/>
        </p:spPr>
        <p:txBody>
          <a:bodyPr bIns="0" lIns="0" rIns="0" rtlCol="0" tIns="412204" vert="horz" wrap="square">
            <a:spAutoFit/>
          </a:bodyPr>
          <a:p>
            <a:pPr marL="85725" marR="5080">
              <a:lnSpc>
                <a:spcPct val="101099"/>
              </a:lnSpc>
              <a:spcBef>
                <a:spcPts val="90"/>
              </a:spcBef>
            </a:pPr>
            <a:r>
              <a:rPr dirty="0" sz="3650" spc="465"/>
              <a:t>An</a:t>
            </a:r>
            <a:r>
              <a:rPr dirty="0" sz="3650" spc="5"/>
              <a:t> </a:t>
            </a:r>
            <a:r>
              <a:rPr dirty="0" sz="3650" spc="305"/>
              <a:t>Example</a:t>
            </a:r>
            <a:r>
              <a:rPr dirty="0" sz="3650" spc="5"/>
              <a:t> </a:t>
            </a:r>
            <a:r>
              <a:rPr dirty="0" sz="3650" spc="370"/>
              <a:t>of</a:t>
            </a:r>
            <a:r>
              <a:rPr dirty="0" sz="3650" spc="10"/>
              <a:t> </a:t>
            </a:r>
            <a:r>
              <a:rPr dirty="0" sz="3650" spc="235"/>
              <a:t>FP-</a:t>
            </a:r>
            <a:r>
              <a:rPr dirty="0" sz="3650" spc="240"/>
              <a:t>Based </a:t>
            </a:r>
            <a:r>
              <a:rPr dirty="0" sz="3650" spc="325"/>
              <a:t>Estimation</a:t>
            </a:r>
            <a:endParaRPr sz="3650"/>
          </a:p>
        </p:txBody>
      </p:sp>
      <p:sp>
        <p:nvSpPr>
          <p:cNvPr id="1048706" name="object 5" descr=""/>
          <p:cNvSpPr txBox="1">
            <a:spLocks noGrp="1"/>
          </p:cNvSpPr>
          <p:nvPr>
            <p:ph type="sldNum" sz="quarter" idx="7"/>
          </p:nvPr>
        </p:nvSpPr>
        <p:spPr>
          <a:xfrm>
            <a:off x="8385274" y="6469562"/>
            <a:ext cx="266998" cy="195997"/>
          </a:xfrm>
          <a:prstGeom prst="rect"/>
        </p:spPr>
        <p:txBody>
          <a:bodyPr bIns="0" lIns="0" rIns="0" rtlCol="0" tIns="56297" vert="horz" wrap="square">
            <a:spAutoFit/>
          </a:bodyPr>
          <a:p>
            <a:pPr marL="7429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21</a:t>
            </a:fld>
          </a:p>
        </p:txBody>
      </p:sp>
      <p:sp>
        <p:nvSpPr>
          <p:cNvPr id="1048707" name="object 4" descr=""/>
          <p:cNvSpPr txBox="1"/>
          <p:nvPr/>
        </p:nvSpPr>
        <p:spPr>
          <a:xfrm>
            <a:off x="3289498" y="6185408"/>
            <a:ext cx="3171190" cy="723899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65">
                <a:latin typeface="Times New Roman"/>
                <a:cs typeface="Times New Roman"/>
              </a:rPr>
              <a:t>Value</a:t>
            </a:r>
            <a:r>
              <a:rPr dirty="0" sz="2400" spc="-1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Adjustment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Factors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object 2" descr=""/>
          <p:cNvSpPr txBox="1"/>
          <p:nvPr/>
        </p:nvSpPr>
        <p:spPr>
          <a:xfrm>
            <a:off x="1187315" y="1348638"/>
            <a:ext cx="7197090" cy="4501261"/>
          </a:xfrm>
          <a:prstGeom prst="rect"/>
        </p:spPr>
        <p:txBody>
          <a:bodyPr bIns="0" lIns="0" rIns="0" rtlCol="0" tIns="12700" vert="horz" wrap="square">
            <a:spAutoFit/>
          </a:bodyPr>
          <a:p>
            <a:pPr indent="-280035" marL="330835">
              <a:lnSpc>
                <a:spcPct val="100000"/>
              </a:lnSpc>
              <a:spcBef>
                <a:spcPts val="100"/>
              </a:spcBef>
              <a:buClr>
                <a:srgbClr val="2DA2BE"/>
              </a:buClr>
              <a:buSzPct val="67857"/>
              <a:buChar char="□"/>
              <a:tabLst>
                <a:tab algn="l" pos="330835"/>
              </a:tabLst>
            </a:pPr>
            <a:r>
              <a:rPr dirty="0" sz="2800" spc="-20">
                <a:latin typeface="Lucida Sans Unicode"/>
                <a:cs typeface="Lucida Sans Unicode"/>
              </a:rPr>
              <a:t>Now,</a:t>
            </a:r>
            <a:endParaRPr sz="2800">
              <a:latin typeface="Lucida Sans Unicode"/>
              <a:cs typeface="Lucida Sans Unicode"/>
            </a:endParaRPr>
          </a:p>
          <a:p>
            <a:pPr indent="-184785" lvl="1" marL="587375">
              <a:lnSpc>
                <a:spcPct val="100000"/>
              </a:lnSpc>
              <a:spcBef>
                <a:spcPts val="40"/>
              </a:spcBef>
              <a:buClr>
                <a:srgbClr val="2DA2BE"/>
              </a:buClr>
              <a:buFont typeface="Verdana"/>
              <a:buChar char="◦"/>
              <a:tabLst>
                <a:tab algn="l" pos="587375"/>
              </a:tabLst>
            </a:pPr>
            <a:r>
              <a:rPr dirty="0" sz="2400">
                <a:latin typeface="Lucida Sans Unicode"/>
                <a:cs typeface="Lucida Sans Unicode"/>
              </a:rPr>
              <a:t>FP</a:t>
            </a:r>
            <a:r>
              <a:rPr baseline="-31250" dirty="0" sz="2400">
                <a:latin typeface="Lucida Sans Unicode"/>
                <a:cs typeface="Lucida Sans Unicode"/>
              </a:rPr>
              <a:t>estimated</a:t>
            </a:r>
            <a:r>
              <a:rPr baseline="-31250" dirty="0" sz="2400" spc="60">
                <a:latin typeface="Lucida Sans Unicode"/>
                <a:cs typeface="Lucida Sans Unicode"/>
              </a:rPr>
              <a:t> </a:t>
            </a:r>
            <a:r>
              <a:rPr dirty="0" sz="2400" spc="-405">
                <a:latin typeface="Lucida Sans Unicode"/>
                <a:cs typeface="Lucida Sans Unicode"/>
              </a:rPr>
              <a:t>=</a:t>
            </a:r>
            <a:r>
              <a:rPr dirty="0" sz="2400" spc="-5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count_total</a:t>
            </a:r>
            <a:r>
              <a:rPr dirty="0" sz="2400" spc="-40">
                <a:latin typeface="Lucida Sans Unicode"/>
                <a:cs typeface="Lucida Sans Unicode"/>
              </a:rPr>
              <a:t> </a:t>
            </a:r>
            <a:r>
              <a:rPr dirty="0" sz="2000" spc="-335">
                <a:latin typeface="Lucida Sans Unicode"/>
                <a:cs typeface="Lucida Sans Unicode"/>
              </a:rPr>
              <a:t>×</a:t>
            </a:r>
            <a:r>
              <a:rPr dirty="0" sz="2000" spc="125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[0.65</a:t>
            </a:r>
            <a:r>
              <a:rPr dirty="0" sz="2400" spc="-40">
                <a:latin typeface="Lucida Sans Unicode"/>
                <a:cs typeface="Lucida Sans Unicode"/>
              </a:rPr>
              <a:t> </a:t>
            </a:r>
            <a:r>
              <a:rPr dirty="0" sz="2400" spc="-405">
                <a:latin typeface="Lucida Sans Unicode"/>
                <a:cs typeface="Lucida Sans Unicode"/>
              </a:rPr>
              <a:t>+</a:t>
            </a:r>
            <a:r>
              <a:rPr dirty="0" sz="2400" spc="-5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0.01</a:t>
            </a:r>
            <a:r>
              <a:rPr dirty="0" sz="2400" spc="-35">
                <a:latin typeface="Lucida Sans Unicode"/>
                <a:cs typeface="Lucida Sans Unicode"/>
              </a:rPr>
              <a:t> </a:t>
            </a:r>
            <a:r>
              <a:rPr dirty="0" sz="2000" spc="-335">
                <a:latin typeface="Lucida Sans Unicode"/>
                <a:cs typeface="Lucida Sans Unicode"/>
              </a:rPr>
              <a:t>×</a:t>
            </a:r>
            <a:r>
              <a:rPr dirty="0" sz="2000" spc="-5">
                <a:latin typeface="Lucida Sans Unicode"/>
                <a:cs typeface="Lucida Sans Unicode"/>
              </a:rPr>
              <a:t> </a:t>
            </a:r>
            <a:r>
              <a:rPr dirty="0" sz="2000" spc="-780">
                <a:latin typeface="Arial MT"/>
                <a:cs typeface="Arial MT"/>
              </a:rPr>
              <a:t>Σ</a:t>
            </a:r>
            <a:r>
              <a:rPr dirty="0" sz="2000" spc="75">
                <a:latin typeface="Arial MT"/>
                <a:cs typeface="Arial MT"/>
              </a:rPr>
              <a:t> </a:t>
            </a:r>
            <a:r>
              <a:rPr dirty="0" sz="2000" spc="-10">
                <a:latin typeface="Lucida Sans Unicode"/>
                <a:cs typeface="Lucida Sans Unicode"/>
              </a:rPr>
              <a:t>(</a:t>
            </a:r>
            <a:r>
              <a:rPr dirty="0" sz="2000" i="1" spc="-10">
                <a:latin typeface="Trebuchet MS"/>
                <a:cs typeface="Trebuchet MS"/>
              </a:rPr>
              <a:t>F</a:t>
            </a:r>
            <a:r>
              <a:rPr baseline="-29761" dirty="0" sz="2100" i="1" spc="-15">
                <a:latin typeface="Georgia"/>
                <a:cs typeface="Georgia"/>
              </a:rPr>
              <a:t>i</a:t>
            </a:r>
            <a:r>
              <a:rPr dirty="0" sz="2000" spc="-10">
                <a:latin typeface="Lucida Sans Unicode"/>
                <a:cs typeface="Lucida Sans Unicode"/>
              </a:rPr>
              <a:t>)</a:t>
            </a:r>
            <a:r>
              <a:rPr dirty="0" sz="2400" spc="-10">
                <a:latin typeface="Lucida Sans Unicode"/>
                <a:cs typeface="Lucida Sans Unicode"/>
              </a:rPr>
              <a:t>]</a:t>
            </a:r>
            <a:endParaRPr sz="2400">
              <a:latin typeface="Lucida Sans Unicode"/>
              <a:cs typeface="Lucida Sans Unicode"/>
            </a:endParaRPr>
          </a:p>
          <a:p>
            <a:pPr indent="-253365" lvl="2" marL="822960">
              <a:lnSpc>
                <a:spcPct val="100000"/>
              </a:lnSpc>
              <a:spcBef>
                <a:spcPts val="114"/>
              </a:spcBef>
              <a:buClr>
                <a:srgbClr val="DA1F28"/>
              </a:buClr>
              <a:buFont typeface="Arial"/>
              <a:buChar char="●"/>
              <a:tabLst>
                <a:tab algn="l" pos="822960"/>
              </a:tabLst>
            </a:pPr>
            <a:r>
              <a:rPr dirty="0" sz="2000" i="1">
                <a:latin typeface="Trebuchet MS"/>
                <a:cs typeface="Trebuchet MS"/>
              </a:rPr>
              <a:t>F</a:t>
            </a:r>
            <a:r>
              <a:rPr baseline="-29761" dirty="0" sz="2100" i="1">
                <a:latin typeface="Georgia"/>
                <a:cs typeface="Georgia"/>
              </a:rPr>
              <a:t>i</a:t>
            </a:r>
            <a:r>
              <a:rPr baseline="-29761" dirty="0" sz="2100" i="1" spc="405">
                <a:latin typeface="Georgia"/>
                <a:cs typeface="Georgia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(</a:t>
            </a:r>
            <a:r>
              <a:rPr dirty="0" sz="2000" i="1">
                <a:latin typeface="Trebuchet MS"/>
                <a:cs typeface="Trebuchet MS"/>
              </a:rPr>
              <a:t>i</a:t>
            </a:r>
            <a:r>
              <a:rPr dirty="0" sz="2000" i="1" spc="15">
                <a:latin typeface="Trebuchet MS"/>
                <a:cs typeface="Trebuchet MS"/>
              </a:rPr>
              <a:t> </a:t>
            </a:r>
            <a:r>
              <a:rPr dirty="0" sz="2000" spc="-335">
                <a:latin typeface="Lucida Sans Unicode"/>
                <a:cs typeface="Lucida Sans Unicode"/>
              </a:rPr>
              <a:t>=</a:t>
            </a:r>
            <a:r>
              <a:rPr dirty="0" sz="2000" spc="-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1</a:t>
            </a:r>
            <a:r>
              <a:rPr dirty="0" sz="2000" spc="-1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to</a:t>
            </a:r>
            <a:r>
              <a:rPr dirty="0" sz="2000" spc="-1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14</a:t>
            </a:r>
            <a:r>
              <a:rPr dirty="0" sz="2000" spc="-1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are</a:t>
            </a:r>
            <a:r>
              <a:rPr dirty="0" sz="2000" spc="-1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value</a:t>
            </a:r>
            <a:r>
              <a:rPr dirty="0" sz="2000" spc="-1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adjustment</a:t>
            </a:r>
            <a:r>
              <a:rPr dirty="0" sz="2000" spc="-15">
                <a:latin typeface="Lucida Sans Unicode"/>
                <a:cs typeface="Lucida Sans Unicode"/>
              </a:rPr>
              <a:t> </a:t>
            </a:r>
            <a:r>
              <a:rPr dirty="0" sz="2000" spc="-10">
                <a:latin typeface="Lucida Sans Unicode"/>
                <a:cs typeface="Lucida Sans Unicode"/>
              </a:rPr>
              <a:t>factors)</a:t>
            </a:r>
            <a:endParaRPr sz="2000">
              <a:latin typeface="Lucida Sans Unicode"/>
              <a:cs typeface="Lucida Sans Unicode"/>
            </a:endParaRPr>
          </a:p>
          <a:p>
            <a:pPr indent="-280035" marL="330835">
              <a:lnSpc>
                <a:spcPct val="100000"/>
              </a:lnSpc>
              <a:spcBef>
                <a:spcPts val="55"/>
              </a:spcBef>
              <a:buClr>
                <a:srgbClr val="2DA2BE"/>
              </a:buClr>
              <a:buSzPct val="67857"/>
              <a:buChar char="□"/>
              <a:tabLst>
                <a:tab algn="l" pos="330835"/>
              </a:tabLst>
            </a:pPr>
            <a:r>
              <a:rPr dirty="0" sz="2800" spc="-25">
                <a:latin typeface="Lucida Sans Unicode"/>
                <a:cs typeface="Lucida Sans Unicode"/>
              </a:rPr>
              <a:t>So,</a:t>
            </a:r>
            <a:endParaRPr sz="2800">
              <a:latin typeface="Lucida Sans Unicode"/>
              <a:cs typeface="Lucida Sans Unicode"/>
            </a:endParaRPr>
          </a:p>
          <a:p>
            <a:pPr indent="-184785" lvl="1" marL="587375">
              <a:lnSpc>
                <a:spcPts val="2765"/>
              </a:lnSpc>
              <a:spcBef>
                <a:spcPts val="40"/>
              </a:spcBef>
              <a:buClr>
                <a:srgbClr val="2DA2BE"/>
              </a:buClr>
              <a:buFont typeface="Verdana"/>
              <a:buChar char="◦"/>
              <a:tabLst>
                <a:tab algn="l" pos="587375"/>
                <a:tab algn="l" pos="6249035"/>
              </a:tabLst>
            </a:pPr>
            <a:r>
              <a:rPr dirty="0" sz="2400">
                <a:latin typeface="Lucida Sans Unicode"/>
                <a:cs typeface="Lucida Sans Unicode"/>
              </a:rPr>
              <a:t>FP</a:t>
            </a:r>
            <a:r>
              <a:rPr baseline="-31250" dirty="0" sz="2400">
                <a:latin typeface="Lucida Sans Unicode"/>
                <a:cs typeface="Lucida Sans Unicode"/>
              </a:rPr>
              <a:t>estimated</a:t>
            </a:r>
            <a:r>
              <a:rPr baseline="-31250" dirty="0" sz="2400" spc="240">
                <a:latin typeface="Lucida Sans Unicode"/>
                <a:cs typeface="Lucida Sans Unicode"/>
              </a:rPr>
              <a:t> </a:t>
            </a:r>
            <a:r>
              <a:rPr dirty="0" sz="2400" spc="-405">
                <a:latin typeface="Lucida Sans Unicode"/>
                <a:cs typeface="Lucida Sans Unicode"/>
              </a:rPr>
              <a:t>=</a:t>
            </a:r>
            <a:r>
              <a:rPr dirty="0" sz="2400" spc="-5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W</a:t>
            </a:r>
            <a:r>
              <a:rPr dirty="0" sz="2400" spc="-20">
                <a:latin typeface="Lucida Sans Unicode"/>
                <a:cs typeface="Lucida Sans Unicode"/>
              </a:rPr>
              <a:t> </a:t>
            </a:r>
            <a:r>
              <a:rPr dirty="0" sz="2400" spc="-405">
                <a:latin typeface="Lucida Sans Unicode"/>
                <a:cs typeface="Lucida Sans Unicode"/>
              </a:rPr>
              <a:t>=</a:t>
            </a:r>
            <a:r>
              <a:rPr dirty="0" sz="2400" spc="-5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320</a:t>
            </a:r>
            <a:r>
              <a:rPr dirty="0" sz="2400" spc="-15">
                <a:latin typeface="Lucida Sans Unicode"/>
                <a:cs typeface="Lucida Sans Unicode"/>
              </a:rPr>
              <a:t> </a:t>
            </a:r>
            <a:r>
              <a:rPr dirty="0" sz="2000" spc="-335">
                <a:latin typeface="Lucida Sans Unicode"/>
                <a:cs typeface="Lucida Sans Unicode"/>
              </a:rPr>
              <a:t>×</a:t>
            </a:r>
            <a:r>
              <a:rPr dirty="0" sz="2000" spc="-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[0.65</a:t>
            </a:r>
            <a:r>
              <a:rPr dirty="0" sz="2000" spc="-20">
                <a:latin typeface="Lucida Sans Unicode"/>
                <a:cs typeface="Lucida Sans Unicode"/>
              </a:rPr>
              <a:t> </a:t>
            </a:r>
            <a:r>
              <a:rPr dirty="0" sz="2000" spc="-335">
                <a:latin typeface="Lucida Sans Unicode"/>
                <a:cs typeface="Lucida Sans Unicode"/>
              </a:rPr>
              <a:t>+</a:t>
            </a:r>
            <a:r>
              <a:rPr dirty="0" sz="2000" spc="-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0.01</a:t>
            </a:r>
            <a:r>
              <a:rPr dirty="0" sz="2000" spc="-15">
                <a:latin typeface="Lucida Sans Unicode"/>
                <a:cs typeface="Lucida Sans Unicode"/>
              </a:rPr>
              <a:t> </a:t>
            </a:r>
            <a:r>
              <a:rPr dirty="0" sz="2000" spc="-335">
                <a:latin typeface="Lucida Sans Unicode"/>
                <a:cs typeface="Lucida Sans Unicode"/>
              </a:rPr>
              <a:t>×</a:t>
            </a:r>
            <a:r>
              <a:rPr dirty="0" sz="2000" spc="-5">
                <a:latin typeface="Lucida Sans Unicode"/>
                <a:cs typeface="Lucida Sans Unicode"/>
              </a:rPr>
              <a:t> </a:t>
            </a:r>
            <a:r>
              <a:rPr dirty="0" sz="2000" spc="-25">
                <a:latin typeface="Lucida Sans Unicode"/>
                <a:cs typeface="Lucida Sans Unicode"/>
              </a:rPr>
              <a:t>52]</a:t>
            </a:r>
            <a:r>
              <a:rPr dirty="0" sz="2000">
                <a:latin typeface="Lucida Sans Unicode"/>
                <a:cs typeface="Lucida Sans Unicode"/>
              </a:rPr>
              <a:t>	</a:t>
            </a:r>
            <a:r>
              <a:rPr dirty="0" sz="2000" spc="-335">
                <a:latin typeface="Lucida Sans Unicode"/>
                <a:cs typeface="Lucida Sans Unicode"/>
              </a:rPr>
              <a:t>=</a:t>
            </a:r>
            <a:r>
              <a:rPr dirty="0" sz="2000" spc="-5">
                <a:latin typeface="Lucida Sans Unicode"/>
                <a:cs typeface="Lucida Sans Unicode"/>
              </a:rPr>
              <a:t> </a:t>
            </a:r>
            <a:r>
              <a:rPr dirty="0" sz="2000" spc="-25">
                <a:latin typeface="Lucida Sans Unicode"/>
                <a:cs typeface="Lucida Sans Unicode"/>
              </a:rPr>
              <a:t>375</a:t>
            </a:r>
            <a:endParaRPr sz="2000">
              <a:latin typeface="Lucida Sans Unicode"/>
              <a:cs typeface="Lucida Sans Unicode"/>
            </a:endParaRPr>
          </a:p>
          <a:p>
            <a:pPr marL="586740">
              <a:lnSpc>
                <a:spcPts val="2285"/>
              </a:lnSpc>
            </a:pPr>
            <a:r>
              <a:rPr dirty="0" sz="2000" spc="-10">
                <a:latin typeface="Lucida Sans Unicode"/>
                <a:cs typeface="Lucida Sans Unicode"/>
              </a:rPr>
              <a:t>(approx.)</a:t>
            </a:r>
            <a:endParaRPr sz="2000">
              <a:latin typeface="Lucida Sans Unicode"/>
              <a:cs typeface="Lucida Sans Unicode"/>
            </a:endParaRPr>
          </a:p>
          <a:p>
            <a:pPr indent="-276860" marL="330835">
              <a:lnSpc>
                <a:spcPct val="100000"/>
              </a:lnSpc>
              <a:spcBef>
                <a:spcPts val="105"/>
              </a:spcBef>
              <a:buClr>
                <a:srgbClr val="2DA2BE"/>
              </a:buClr>
              <a:buSzPct val="66666"/>
              <a:buChar char="□"/>
              <a:tabLst>
                <a:tab algn="l" pos="330835"/>
              </a:tabLst>
            </a:pPr>
            <a:r>
              <a:rPr dirty="0" sz="2400" spc="-20">
                <a:latin typeface="Lucida Sans Unicode"/>
                <a:cs typeface="Lucida Sans Unicode"/>
              </a:rPr>
              <a:t>Let,</a:t>
            </a:r>
            <a:endParaRPr sz="2400">
              <a:latin typeface="Lucida Sans Unicode"/>
              <a:cs typeface="Lucida Sans Unicode"/>
            </a:endParaRPr>
          </a:p>
          <a:p>
            <a:pPr indent="-190500" lvl="1" marL="585470">
              <a:lnSpc>
                <a:spcPct val="100000"/>
              </a:lnSpc>
              <a:spcBef>
                <a:spcPts val="90"/>
              </a:spcBef>
              <a:buClr>
                <a:srgbClr val="2DA2BE"/>
              </a:buClr>
              <a:buFont typeface="Verdana"/>
              <a:buChar char="◦"/>
              <a:tabLst>
                <a:tab algn="l" pos="585470"/>
              </a:tabLst>
            </a:pPr>
            <a:r>
              <a:rPr dirty="0" sz="2000">
                <a:latin typeface="Lucida Sans Unicode"/>
                <a:cs typeface="Lucida Sans Unicode"/>
              </a:rPr>
              <a:t>Average</a:t>
            </a:r>
            <a:r>
              <a:rPr dirty="0" sz="2000" spc="-7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Productivity</a:t>
            </a:r>
            <a:r>
              <a:rPr dirty="0" sz="2000" spc="-25">
                <a:latin typeface="Lucida Sans Unicode"/>
                <a:cs typeface="Lucida Sans Unicode"/>
              </a:rPr>
              <a:t> </a:t>
            </a:r>
            <a:r>
              <a:rPr dirty="0" sz="2000" spc="-335">
                <a:latin typeface="Lucida Sans Unicode"/>
                <a:cs typeface="Lucida Sans Unicode"/>
              </a:rPr>
              <a:t>=</a:t>
            </a:r>
            <a:r>
              <a:rPr dirty="0" sz="2000" spc="-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X</a:t>
            </a:r>
            <a:r>
              <a:rPr dirty="0" sz="2000" spc="-25">
                <a:latin typeface="Lucida Sans Unicode"/>
                <a:cs typeface="Lucida Sans Unicode"/>
              </a:rPr>
              <a:t> </a:t>
            </a:r>
            <a:r>
              <a:rPr dirty="0" sz="2000" spc="-335">
                <a:latin typeface="Lucida Sans Unicode"/>
                <a:cs typeface="Lucida Sans Unicode"/>
              </a:rPr>
              <a:t>=</a:t>
            </a:r>
            <a:r>
              <a:rPr dirty="0" sz="2000" spc="-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6.5</a:t>
            </a:r>
            <a:r>
              <a:rPr dirty="0" sz="2000" spc="-25">
                <a:latin typeface="Lucida Sans Unicode"/>
                <a:cs typeface="Lucida Sans Unicode"/>
              </a:rPr>
              <a:t> </a:t>
            </a:r>
            <a:r>
              <a:rPr dirty="0" sz="2000" spc="-10">
                <a:latin typeface="Lucida Sans Unicode"/>
                <a:cs typeface="Lucida Sans Unicode"/>
              </a:rPr>
              <a:t>FP/pm</a:t>
            </a:r>
            <a:endParaRPr sz="2000">
              <a:latin typeface="Lucida Sans Unicode"/>
              <a:cs typeface="Lucida Sans Unicode"/>
            </a:endParaRPr>
          </a:p>
          <a:p>
            <a:pPr indent="-190500" lvl="1" marL="585470">
              <a:lnSpc>
                <a:spcPct val="100000"/>
              </a:lnSpc>
              <a:spcBef>
                <a:spcPts val="85"/>
              </a:spcBef>
              <a:buClr>
                <a:srgbClr val="2DA2BE"/>
              </a:buClr>
              <a:buFont typeface="Verdana"/>
              <a:buChar char="◦"/>
              <a:tabLst>
                <a:tab algn="l" pos="585470"/>
              </a:tabLst>
            </a:pPr>
            <a:r>
              <a:rPr dirty="0" sz="2000">
                <a:latin typeface="Lucida Sans Unicode"/>
                <a:cs typeface="Lucida Sans Unicode"/>
              </a:rPr>
              <a:t>Labor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rate</a:t>
            </a:r>
            <a:r>
              <a:rPr dirty="0" sz="2000" spc="-20">
                <a:latin typeface="Lucida Sans Unicode"/>
                <a:cs typeface="Lucida Sans Unicode"/>
              </a:rPr>
              <a:t> </a:t>
            </a:r>
            <a:r>
              <a:rPr dirty="0" sz="2000" spc="-335">
                <a:latin typeface="Lucida Sans Unicode"/>
                <a:cs typeface="Lucida Sans Unicode"/>
              </a:rPr>
              <a:t>=</a:t>
            </a:r>
            <a:r>
              <a:rPr dirty="0" sz="2000" spc="-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Y</a:t>
            </a:r>
            <a:r>
              <a:rPr dirty="0" sz="2000" spc="-15">
                <a:latin typeface="Lucida Sans Unicode"/>
                <a:cs typeface="Lucida Sans Unicode"/>
              </a:rPr>
              <a:t> </a:t>
            </a:r>
            <a:r>
              <a:rPr dirty="0" sz="2000" spc="-335">
                <a:latin typeface="Lucida Sans Unicode"/>
                <a:cs typeface="Lucida Sans Unicode"/>
              </a:rPr>
              <a:t>=</a:t>
            </a:r>
            <a:r>
              <a:rPr dirty="0" sz="2000" spc="-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$8,000</a:t>
            </a:r>
            <a:r>
              <a:rPr dirty="0" sz="2000" spc="-1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per</a:t>
            </a:r>
            <a:r>
              <a:rPr dirty="0" sz="2000" spc="-15">
                <a:latin typeface="Lucida Sans Unicode"/>
                <a:cs typeface="Lucida Sans Unicode"/>
              </a:rPr>
              <a:t> </a:t>
            </a:r>
            <a:r>
              <a:rPr dirty="0" sz="2000" spc="-10">
                <a:latin typeface="Lucida Sans Unicode"/>
                <a:cs typeface="Lucida Sans Unicode"/>
              </a:rPr>
              <a:t>month</a:t>
            </a:r>
            <a:endParaRPr sz="2000">
              <a:latin typeface="Lucida Sans Unicode"/>
              <a:cs typeface="Lucida Sans Unicode"/>
            </a:endParaRPr>
          </a:p>
          <a:p>
            <a:pPr indent="-276860" marL="330835">
              <a:lnSpc>
                <a:spcPct val="100000"/>
              </a:lnSpc>
              <a:spcBef>
                <a:spcPts val="105"/>
              </a:spcBef>
              <a:buClr>
                <a:srgbClr val="2DA2BE"/>
              </a:buClr>
              <a:buSzPct val="66666"/>
              <a:buChar char="□"/>
              <a:tabLst>
                <a:tab algn="l" pos="330835"/>
              </a:tabLst>
            </a:pPr>
            <a:r>
              <a:rPr dirty="0" sz="2400" spc="-25">
                <a:latin typeface="Lucida Sans Unicode"/>
                <a:cs typeface="Lucida Sans Unicode"/>
              </a:rPr>
              <a:t>So,</a:t>
            </a:r>
            <a:endParaRPr sz="2400">
              <a:latin typeface="Lucida Sans Unicode"/>
              <a:cs typeface="Lucida Sans Unicode"/>
            </a:endParaRPr>
          </a:p>
          <a:p>
            <a:pPr indent="-190500" lvl="1" marL="585470">
              <a:lnSpc>
                <a:spcPct val="100000"/>
              </a:lnSpc>
              <a:spcBef>
                <a:spcPts val="90"/>
              </a:spcBef>
              <a:buClr>
                <a:srgbClr val="2DA2BE"/>
              </a:buClr>
              <a:buFont typeface="Verdana"/>
              <a:buChar char="◦"/>
              <a:tabLst>
                <a:tab algn="l" pos="585470"/>
              </a:tabLst>
            </a:pPr>
            <a:r>
              <a:rPr dirty="0" sz="2000">
                <a:latin typeface="Lucida Sans Unicode"/>
                <a:cs typeface="Lucida Sans Unicode"/>
              </a:rPr>
              <a:t>Cost</a:t>
            </a:r>
            <a:r>
              <a:rPr dirty="0" sz="2000" spc="-8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per</a:t>
            </a:r>
            <a:r>
              <a:rPr dirty="0" sz="2000" spc="-2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FP</a:t>
            </a:r>
            <a:r>
              <a:rPr dirty="0" sz="2000" spc="-20">
                <a:latin typeface="Lucida Sans Unicode"/>
                <a:cs typeface="Lucida Sans Unicode"/>
              </a:rPr>
              <a:t> </a:t>
            </a:r>
            <a:r>
              <a:rPr dirty="0" sz="2000" spc="-335">
                <a:latin typeface="Lucida Sans Unicode"/>
                <a:cs typeface="Lucida Sans Unicode"/>
              </a:rPr>
              <a:t>=</a:t>
            </a:r>
            <a:r>
              <a:rPr dirty="0" sz="2000" spc="-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Z</a:t>
            </a:r>
            <a:r>
              <a:rPr dirty="0" sz="2000" spc="-25">
                <a:latin typeface="Lucida Sans Unicode"/>
                <a:cs typeface="Lucida Sans Unicode"/>
              </a:rPr>
              <a:t> </a:t>
            </a:r>
            <a:r>
              <a:rPr dirty="0" sz="2000" spc="-335">
                <a:latin typeface="Lucida Sans Unicode"/>
                <a:cs typeface="Lucida Sans Unicode"/>
              </a:rPr>
              <a:t>=</a:t>
            </a:r>
            <a:r>
              <a:rPr dirty="0" sz="2000" spc="-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Y/X</a:t>
            </a:r>
            <a:r>
              <a:rPr dirty="0" sz="2000" spc="-25">
                <a:latin typeface="Lucida Sans Unicode"/>
                <a:cs typeface="Lucida Sans Unicode"/>
              </a:rPr>
              <a:t> </a:t>
            </a:r>
            <a:r>
              <a:rPr dirty="0" sz="2000" spc="-335">
                <a:latin typeface="Lucida Sans Unicode"/>
                <a:cs typeface="Lucida Sans Unicode"/>
              </a:rPr>
              <a:t>=</a:t>
            </a:r>
            <a:r>
              <a:rPr dirty="0" sz="2000" spc="-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$1,230</a:t>
            </a:r>
            <a:r>
              <a:rPr dirty="0" sz="2000" spc="-25">
                <a:latin typeface="Lucida Sans Unicode"/>
                <a:cs typeface="Lucida Sans Unicode"/>
              </a:rPr>
              <a:t> </a:t>
            </a:r>
            <a:r>
              <a:rPr dirty="0" sz="2000" spc="-10">
                <a:latin typeface="Lucida Sans Unicode"/>
                <a:cs typeface="Lucida Sans Unicode"/>
              </a:rPr>
              <a:t>(approx.)</a:t>
            </a:r>
            <a:endParaRPr sz="2000">
              <a:latin typeface="Lucida Sans Unicode"/>
              <a:cs typeface="Lucida Sans Unicode"/>
            </a:endParaRPr>
          </a:p>
          <a:p>
            <a:pPr indent="-190500" lvl="1" marL="585470" marR="810260">
              <a:lnSpc>
                <a:spcPts val="2160"/>
              </a:lnSpc>
              <a:spcBef>
                <a:spcPts val="359"/>
              </a:spcBef>
              <a:buClr>
                <a:srgbClr val="2DA2BE"/>
              </a:buClr>
              <a:buFont typeface="Verdana"/>
              <a:buChar char="◦"/>
              <a:tabLst>
                <a:tab algn="l" pos="586740"/>
              </a:tabLst>
            </a:pPr>
            <a:r>
              <a:rPr dirty="0" sz="2000">
                <a:latin typeface="Lucida Sans Unicode"/>
                <a:cs typeface="Lucida Sans Unicode"/>
              </a:rPr>
              <a:t>Total</a:t>
            </a:r>
            <a:r>
              <a:rPr dirty="0" sz="2000" spc="-7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estimated</a:t>
            </a:r>
            <a:r>
              <a:rPr dirty="0" sz="2000" spc="-2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project</a:t>
            </a:r>
            <a:r>
              <a:rPr dirty="0" sz="2000" spc="-2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cost</a:t>
            </a:r>
            <a:r>
              <a:rPr dirty="0" sz="2000" spc="-25">
                <a:latin typeface="Lucida Sans Unicode"/>
                <a:cs typeface="Lucida Sans Unicode"/>
              </a:rPr>
              <a:t> </a:t>
            </a:r>
            <a:r>
              <a:rPr dirty="0" sz="2000" spc="-335">
                <a:latin typeface="Lucida Sans Unicode"/>
                <a:cs typeface="Lucida Sans Unicode"/>
              </a:rPr>
              <a:t>=</a:t>
            </a:r>
            <a:r>
              <a:rPr dirty="0" sz="2000" spc="-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W*Z</a:t>
            </a:r>
            <a:r>
              <a:rPr dirty="0" sz="2000" spc="-30">
                <a:latin typeface="Lucida Sans Unicode"/>
                <a:cs typeface="Lucida Sans Unicode"/>
              </a:rPr>
              <a:t> </a:t>
            </a:r>
            <a:r>
              <a:rPr dirty="0" sz="2000" spc="-335">
                <a:latin typeface="Lucida Sans Unicode"/>
                <a:cs typeface="Lucida Sans Unicode"/>
              </a:rPr>
              <a:t>=</a:t>
            </a:r>
            <a:r>
              <a:rPr dirty="0" sz="2000" spc="-5">
                <a:latin typeface="Lucida Sans Unicode"/>
                <a:cs typeface="Lucida Sans Unicode"/>
              </a:rPr>
              <a:t> </a:t>
            </a:r>
            <a:r>
              <a:rPr dirty="0" sz="2000" spc="-10">
                <a:latin typeface="Lucida Sans Unicode"/>
                <a:cs typeface="Lucida Sans Unicode"/>
              </a:rPr>
              <a:t>$461,000 	(approx.)</a:t>
            </a:r>
            <a:endParaRPr sz="2000">
              <a:latin typeface="Lucida Sans Unicode"/>
              <a:cs typeface="Lucida Sans Unicode"/>
            </a:endParaRPr>
          </a:p>
          <a:p>
            <a:pPr indent="-190500" lvl="1" marL="585470">
              <a:lnSpc>
                <a:spcPct val="100000"/>
              </a:lnSpc>
              <a:spcBef>
                <a:spcPts val="50"/>
              </a:spcBef>
              <a:buClr>
                <a:srgbClr val="2DA2BE"/>
              </a:buClr>
              <a:buFont typeface="Verdana"/>
              <a:buChar char="◦"/>
              <a:tabLst>
                <a:tab algn="l" pos="585470"/>
              </a:tabLst>
            </a:pPr>
            <a:r>
              <a:rPr dirty="0" sz="2000">
                <a:latin typeface="Lucida Sans Unicode"/>
                <a:cs typeface="Lucida Sans Unicode"/>
              </a:rPr>
              <a:t>Estimated</a:t>
            </a:r>
            <a:r>
              <a:rPr dirty="0" sz="2000" spc="-11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effort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 spc="-335">
                <a:latin typeface="Lucida Sans Unicode"/>
                <a:cs typeface="Lucida Sans Unicode"/>
              </a:rPr>
              <a:t>=</a:t>
            </a:r>
            <a:r>
              <a:rPr dirty="0" sz="2000" spc="-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W/X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 spc="-335">
                <a:latin typeface="Lucida Sans Unicode"/>
                <a:cs typeface="Lucida Sans Unicode"/>
              </a:rPr>
              <a:t>=</a:t>
            </a:r>
            <a:r>
              <a:rPr dirty="0" sz="2000" spc="-5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58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person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>
                <a:latin typeface="Lucida Sans Unicode"/>
                <a:cs typeface="Lucida Sans Unicode"/>
              </a:rPr>
              <a:t>months</a:t>
            </a:r>
            <a:r>
              <a:rPr dirty="0" sz="2000" spc="-40">
                <a:latin typeface="Lucida Sans Unicode"/>
                <a:cs typeface="Lucida Sans Unicode"/>
              </a:rPr>
              <a:t> </a:t>
            </a:r>
            <a:r>
              <a:rPr dirty="0" sz="2000" spc="-10">
                <a:latin typeface="Lucida Sans Unicode"/>
                <a:cs typeface="Lucida Sans Unicode"/>
              </a:rPr>
              <a:t>(approx)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048709" name="object 4" descr=""/>
          <p:cNvSpPr txBox="1">
            <a:spLocks noGrp="1"/>
          </p:cNvSpPr>
          <p:nvPr>
            <p:ph type="sldNum" sz="quarter" idx="7"/>
          </p:nvPr>
        </p:nvSpPr>
        <p:spPr>
          <a:xfrm>
            <a:off x="8385274" y="6469562"/>
            <a:ext cx="266998" cy="195997"/>
          </a:xfrm>
          <a:prstGeom prst="rect"/>
        </p:spPr>
        <p:txBody>
          <a:bodyPr bIns="0" lIns="0" rIns="0" rtlCol="0" tIns="56297" vert="horz" wrap="square">
            <a:spAutoFit/>
          </a:bodyPr>
          <a:p>
            <a:pPr marL="7429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22</a:t>
            </a:fld>
          </a:p>
        </p:txBody>
      </p:sp>
      <p:sp>
        <p:nvSpPr>
          <p:cNvPr id="1048710" name="object 3"/>
          <p:cNvSpPr txBox="1">
            <a:spLocks noGrp="1"/>
          </p:cNvSpPr>
          <p:nvPr>
            <p:ph type="title"/>
          </p:nvPr>
        </p:nvSpPr>
        <p:spPr>
          <a:xfrm>
            <a:off x="530225" y="252336"/>
            <a:ext cx="6010275" cy="1089955"/>
          </a:xfrm>
          <a:prstGeom prst="rect"/>
        </p:spPr>
        <p:txBody>
          <a:bodyPr bIns="0" lIns="0" rIns="0" rtlCol="0" tIns="11430" vert="horz" wrap="square">
            <a:spAutoFit/>
          </a:bodyPr>
          <a:p>
            <a:pPr marL="12700" marR="5080">
              <a:lnSpc>
                <a:spcPct val="101099"/>
              </a:lnSpc>
              <a:spcBef>
                <a:spcPts val="90"/>
              </a:spcBef>
            </a:pPr>
            <a:r>
              <a:rPr dirty="0" sz="3650" spc="465"/>
              <a:t>An</a:t>
            </a:r>
            <a:r>
              <a:rPr dirty="0" sz="3650" spc="5"/>
              <a:t> </a:t>
            </a:r>
            <a:r>
              <a:rPr dirty="0" sz="3650" spc="305"/>
              <a:t>Example</a:t>
            </a:r>
            <a:r>
              <a:rPr dirty="0" sz="3650" spc="5"/>
              <a:t> </a:t>
            </a:r>
            <a:r>
              <a:rPr dirty="0" sz="3650" spc="370"/>
              <a:t>of</a:t>
            </a:r>
            <a:r>
              <a:rPr dirty="0" sz="3650" spc="10"/>
              <a:t> </a:t>
            </a:r>
            <a:r>
              <a:rPr dirty="0" sz="3650" spc="235"/>
              <a:t>FP-</a:t>
            </a:r>
            <a:r>
              <a:rPr dirty="0" sz="3650" spc="240"/>
              <a:t>Based </a:t>
            </a:r>
            <a:r>
              <a:rPr dirty="0" sz="3650" spc="325"/>
              <a:t>Estimation</a:t>
            </a:r>
            <a:endParaRPr sz="365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object 2" descr=""/>
          <p:cNvGrpSpPr/>
          <p:nvPr/>
        </p:nvGrpSpPr>
        <p:grpSpPr>
          <a:xfrm>
            <a:off x="-6025" y="4953000"/>
            <a:ext cx="9156065" cy="1905000"/>
            <a:chOff x="-6025" y="4953000"/>
            <a:chExt cx="9156065" cy="1905000"/>
          </a:xfrm>
        </p:grpSpPr>
        <p:sp>
          <p:nvSpPr>
            <p:cNvPr id="1048715" name="object 3" descr=""/>
            <p:cNvSpPr/>
            <p:nvPr/>
          </p:nvSpPr>
          <p:spPr>
            <a:xfrm>
              <a:off x="1687512" y="4953000"/>
              <a:ext cx="7456805" cy="488315"/>
            </a:xfrm>
            <a:custGeom>
              <a:avLst/>
              <a:ahLst/>
              <a:rect l="l" t="t" r="r" b="b"/>
              <a:pathLst>
                <a:path w="7456805" h="488314">
                  <a:moveTo>
                    <a:pt x="7456486" y="488153"/>
                  </a:moveTo>
                  <a:lnTo>
                    <a:pt x="0" y="289965"/>
                  </a:lnTo>
                  <a:lnTo>
                    <a:pt x="7456486" y="0"/>
                  </a:lnTo>
                  <a:lnTo>
                    <a:pt x="7456486" y="488153"/>
                  </a:lnTo>
                  <a:close/>
                </a:path>
              </a:pathLst>
            </a:custGeom>
            <a:solidFill>
              <a:srgbClr val="9BCADC">
                <a:alpha val="39999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716" name="object 4" descr=""/>
            <p:cNvSpPr/>
            <p:nvPr/>
          </p:nvSpPr>
          <p:spPr>
            <a:xfrm>
              <a:off x="111347" y="5237744"/>
              <a:ext cx="9032875" cy="788670"/>
            </a:xfrm>
            <a:custGeom>
              <a:avLst/>
              <a:ahLst/>
              <a:rect l="l" t="t" r="r" b="b"/>
              <a:pathLst>
                <a:path w="9032875" h="788670">
                  <a:moveTo>
                    <a:pt x="9032652" y="788661"/>
                  </a:moveTo>
                  <a:lnTo>
                    <a:pt x="0" y="0"/>
                  </a:lnTo>
                  <a:lnTo>
                    <a:pt x="9032652" y="0"/>
                  </a:lnTo>
                  <a:lnTo>
                    <a:pt x="9032652" y="7886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bIns="0" lIns="0" rIns="0" rtlCol="0" tIns="0" wrap="square"/>
            <a:p/>
          </p:txBody>
        </p:sp>
        <p:pic>
          <p:nvPicPr>
            <p:cNvPr id="2097159" name="object 5" descr="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0" y="5000978"/>
              <a:ext cx="9144000" cy="1857021"/>
            </a:xfrm>
            <a:prstGeom prst="rect"/>
          </p:spPr>
        </p:pic>
        <p:sp>
          <p:nvSpPr>
            <p:cNvPr id="1048717" name="object 6" descr=""/>
            <p:cNvSpPr/>
            <p:nvPr/>
          </p:nvSpPr>
          <p:spPr>
            <a:xfrm>
              <a:off x="0" y="4997996"/>
              <a:ext cx="9144000" cy="790575"/>
            </a:xfrm>
            <a:custGeom>
              <a:avLst/>
              <a:ahLst/>
              <a:rect l="l" t="t" r="r" b="b"/>
              <a:pathLst>
                <a:path w="9144000" h="790575">
                  <a:moveTo>
                    <a:pt x="0" y="0"/>
                  </a:moveTo>
                  <a:lnTo>
                    <a:pt x="9143999" y="789976"/>
                  </a:lnTo>
                </a:path>
              </a:pathLst>
            </a:custGeom>
            <a:ln w="12049">
              <a:solidFill>
                <a:srgbClr val="93C5D8"/>
              </a:solidFill>
            </a:ln>
          </p:spPr>
          <p:txBody>
            <a:bodyPr bIns="0" lIns="0" rIns="0" rtlCol="0" tIns="0" wrap="square"/>
            <a:p/>
          </p:txBody>
        </p:sp>
      </p:grpSp>
      <p:sp>
        <p:nvSpPr>
          <p:cNvPr id="1048718" name="object 7"/>
          <p:cNvSpPr txBox="1">
            <a:spLocks noGrp="1"/>
          </p:cNvSpPr>
          <p:nvPr>
            <p:ph type="body" idx="1"/>
          </p:nvPr>
        </p:nvSpPr>
        <p:spPr>
          <a:xfrm>
            <a:off x="759737" y="2044138"/>
            <a:ext cx="7624524" cy="1460501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44450">
              <a:lnSpc>
                <a:spcPct val="100000"/>
              </a:lnSpc>
              <a:spcBef>
                <a:spcPts val="100"/>
              </a:spcBef>
            </a:pPr>
            <a:r>
              <a:rPr dirty="0" spc="475"/>
              <a:t>Management</a:t>
            </a:r>
            <a:r>
              <a:rPr dirty="0" spc="10"/>
              <a:t> </a:t>
            </a:r>
            <a:r>
              <a:rPr dirty="0" spc="360"/>
              <a:t>Activities</a:t>
            </a:r>
          </a:p>
          <a:p>
            <a:pPr algn="r" marL="31750" marR="5080">
              <a:lnSpc>
                <a:spcPct val="100000"/>
              </a:lnSpc>
            </a:pPr>
            <a:r>
              <a:rPr dirty="0" spc="380"/>
              <a:t>in</a:t>
            </a:r>
            <a:r>
              <a:rPr dirty="0" spc="-15"/>
              <a:t> </a:t>
            </a:r>
            <a:r>
              <a:rPr dirty="0" spc="330"/>
              <a:t>SE</a:t>
            </a:r>
          </a:p>
        </p:txBody>
      </p:sp>
      <p:sp>
        <p:nvSpPr>
          <p:cNvPr id="1048719" name="object 8" descr=""/>
          <p:cNvSpPr txBox="1"/>
          <p:nvPr/>
        </p:nvSpPr>
        <p:spPr>
          <a:xfrm>
            <a:off x="1603599" y="3572491"/>
            <a:ext cx="6763384" cy="949960"/>
          </a:xfrm>
          <a:prstGeom prst="rect"/>
        </p:spPr>
        <p:txBody>
          <a:bodyPr bIns="0" lIns="0" rIns="0" rtlCol="0" tIns="63500" vert="horz" wrap="square">
            <a:spAutoFit/>
          </a:bodyPr>
          <a:p>
            <a:pPr algn="r" marR="6350">
              <a:lnSpc>
                <a:spcPct val="100000"/>
              </a:lnSpc>
              <a:spcBef>
                <a:spcPts val="500"/>
              </a:spcBef>
            </a:pPr>
            <a:r>
              <a:rPr dirty="0" sz="2700">
                <a:solidFill>
                  <a:srgbClr val="464646"/>
                </a:solidFill>
                <a:latin typeface="Lucida Sans Unicode"/>
                <a:cs typeface="Lucida Sans Unicode"/>
              </a:rPr>
              <a:t>Estimation</a:t>
            </a:r>
            <a:r>
              <a:rPr dirty="0" sz="2700" spc="-35">
                <a:solidFill>
                  <a:srgbClr val="464646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464646"/>
                </a:solidFill>
                <a:latin typeface="Lucida Sans Unicode"/>
                <a:cs typeface="Lucida Sans Unicode"/>
              </a:rPr>
              <a:t>in</a:t>
            </a:r>
            <a:r>
              <a:rPr dirty="0" sz="2700" spc="-35">
                <a:solidFill>
                  <a:srgbClr val="464646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464646"/>
                </a:solidFill>
                <a:latin typeface="Lucida Sans Unicode"/>
                <a:cs typeface="Lucida Sans Unicode"/>
              </a:rPr>
              <a:t>Agile</a:t>
            </a:r>
            <a:r>
              <a:rPr dirty="0" sz="2700" spc="-35">
                <a:solidFill>
                  <a:srgbClr val="464646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464646"/>
                </a:solidFill>
                <a:latin typeface="Lucida Sans Unicode"/>
                <a:cs typeface="Lucida Sans Unicode"/>
              </a:rPr>
              <a:t>Development</a:t>
            </a:r>
            <a:r>
              <a:rPr dirty="0" sz="2700" spc="-35">
                <a:solidFill>
                  <a:srgbClr val="464646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10">
                <a:solidFill>
                  <a:srgbClr val="464646"/>
                </a:solidFill>
                <a:latin typeface="Lucida Sans Unicode"/>
                <a:cs typeface="Lucida Sans Unicode"/>
              </a:rPr>
              <a:t>(Recap)</a:t>
            </a:r>
            <a:endParaRPr sz="2700">
              <a:latin typeface="Lucida Sans Unicode"/>
              <a:cs typeface="Lucida Sans Unicode"/>
            </a:endParaRPr>
          </a:p>
          <a:p>
            <a:pPr algn="r" marR="5080">
              <a:lnSpc>
                <a:spcPct val="100000"/>
              </a:lnSpc>
              <a:spcBef>
                <a:spcPts val="400"/>
              </a:spcBef>
            </a:pPr>
            <a:r>
              <a:rPr dirty="0" sz="2700">
                <a:solidFill>
                  <a:srgbClr val="464646"/>
                </a:solidFill>
                <a:latin typeface="Lucida Sans Unicode"/>
                <a:cs typeface="Lucida Sans Unicode"/>
              </a:rPr>
              <a:t>Discussed</a:t>
            </a:r>
            <a:r>
              <a:rPr dirty="0" sz="2700" spc="-30">
                <a:solidFill>
                  <a:srgbClr val="464646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464646"/>
                </a:solidFill>
                <a:latin typeface="Lucida Sans Unicode"/>
                <a:cs typeface="Lucida Sans Unicode"/>
              </a:rPr>
              <a:t>before</a:t>
            </a:r>
            <a:r>
              <a:rPr dirty="0" sz="2700" spc="-30">
                <a:solidFill>
                  <a:srgbClr val="464646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464646"/>
                </a:solidFill>
                <a:latin typeface="Lucida Sans Unicode"/>
                <a:cs typeface="Lucida Sans Unicode"/>
              </a:rPr>
              <a:t>Mid</a:t>
            </a:r>
            <a:r>
              <a:rPr dirty="0" sz="2700" spc="-30">
                <a:solidFill>
                  <a:srgbClr val="464646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50">
                <a:solidFill>
                  <a:srgbClr val="464646"/>
                </a:solidFill>
                <a:latin typeface="Lucida Sans Unicode"/>
                <a:cs typeface="Lucida Sans Unicode"/>
              </a:rPr>
              <a:t>1</a:t>
            </a:r>
            <a:endParaRPr sz="2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object 2"/>
          <p:cNvSpPr txBox="1">
            <a:spLocks noGrp="1"/>
          </p:cNvSpPr>
          <p:nvPr>
            <p:ph type="title"/>
          </p:nvPr>
        </p:nvSpPr>
        <p:spPr>
          <a:xfrm>
            <a:off x="457200" y="-148437"/>
            <a:ext cx="7922259" cy="1270927"/>
          </a:xfrm>
          <a:prstGeom prst="rect"/>
        </p:spPr>
        <p:txBody>
          <a:bodyPr bIns="0" lIns="0" rIns="0" rtlCol="0" tIns="661327" vert="horz" wrap="square">
            <a:spAutoFit/>
          </a:bodyPr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dirty="0" spc="360"/>
              <a:t>Estimation</a:t>
            </a:r>
            <a:r>
              <a:rPr dirty="0" spc="-10"/>
              <a:t> </a:t>
            </a:r>
            <a:r>
              <a:rPr dirty="0" spc="325"/>
              <a:t>in</a:t>
            </a:r>
            <a:r>
              <a:rPr dirty="0" spc="-10"/>
              <a:t> </a:t>
            </a:r>
            <a:r>
              <a:rPr dirty="0" spc="380"/>
              <a:t>Agile</a:t>
            </a:r>
          </a:p>
        </p:txBody>
      </p:sp>
      <p:sp>
        <p:nvSpPr>
          <p:cNvPr id="1048721" name="object 3" descr=""/>
          <p:cNvSpPr txBox="1"/>
          <p:nvPr/>
        </p:nvSpPr>
        <p:spPr>
          <a:xfrm>
            <a:off x="618361" y="1734863"/>
            <a:ext cx="5605145" cy="3021330"/>
          </a:xfrm>
          <a:prstGeom prst="rect"/>
        </p:spPr>
        <p:txBody>
          <a:bodyPr bIns="0" lIns="0" rIns="0" rtlCol="0" tIns="12065" vert="horz" wrap="square">
            <a:spAutoFit/>
          </a:bodyPr>
          <a:p>
            <a:pPr indent="-277495" marL="290195">
              <a:lnSpc>
                <a:spcPct val="100000"/>
              </a:lnSpc>
              <a:spcBef>
                <a:spcPts val="95"/>
              </a:spcBef>
              <a:buClr>
                <a:srgbClr val="2DA2BE"/>
              </a:buClr>
              <a:buSzPct val="68000"/>
              <a:buChar char="□"/>
              <a:tabLst>
                <a:tab algn="l" pos="290195"/>
              </a:tabLst>
            </a:pPr>
            <a:r>
              <a:rPr dirty="0" sz="2500">
                <a:latin typeface="Lucida Sans Unicode"/>
                <a:cs typeface="Lucida Sans Unicode"/>
              </a:rPr>
              <a:t>Project</a:t>
            </a:r>
            <a:r>
              <a:rPr dirty="0" sz="2500" spc="-120">
                <a:latin typeface="Lucida Sans Unicode"/>
                <a:cs typeface="Lucida Sans Unicode"/>
              </a:rPr>
              <a:t> </a:t>
            </a:r>
            <a:r>
              <a:rPr dirty="0" sz="2500" spc="-10">
                <a:latin typeface="Lucida Sans Unicode"/>
                <a:cs typeface="Lucida Sans Unicode"/>
              </a:rPr>
              <a:t>Velocity</a:t>
            </a:r>
            <a:endParaRPr sz="2500">
              <a:latin typeface="Lucida Sans Unicode"/>
              <a:cs typeface="Lucida Sans Unicode"/>
            </a:endParaRPr>
          </a:p>
          <a:p>
            <a:pPr indent="-188595" lvl="1" marL="544830" marR="5080">
              <a:lnSpc>
                <a:spcPts val="2300"/>
              </a:lnSpc>
              <a:spcBef>
                <a:spcPts val="365"/>
              </a:spcBef>
              <a:buClr>
                <a:srgbClr val="2DA2BE"/>
              </a:buClr>
              <a:buFont typeface="Verdana"/>
              <a:buChar char="◦"/>
              <a:tabLst>
                <a:tab algn="l" pos="546100"/>
              </a:tabLst>
            </a:pPr>
            <a:r>
              <a:rPr dirty="0" sz="2100">
                <a:latin typeface="Lucida Sans Unicode"/>
                <a:cs typeface="Lucida Sans Unicode"/>
              </a:rPr>
              <a:t>The</a:t>
            </a:r>
            <a:r>
              <a:rPr dirty="0" sz="2100" spc="30">
                <a:latin typeface="Lucida Sans Unicode"/>
                <a:cs typeface="Lucida Sans Unicode"/>
              </a:rPr>
              <a:t> </a:t>
            </a:r>
            <a:r>
              <a:rPr dirty="0" sz="2100">
                <a:latin typeface="Lucida Sans Unicode"/>
                <a:cs typeface="Lucida Sans Unicode"/>
              </a:rPr>
              <a:t>amount</a:t>
            </a:r>
            <a:r>
              <a:rPr dirty="0" sz="2100" spc="30">
                <a:latin typeface="Lucida Sans Unicode"/>
                <a:cs typeface="Lucida Sans Unicode"/>
              </a:rPr>
              <a:t> </a:t>
            </a:r>
            <a:r>
              <a:rPr dirty="0" sz="2100">
                <a:latin typeface="Lucida Sans Unicode"/>
                <a:cs typeface="Lucida Sans Unicode"/>
              </a:rPr>
              <a:t>of</a:t>
            </a:r>
            <a:r>
              <a:rPr dirty="0" sz="2100" spc="35">
                <a:latin typeface="Lucida Sans Unicode"/>
                <a:cs typeface="Lucida Sans Unicode"/>
              </a:rPr>
              <a:t> </a:t>
            </a:r>
            <a:r>
              <a:rPr dirty="0" sz="2100">
                <a:latin typeface="Lucida Sans Unicode"/>
                <a:cs typeface="Lucida Sans Unicode"/>
              </a:rPr>
              <a:t>work</a:t>
            </a:r>
            <a:r>
              <a:rPr dirty="0" sz="2100" spc="30">
                <a:latin typeface="Lucida Sans Unicode"/>
                <a:cs typeface="Lucida Sans Unicode"/>
              </a:rPr>
              <a:t> </a:t>
            </a:r>
            <a:r>
              <a:rPr dirty="0" sz="2100">
                <a:latin typeface="Lucida Sans Unicode"/>
                <a:cs typeface="Lucida Sans Unicode"/>
              </a:rPr>
              <a:t>an</a:t>
            </a:r>
            <a:r>
              <a:rPr dirty="0" sz="2100" spc="35">
                <a:latin typeface="Lucida Sans Unicode"/>
                <a:cs typeface="Lucida Sans Unicode"/>
              </a:rPr>
              <a:t> </a:t>
            </a:r>
            <a:r>
              <a:rPr dirty="0" sz="2100">
                <a:latin typeface="Lucida Sans Unicode"/>
                <a:cs typeface="Lucida Sans Unicode"/>
              </a:rPr>
              <a:t>agile</a:t>
            </a:r>
            <a:r>
              <a:rPr dirty="0" sz="2100" spc="30">
                <a:latin typeface="Lucida Sans Unicode"/>
                <a:cs typeface="Lucida Sans Unicode"/>
              </a:rPr>
              <a:t> </a:t>
            </a:r>
            <a:r>
              <a:rPr dirty="0" sz="2100">
                <a:latin typeface="Lucida Sans Unicode"/>
                <a:cs typeface="Lucida Sans Unicode"/>
              </a:rPr>
              <a:t>team</a:t>
            </a:r>
            <a:r>
              <a:rPr dirty="0" sz="2100" spc="35">
                <a:latin typeface="Lucida Sans Unicode"/>
                <a:cs typeface="Lucida Sans Unicode"/>
              </a:rPr>
              <a:t> </a:t>
            </a:r>
            <a:r>
              <a:rPr dirty="0" sz="2100" spc="-25">
                <a:latin typeface="Lucida Sans Unicode"/>
                <a:cs typeface="Lucida Sans Unicode"/>
              </a:rPr>
              <a:t>can </a:t>
            </a:r>
            <a:r>
              <a:rPr dirty="0" sz="2100" spc="-25">
                <a:latin typeface="Lucida Sans Unicode"/>
                <a:cs typeface="Lucida Sans Unicode"/>
              </a:rPr>
              <a:t>	</a:t>
            </a:r>
            <a:r>
              <a:rPr dirty="0" sz="2100">
                <a:latin typeface="Lucida Sans Unicode"/>
                <a:cs typeface="Lucida Sans Unicode"/>
              </a:rPr>
              <a:t>complete</a:t>
            </a:r>
            <a:r>
              <a:rPr dirty="0" sz="2100" spc="30">
                <a:latin typeface="Lucida Sans Unicode"/>
                <a:cs typeface="Lucida Sans Unicode"/>
              </a:rPr>
              <a:t> </a:t>
            </a:r>
            <a:r>
              <a:rPr dirty="0" sz="2100">
                <a:latin typeface="Lucida Sans Unicode"/>
                <a:cs typeface="Lucida Sans Unicode"/>
              </a:rPr>
              <a:t>in</a:t>
            </a:r>
            <a:r>
              <a:rPr dirty="0" sz="2100" spc="35">
                <a:latin typeface="Lucida Sans Unicode"/>
                <a:cs typeface="Lucida Sans Unicode"/>
              </a:rPr>
              <a:t> </a:t>
            </a:r>
            <a:r>
              <a:rPr dirty="0" sz="2100">
                <a:latin typeface="Lucida Sans Unicode"/>
                <a:cs typeface="Lucida Sans Unicode"/>
              </a:rPr>
              <a:t>a</a:t>
            </a:r>
            <a:r>
              <a:rPr dirty="0" sz="2100" spc="30">
                <a:latin typeface="Lucida Sans Unicode"/>
                <a:cs typeface="Lucida Sans Unicode"/>
              </a:rPr>
              <a:t> </a:t>
            </a:r>
            <a:r>
              <a:rPr dirty="0" sz="2100" spc="-10">
                <a:latin typeface="Lucida Sans Unicode"/>
                <a:cs typeface="Lucida Sans Unicode"/>
              </a:rPr>
              <a:t>sprint</a:t>
            </a:r>
            <a:endParaRPr sz="2100">
              <a:latin typeface="Lucida Sans Unicode"/>
              <a:cs typeface="Lucida Sans Unicode"/>
            </a:endParaRPr>
          </a:p>
          <a:p>
            <a:pPr indent="-277495" marL="290195">
              <a:lnSpc>
                <a:spcPct val="100000"/>
              </a:lnSpc>
              <a:spcBef>
                <a:spcPts val="55"/>
              </a:spcBef>
              <a:buClr>
                <a:srgbClr val="2DA2BE"/>
              </a:buClr>
              <a:buSzPct val="68000"/>
              <a:buChar char="□"/>
              <a:tabLst>
                <a:tab algn="l" pos="290195"/>
              </a:tabLst>
            </a:pPr>
            <a:r>
              <a:rPr dirty="0" sz="2500">
                <a:latin typeface="Lucida Sans Unicode"/>
                <a:cs typeface="Lucida Sans Unicode"/>
              </a:rPr>
              <a:t>Story</a:t>
            </a:r>
            <a:r>
              <a:rPr dirty="0" sz="2500" spc="-90">
                <a:latin typeface="Lucida Sans Unicode"/>
                <a:cs typeface="Lucida Sans Unicode"/>
              </a:rPr>
              <a:t> </a:t>
            </a:r>
            <a:r>
              <a:rPr dirty="0" sz="2500" spc="-10">
                <a:latin typeface="Lucida Sans Unicode"/>
                <a:cs typeface="Lucida Sans Unicode"/>
              </a:rPr>
              <a:t>Points</a:t>
            </a:r>
            <a:endParaRPr sz="2500">
              <a:latin typeface="Lucida Sans Unicode"/>
              <a:cs typeface="Lucida Sans Unicode"/>
            </a:endParaRPr>
          </a:p>
          <a:p>
            <a:pPr indent="-188595" lvl="1" marL="544830" marR="764540">
              <a:lnSpc>
                <a:spcPts val="2300"/>
              </a:lnSpc>
              <a:spcBef>
                <a:spcPts val="360"/>
              </a:spcBef>
              <a:buClr>
                <a:srgbClr val="2DA2BE"/>
              </a:buClr>
              <a:buFont typeface="Verdana"/>
              <a:buChar char="◦"/>
              <a:tabLst>
                <a:tab algn="l" pos="546100"/>
              </a:tabLst>
            </a:pPr>
            <a:r>
              <a:rPr dirty="0" sz="2100">
                <a:latin typeface="Lucida Sans Unicode"/>
                <a:cs typeface="Lucida Sans Unicode"/>
              </a:rPr>
              <a:t>The</a:t>
            </a:r>
            <a:r>
              <a:rPr dirty="0" sz="2100" spc="50">
                <a:latin typeface="Lucida Sans Unicode"/>
                <a:cs typeface="Lucida Sans Unicode"/>
              </a:rPr>
              <a:t> </a:t>
            </a:r>
            <a:r>
              <a:rPr dirty="0" sz="2100">
                <a:latin typeface="Lucida Sans Unicode"/>
                <a:cs typeface="Lucida Sans Unicode"/>
              </a:rPr>
              <a:t>amount</a:t>
            </a:r>
            <a:r>
              <a:rPr dirty="0" sz="2100" spc="50">
                <a:latin typeface="Lucida Sans Unicode"/>
                <a:cs typeface="Lucida Sans Unicode"/>
              </a:rPr>
              <a:t> </a:t>
            </a:r>
            <a:r>
              <a:rPr dirty="0" sz="2100">
                <a:latin typeface="Lucida Sans Unicode"/>
                <a:cs typeface="Lucida Sans Unicode"/>
              </a:rPr>
              <a:t>of</a:t>
            </a:r>
            <a:r>
              <a:rPr dirty="0" sz="2100" spc="50">
                <a:latin typeface="Lucida Sans Unicode"/>
                <a:cs typeface="Lucida Sans Unicode"/>
              </a:rPr>
              <a:t> </a:t>
            </a:r>
            <a:r>
              <a:rPr dirty="0" sz="2100">
                <a:latin typeface="Lucida Sans Unicode"/>
                <a:cs typeface="Lucida Sans Unicode"/>
              </a:rPr>
              <a:t>effort</a:t>
            </a:r>
            <a:r>
              <a:rPr dirty="0" sz="2100" spc="50">
                <a:latin typeface="Lucida Sans Unicode"/>
                <a:cs typeface="Lucida Sans Unicode"/>
              </a:rPr>
              <a:t> </a:t>
            </a:r>
            <a:r>
              <a:rPr dirty="0" sz="2100">
                <a:latin typeface="Lucida Sans Unicode"/>
                <a:cs typeface="Lucida Sans Unicode"/>
              </a:rPr>
              <a:t>required</a:t>
            </a:r>
            <a:r>
              <a:rPr dirty="0" sz="2100" spc="50">
                <a:latin typeface="Lucida Sans Unicode"/>
                <a:cs typeface="Lucida Sans Unicode"/>
              </a:rPr>
              <a:t> </a:t>
            </a:r>
            <a:r>
              <a:rPr dirty="0" sz="2100" spc="-25">
                <a:latin typeface="Lucida Sans Unicode"/>
                <a:cs typeface="Lucida Sans Unicode"/>
              </a:rPr>
              <a:t>to </a:t>
            </a:r>
            <a:r>
              <a:rPr dirty="0" sz="2100" spc="-25">
                <a:latin typeface="Lucida Sans Unicode"/>
                <a:cs typeface="Lucida Sans Unicode"/>
              </a:rPr>
              <a:t>	</a:t>
            </a:r>
            <a:r>
              <a:rPr dirty="0" sz="2100">
                <a:latin typeface="Lucida Sans Unicode"/>
                <a:cs typeface="Lucida Sans Unicode"/>
              </a:rPr>
              <a:t>implement</a:t>
            </a:r>
            <a:r>
              <a:rPr dirty="0" sz="2100" spc="55">
                <a:latin typeface="Lucida Sans Unicode"/>
                <a:cs typeface="Lucida Sans Unicode"/>
              </a:rPr>
              <a:t> </a:t>
            </a:r>
            <a:r>
              <a:rPr dirty="0" sz="2100">
                <a:latin typeface="Lucida Sans Unicode"/>
                <a:cs typeface="Lucida Sans Unicode"/>
              </a:rPr>
              <a:t>a</a:t>
            </a:r>
            <a:r>
              <a:rPr dirty="0" sz="2100" spc="50">
                <a:latin typeface="Lucida Sans Unicode"/>
                <a:cs typeface="Lucida Sans Unicode"/>
              </a:rPr>
              <a:t> </a:t>
            </a:r>
            <a:r>
              <a:rPr dirty="0" sz="2100">
                <a:latin typeface="Lucida Sans Unicode"/>
                <a:cs typeface="Lucida Sans Unicode"/>
              </a:rPr>
              <a:t>user</a:t>
            </a:r>
            <a:r>
              <a:rPr dirty="0" sz="2100" spc="55">
                <a:latin typeface="Lucida Sans Unicode"/>
                <a:cs typeface="Lucida Sans Unicode"/>
              </a:rPr>
              <a:t> </a:t>
            </a:r>
            <a:r>
              <a:rPr dirty="0" sz="2100" spc="-10">
                <a:latin typeface="Lucida Sans Unicode"/>
                <a:cs typeface="Lucida Sans Unicode"/>
              </a:rPr>
              <a:t>story</a:t>
            </a:r>
            <a:endParaRPr sz="2100">
              <a:latin typeface="Lucida Sans Unicode"/>
              <a:cs typeface="Lucida Sans Unicode"/>
            </a:endParaRPr>
          </a:p>
          <a:p>
            <a:pPr indent="-277495" marL="290195">
              <a:lnSpc>
                <a:spcPct val="100000"/>
              </a:lnSpc>
              <a:spcBef>
                <a:spcPts val="55"/>
              </a:spcBef>
              <a:buClr>
                <a:srgbClr val="2DA2BE"/>
              </a:buClr>
              <a:buSzPct val="68000"/>
              <a:buChar char="□"/>
              <a:tabLst>
                <a:tab algn="l" pos="290195"/>
              </a:tabLst>
            </a:pPr>
            <a:r>
              <a:rPr dirty="0" sz="2500">
                <a:latin typeface="Lucida Sans Unicode"/>
                <a:cs typeface="Lucida Sans Unicode"/>
              </a:rPr>
              <a:t>User</a:t>
            </a:r>
            <a:r>
              <a:rPr dirty="0" sz="2500" spc="-75">
                <a:latin typeface="Lucida Sans Unicode"/>
                <a:cs typeface="Lucida Sans Unicode"/>
              </a:rPr>
              <a:t> </a:t>
            </a:r>
            <a:r>
              <a:rPr dirty="0" sz="2500" spc="-10">
                <a:latin typeface="Lucida Sans Unicode"/>
                <a:cs typeface="Lucida Sans Unicode"/>
              </a:rPr>
              <a:t>Story</a:t>
            </a:r>
            <a:endParaRPr sz="2500">
              <a:latin typeface="Lucida Sans Unicode"/>
              <a:cs typeface="Lucida Sans Unicode"/>
            </a:endParaRPr>
          </a:p>
          <a:p>
            <a:pPr indent="-188595" lvl="1" marL="544830" marR="120014">
              <a:lnSpc>
                <a:spcPts val="2300"/>
              </a:lnSpc>
              <a:spcBef>
                <a:spcPts val="360"/>
              </a:spcBef>
              <a:buClr>
                <a:srgbClr val="2DA2BE"/>
              </a:buClr>
              <a:buFont typeface="Verdana"/>
              <a:buChar char="◦"/>
              <a:tabLst>
                <a:tab algn="l" pos="546100"/>
              </a:tabLst>
            </a:pPr>
            <a:r>
              <a:rPr dirty="0" sz="2100">
                <a:latin typeface="Lucida Sans Unicode"/>
                <a:cs typeface="Lucida Sans Unicode"/>
              </a:rPr>
              <a:t>A</a:t>
            </a:r>
            <a:r>
              <a:rPr dirty="0" sz="2100" spc="55">
                <a:latin typeface="Lucida Sans Unicode"/>
                <a:cs typeface="Lucida Sans Unicode"/>
              </a:rPr>
              <a:t> </a:t>
            </a:r>
            <a:r>
              <a:rPr dirty="0" sz="2100">
                <a:latin typeface="Lucida Sans Unicode"/>
                <a:cs typeface="Lucida Sans Unicode"/>
              </a:rPr>
              <a:t>requirement</a:t>
            </a:r>
            <a:r>
              <a:rPr dirty="0" sz="2100" spc="55">
                <a:latin typeface="Lucida Sans Unicode"/>
                <a:cs typeface="Lucida Sans Unicode"/>
              </a:rPr>
              <a:t> </a:t>
            </a:r>
            <a:r>
              <a:rPr dirty="0" sz="2100">
                <a:latin typeface="Lucida Sans Unicode"/>
                <a:cs typeface="Lucida Sans Unicode"/>
              </a:rPr>
              <a:t>or</a:t>
            </a:r>
            <a:r>
              <a:rPr dirty="0" sz="2100" spc="55">
                <a:latin typeface="Lucida Sans Unicode"/>
                <a:cs typeface="Lucida Sans Unicode"/>
              </a:rPr>
              <a:t> </a:t>
            </a:r>
            <a:r>
              <a:rPr dirty="0" sz="2100">
                <a:latin typeface="Lucida Sans Unicode"/>
                <a:cs typeface="Lucida Sans Unicode"/>
              </a:rPr>
              <a:t>general</a:t>
            </a:r>
            <a:r>
              <a:rPr dirty="0" sz="2100" spc="55">
                <a:latin typeface="Lucida Sans Unicode"/>
                <a:cs typeface="Lucida Sans Unicode"/>
              </a:rPr>
              <a:t> </a:t>
            </a:r>
            <a:r>
              <a:rPr dirty="0" sz="2100" spc="-10">
                <a:latin typeface="Lucida Sans Unicode"/>
                <a:cs typeface="Lucida Sans Unicode"/>
              </a:rPr>
              <a:t>explanation </a:t>
            </a:r>
            <a:r>
              <a:rPr dirty="0" sz="2100" spc="-10">
                <a:latin typeface="Lucida Sans Unicode"/>
                <a:cs typeface="Lucida Sans Unicode"/>
              </a:rPr>
              <a:t>	</a:t>
            </a:r>
            <a:r>
              <a:rPr dirty="0" sz="2100">
                <a:latin typeface="Lucida Sans Unicode"/>
                <a:cs typeface="Lucida Sans Unicode"/>
              </a:rPr>
              <a:t>of</a:t>
            </a:r>
            <a:r>
              <a:rPr dirty="0" sz="2100" spc="35">
                <a:latin typeface="Lucida Sans Unicode"/>
                <a:cs typeface="Lucida Sans Unicode"/>
              </a:rPr>
              <a:t> </a:t>
            </a:r>
            <a:r>
              <a:rPr dirty="0" sz="2100">
                <a:latin typeface="Lucida Sans Unicode"/>
                <a:cs typeface="Lucida Sans Unicode"/>
              </a:rPr>
              <a:t>software</a:t>
            </a:r>
            <a:r>
              <a:rPr dirty="0" sz="2100" spc="40">
                <a:latin typeface="Lucida Sans Unicode"/>
                <a:cs typeface="Lucida Sans Unicode"/>
              </a:rPr>
              <a:t> </a:t>
            </a:r>
            <a:r>
              <a:rPr dirty="0" sz="2100" spc="-10">
                <a:latin typeface="Lucida Sans Unicode"/>
                <a:cs typeface="Lucida Sans Unicode"/>
              </a:rPr>
              <a:t>feature</a:t>
            </a:r>
            <a:endParaRPr sz="2100">
              <a:latin typeface="Lucida Sans Unicode"/>
              <a:cs typeface="Lucida Sans Unicode"/>
            </a:endParaRPr>
          </a:p>
        </p:txBody>
      </p:sp>
      <p:pic>
        <p:nvPicPr>
          <p:cNvPr id="2097160" name="object 4" descr="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5562600" y="4648200"/>
            <a:ext cx="3307555" cy="2007393"/>
          </a:xfrm>
          <a:prstGeom prst="rect"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1" name="object 2" descr="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423987" y="5362574"/>
            <a:ext cx="4900612" cy="1343025"/>
          </a:xfrm>
          <a:prstGeom prst="rect"/>
        </p:spPr>
      </p:pic>
      <p:sp>
        <p:nvSpPr>
          <p:cNvPr id="1048722" name="object 3"/>
          <p:cNvSpPr txBox="1">
            <a:spLocks noGrp="1"/>
          </p:cNvSpPr>
          <p:nvPr>
            <p:ph type="title"/>
          </p:nvPr>
        </p:nvSpPr>
        <p:spPr>
          <a:xfrm>
            <a:off x="457200" y="-148437"/>
            <a:ext cx="7922259" cy="1270927"/>
          </a:xfrm>
          <a:prstGeom prst="rect"/>
        </p:spPr>
        <p:txBody>
          <a:bodyPr bIns="0" lIns="0" rIns="0" rtlCol="0" tIns="661327" vert="horz" wrap="square">
            <a:spAutoFit/>
          </a:bodyPr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dirty="0" spc="355"/>
              <a:t>Examples</a:t>
            </a:r>
            <a:r>
              <a:rPr dirty="0" spc="-5"/>
              <a:t> </a:t>
            </a:r>
            <a:r>
              <a:rPr dirty="0" spc="400"/>
              <a:t>of</a:t>
            </a:r>
            <a:r>
              <a:rPr dirty="0" spc="-5"/>
              <a:t> </a:t>
            </a:r>
            <a:r>
              <a:rPr dirty="0" spc="409"/>
              <a:t>User</a:t>
            </a:r>
            <a:r>
              <a:rPr dirty="0" spc="-5"/>
              <a:t> </a:t>
            </a:r>
            <a:r>
              <a:rPr dirty="0" spc="320"/>
              <a:t>Stories</a:t>
            </a:r>
          </a:p>
        </p:txBody>
      </p:sp>
      <p:sp>
        <p:nvSpPr>
          <p:cNvPr id="1048723" name="object 4" descr=""/>
          <p:cNvSpPr txBox="1"/>
          <p:nvPr/>
        </p:nvSpPr>
        <p:spPr>
          <a:xfrm>
            <a:off x="616677" y="1493011"/>
            <a:ext cx="7857490" cy="3771901"/>
          </a:xfrm>
          <a:prstGeom prst="rect"/>
        </p:spPr>
        <p:txBody>
          <a:bodyPr bIns="0" lIns="0" rIns="0" rtlCol="0" tIns="12700" vert="horz" wrap="square">
            <a:spAutoFit/>
          </a:bodyPr>
          <a:p>
            <a:pPr algn="just" indent="-279400" marL="291465" marR="727710">
              <a:lnSpc>
                <a:spcPct val="100000"/>
              </a:lnSpc>
              <a:spcBef>
                <a:spcPts val="100"/>
              </a:spcBef>
              <a:buClr>
                <a:srgbClr val="2DA2BE"/>
              </a:buClr>
              <a:buSzPct val="66666"/>
              <a:buChar char="□"/>
              <a:tabLst>
                <a:tab algn="l" pos="291465"/>
              </a:tabLst>
            </a:pPr>
            <a:r>
              <a:rPr dirty="0" sz="2700">
                <a:latin typeface="Lucida Sans Unicode"/>
                <a:cs typeface="Lucida Sans Unicode"/>
              </a:rPr>
              <a:t>As</a:t>
            </a:r>
            <a:r>
              <a:rPr dirty="0" sz="2700" spc="-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a </a:t>
            </a:r>
            <a:r>
              <a:rPr dirty="0" sz="2700" spc="170">
                <a:latin typeface="Lucida Sans Unicode"/>
                <a:cs typeface="Lucida Sans Unicode"/>
              </a:rPr>
              <a:t>[</a:t>
            </a:r>
            <a:r>
              <a:rPr b="1" dirty="0" sz="2700" spc="170">
                <a:latin typeface="Trebuchet MS"/>
                <a:cs typeface="Trebuchet MS"/>
              </a:rPr>
              <a:t>customer</a:t>
            </a:r>
            <a:r>
              <a:rPr dirty="0" sz="2700" spc="170">
                <a:latin typeface="Lucida Sans Unicode"/>
                <a:cs typeface="Lucida Sans Unicode"/>
              </a:rPr>
              <a:t>],</a:t>
            </a:r>
            <a:r>
              <a:rPr dirty="0" sz="2700" spc="-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I want</a:t>
            </a:r>
            <a:r>
              <a:rPr dirty="0" sz="2700" spc="-5">
                <a:latin typeface="Lucida Sans Unicode"/>
                <a:cs typeface="Lucida Sans Unicode"/>
              </a:rPr>
              <a:t> </a:t>
            </a:r>
            <a:r>
              <a:rPr dirty="0" sz="2700" spc="280">
                <a:latin typeface="Lucida Sans Unicode"/>
                <a:cs typeface="Lucida Sans Unicode"/>
              </a:rPr>
              <a:t>[</a:t>
            </a:r>
            <a:r>
              <a:rPr b="1" dirty="0" sz="2700" spc="280">
                <a:latin typeface="Trebuchet MS"/>
                <a:cs typeface="Trebuchet MS"/>
              </a:rPr>
              <a:t>shopping</a:t>
            </a:r>
            <a:r>
              <a:rPr b="1" dirty="0" sz="2700" spc="-5">
                <a:latin typeface="Trebuchet MS"/>
                <a:cs typeface="Trebuchet MS"/>
              </a:rPr>
              <a:t> </a:t>
            </a:r>
            <a:r>
              <a:rPr b="1" dirty="0" sz="2700" spc="125">
                <a:latin typeface="Trebuchet MS"/>
                <a:cs typeface="Trebuchet MS"/>
              </a:rPr>
              <a:t>cart </a:t>
            </a:r>
            <a:r>
              <a:rPr b="1" dirty="0" sz="2700" spc="145">
                <a:latin typeface="Trebuchet MS"/>
                <a:cs typeface="Trebuchet MS"/>
              </a:rPr>
              <a:t>feature</a:t>
            </a:r>
            <a:r>
              <a:rPr dirty="0" sz="2700" spc="145">
                <a:latin typeface="Lucida Sans Unicode"/>
                <a:cs typeface="Lucida Sans Unicode"/>
              </a:rPr>
              <a:t>]</a:t>
            </a:r>
            <a:r>
              <a:rPr dirty="0" sz="2700" spc="-1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so</a:t>
            </a:r>
            <a:r>
              <a:rPr dirty="0" sz="2700" spc="-1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that</a:t>
            </a:r>
            <a:r>
              <a:rPr dirty="0" sz="2700" spc="-10">
                <a:latin typeface="Lucida Sans Unicode"/>
                <a:cs typeface="Lucida Sans Unicode"/>
              </a:rPr>
              <a:t> </a:t>
            </a:r>
            <a:r>
              <a:rPr dirty="0" sz="2700" spc="110">
                <a:latin typeface="Lucida Sans Unicode"/>
                <a:cs typeface="Lucida Sans Unicode"/>
              </a:rPr>
              <a:t>[</a:t>
            </a:r>
            <a:r>
              <a:rPr b="1" dirty="0" sz="2700" spc="110">
                <a:latin typeface="Trebuchet MS"/>
                <a:cs typeface="Trebuchet MS"/>
              </a:rPr>
              <a:t>I</a:t>
            </a:r>
            <a:r>
              <a:rPr b="1" dirty="0" sz="2700" spc="-20">
                <a:latin typeface="Trebuchet MS"/>
                <a:cs typeface="Trebuchet MS"/>
              </a:rPr>
              <a:t> </a:t>
            </a:r>
            <a:r>
              <a:rPr b="1" dirty="0" sz="2700" spc="185">
                <a:latin typeface="Trebuchet MS"/>
                <a:cs typeface="Trebuchet MS"/>
              </a:rPr>
              <a:t>can</a:t>
            </a:r>
            <a:r>
              <a:rPr b="1" dirty="0" sz="2700" spc="-15">
                <a:latin typeface="Trebuchet MS"/>
                <a:cs typeface="Trebuchet MS"/>
              </a:rPr>
              <a:t> </a:t>
            </a:r>
            <a:r>
              <a:rPr b="1" dirty="0" sz="2700" spc="245">
                <a:latin typeface="Trebuchet MS"/>
                <a:cs typeface="Trebuchet MS"/>
              </a:rPr>
              <a:t>easily</a:t>
            </a:r>
            <a:r>
              <a:rPr b="1" dirty="0" sz="2700" spc="-10">
                <a:latin typeface="Trebuchet MS"/>
                <a:cs typeface="Trebuchet MS"/>
              </a:rPr>
              <a:t> </a:t>
            </a:r>
            <a:r>
              <a:rPr b="1" dirty="0" sz="2700" spc="225">
                <a:latin typeface="Trebuchet MS"/>
                <a:cs typeface="Trebuchet MS"/>
              </a:rPr>
              <a:t>purchase </a:t>
            </a:r>
            <a:r>
              <a:rPr b="1" dirty="0" sz="2700" spc="240">
                <a:latin typeface="Trebuchet MS"/>
                <a:cs typeface="Trebuchet MS"/>
              </a:rPr>
              <a:t>items</a:t>
            </a:r>
            <a:r>
              <a:rPr b="1" dirty="0" sz="2700" spc="15">
                <a:latin typeface="Trebuchet MS"/>
                <a:cs typeface="Trebuchet MS"/>
              </a:rPr>
              <a:t> </a:t>
            </a:r>
            <a:r>
              <a:rPr b="1" dirty="0" sz="2700" spc="140">
                <a:latin typeface="Trebuchet MS"/>
                <a:cs typeface="Trebuchet MS"/>
              </a:rPr>
              <a:t>online</a:t>
            </a:r>
            <a:r>
              <a:rPr dirty="0" sz="2700" spc="140">
                <a:latin typeface="Lucida Sans Unicode"/>
                <a:cs typeface="Lucida Sans Unicode"/>
              </a:rPr>
              <a:t>].</a:t>
            </a:r>
            <a:endParaRPr sz="2700">
              <a:latin typeface="Lucida Sans Unicode"/>
              <a:cs typeface="Lucida Sans Unicode"/>
            </a:endParaRPr>
          </a:p>
          <a:p>
            <a:pPr indent="-279400" marL="291465" marR="484505">
              <a:lnSpc>
                <a:spcPct val="100000"/>
              </a:lnSpc>
              <a:spcBef>
                <a:spcPts val="400"/>
              </a:spcBef>
              <a:buClr>
                <a:srgbClr val="2DA2BE"/>
              </a:buClr>
              <a:buSzPct val="66666"/>
              <a:buChar char="□"/>
              <a:tabLst>
                <a:tab algn="l" pos="291465"/>
              </a:tabLst>
            </a:pPr>
            <a:r>
              <a:rPr dirty="0" sz="2700">
                <a:latin typeface="Lucida Sans Unicode"/>
                <a:cs typeface="Lucida Sans Unicode"/>
              </a:rPr>
              <a:t>As</a:t>
            </a:r>
            <a:r>
              <a:rPr dirty="0" sz="2700" spc="-1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an</a:t>
            </a:r>
            <a:r>
              <a:rPr dirty="0" sz="2700" spc="-10">
                <a:latin typeface="Lucida Sans Unicode"/>
                <a:cs typeface="Lucida Sans Unicode"/>
              </a:rPr>
              <a:t> </a:t>
            </a:r>
            <a:r>
              <a:rPr dirty="0" sz="2700" spc="195">
                <a:latin typeface="Lucida Sans Unicode"/>
                <a:cs typeface="Lucida Sans Unicode"/>
              </a:rPr>
              <a:t>[</a:t>
            </a:r>
            <a:r>
              <a:rPr b="1" dirty="0" sz="2700" spc="195">
                <a:latin typeface="Trebuchet MS"/>
                <a:cs typeface="Trebuchet MS"/>
              </a:rPr>
              <a:t>manager</a:t>
            </a:r>
            <a:r>
              <a:rPr dirty="0" sz="2700" spc="195">
                <a:latin typeface="Lucida Sans Unicode"/>
                <a:cs typeface="Lucida Sans Unicode"/>
              </a:rPr>
              <a:t>],</a:t>
            </a:r>
            <a:r>
              <a:rPr dirty="0" sz="2700" spc="-1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I</a:t>
            </a:r>
            <a:r>
              <a:rPr dirty="0" sz="2700" spc="-1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want</a:t>
            </a:r>
            <a:r>
              <a:rPr dirty="0" sz="2700" spc="-1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to</a:t>
            </a:r>
            <a:r>
              <a:rPr dirty="0" sz="2700" spc="-10">
                <a:latin typeface="Lucida Sans Unicode"/>
                <a:cs typeface="Lucida Sans Unicode"/>
              </a:rPr>
              <a:t> </a:t>
            </a:r>
            <a:r>
              <a:rPr dirty="0" sz="2700" spc="170">
                <a:latin typeface="Lucida Sans Unicode"/>
                <a:cs typeface="Lucida Sans Unicode"/>
              </a:rPr>
              <a:t>[</a:t>
            </a:r>
            <a:r>
              <a:rPr b="1" dirty="0" sz="2700" spc="170">
                <a:latin typeface="Trebuchet MS"/>
                <a:cs typeface="Trebuchet MS"/>
              </a:rPr>
              <a:t>generate</a:t>
            </a:r>
            <a:r>
              <a:rPr b="1" dirty="0" sz="2700" spc="-15">
                <a:latin typeface="Trebuchet MS"/>
                <a:cs typeface="Trebuchet MS"/>
              </a:rPr>
              <a:t> </a:t>
            </a:r>
            <a:r>
              <a:rPr b="1" dirty="0" sz="2700" spc="190">
                <a:latin typeface="Trebuchet MS"/>
                <a:cs typeface="Trebuchet MS"/>
              </a:rPr>
              <a:t>a </a:t>
            </a:r>
            <a:r>
              <a:rPr b="1" dirty="0" sz="2700" spc="165">
                <a:latin typeface="Trebuchet MS"/>
                <a:cs typeface="Trebuchet MS"/>
              </a:rPr>
              <a:t>report</a:t>
            </a:r>
            <a:r>
              <a:rPr dirty="0" sz="2700" spc="165">
                <a:latin typeface="Lucida Sans Unicode"/>
                <a:cs typeface="Lucida Sans Unicode"/>
              </a:rPr>
              <a:t>]</a:t>
            </a:r>
            <a:r>
              <a:rPr dirty="0" sz="2700" spc="-1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so</a:t>
            </a:r>
            <a:r>
              <a:rPr dirty="0" sz="2700" spc="-1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that</a:t>
            </a:r>
            <a:r>
              <a:rPr dirty="0" sz="2700" spc="-10">
                <a:latin typeface="Lucida Sans Unicode"/>
                <a:cs typeface="Lucida Sans Unicode"/>
              </a:rPr>
              <a:t> </a:t>
            </a:r>
            <a:r>
              <a:rPr dirty="0" sz="2700" spc="110">
                <a:latin typeface="Lucida Sans Unicode"/>
                <a:cs typeface="Lucida Sans Unicode"/>
              </a:rPr>
              <a:t>[</a:t>
            </a:r>
            <a:r>
              <a:rPr b="1" dirty="0" sz="2700" spc="110">
                <a:latin typeface="Trebuchet MS"/>
                <a:cs typeface="Trebuchet MS"/>
              </a:rPr>
              <a:t>I</a:t>
            </a:r>
            <a:r>
              <a:rPr b="1" dirty="0" sz="2700" spc="-15">
                <a:latin typeface="Trebuchet MS"/>
                <a:cs typeface="Trebuchet MS"/>
              </a:rPr>
              <a:t> </a:t>
            </a:r>
            <a:r>
              <a:rPr b="1" dirty="0" sz="2700" spc="185">
                <a:latin typeface="Trebuchet MS"/>
                <a:cs typeface="Trebuchet MS"/>
              </a:rPr>
              <a:t>can</a:t>
            </a:r>
            <a:r>
              <a:rPr b="1" dirty="0" sz="2700" spc="-20">
                <a:latin typeface="Trebuchet MS"/>
                <a:cs typeface="Trebuchet MS"/>
              </a:rPr>
              <a:t> </a:t>
            </a:r>
            <a:r>
              <a:rPr b="1" dirty="0" sz="2700" spc="250">
                <a:latin typeface="Trebuchet MS"/>
                <a:cs typeface="Trebuchet MS"/>
              </a:rPr>
              <a:t>understand</a:t>
            </a:r>
            <a:r>
              <a:rPr b="1" dirty="0" sz="2700" spc="-15">
                <a:latin typeface="Trebuchet MS"/>
                <a:cs typeface="Trebuchet MS"/>
              </a:rPr>
              <a:t> </a:t>
            </a:r>
            <a:r>
              <a:rPr b="1" dirty="0" sz="2700" spc="185">
                <a:latin typeface="Trebuchet MS"/>
                <a:cs typeface="Trebuchet MS"/>
              </a:rPr>
              <a:t>which </a:t>
            </a:r>
            <a:r>
              <a:rPr b="1" dirty="0" sz="2700" spc="225">
                <a:latin typeface="Trebuchet MS"/>
                <a:cs typeface="Trebuchet MS"/>
              </a:rPr>
              <a:t>departments</a:t>
            </a:r>
            <a:r>
              <a:rPr b="1" dirty="0" sz="2700" spc="15">
                <a:latin typeface="Trebuchet MS"/>
                <a:cs typeface="Trebuchet MS"/>
              </a:rPr>
              <a:t> </a:t>
            </a:r>
            <a:r>
              <a:rPr b="1" dirty="0" sz="2700" spc="180">
                <a:latin typeface="Trebuchet MS"/>
                <a:cs typeface="Trebuchet MS"/>
              </a:rPr>
              <a:t>need</a:t>
            </a:r>
            <a:r>
              <a:rPr b="1" dirty="0" sz="2700" spc="15">
                <a:latin typeface="Trebuchet MS"/>
                <a:cs typeface="Trebuchet MS"/>
              </a:rPr>
              <a:t> </a:t>
            </a:r>
            <a:r>
              <a:rPr b="1" dirty="0" sz="2700" spc="240">
                <a:latin typeface="Trebuchet MS"/>
                <a:cs typeface="Trebuchet MS"/>
              </a:rPr>
              <a:t>more</a:t>
            </a:r>
            <a:r>
              <a:rPr b="1" dirty="0" sz="2700" spc="10">
                <a:latin typeface="Trebuchet MS"/>
                <a:cs typeface="Trebuchet MS"/>
              </a:rPr>
              <a:t> </a:t>
            </a:r>
            <a:r>
              <a:rPr b="1" dirty="0" sz="2700" spc="185">
                <a:latin typeface="Trebuchet MS"/>
                <a:cs typeface="Trebuchet MS"/>
              </a:rPr>
              <a:t>resources</a:t>
            </a:r>
            <a:r>
              <a:rPr dirty="0" sz="2700" spc="185">
                <a:latin typeface="Lucida Sans Unicode"/>
                <a:cs typeface="Lucida Sans Unicode"/>
              </a:rPr>
              <a:t>].</a:t>
            </a:r>
            <a:endParaRPr sz="2700">
              <a:latin typeface="Lucida Sans Unicode"/>
              <a:cs typeface="Lucida Sans Unicode"/>
            </a:endParaRPr>
          </a:p>
          <a:p>
            <a:pPr indent="-279400" marL="291465" marR="5080">
              <a:lnSpc>
                <a:spcPct val="100000"/>
              </a:lnSpc>
              <a:spcBef>
                <a:spcPts val="400"/>
              </a:spcBef>
              <a:buClr>
                <a:srgbClr val="2DA2BE"/>
              </a:buClr>
              <a:buSzPct val="66666"/>
              <a:buChar char="□"/>
              <a:tabLst>
                <a:tab algn="l" pos="291465"/>
              </a:tabLst>
            </a:pPr>
            <a:r>
              <a:rPr dirty="0" sz="2700">
                <a:latin typeface="Lucida Sans Unicode"/>
                <a:cs typeface="Lucida Sans Unicode"/>
              </a:rPr>
              <a:t>As</a:t>
            </a:r>
            <a:r>
              <a:rPr dirty="0" sz="2700" spc="-1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a</a:t>
            </a:r>
            <a:r>
              <a:rPr dirty="0" sz="2700" spc="-5">
                <a:latin typeface="Lucida Sans Unicode"/>
                <a:cs typeface="Lucida Sans Unicode"/>
              </a:rPr>
              <a:t> </a:t>
            </a:r>
            <a:r>
              <a:rPr dirty="0" sz="2700" spc="170">
                <a:latin typeface="Lucida Sans Unicode"/>
                <a:cs typeface="Lucida Sans Unicode"/>
              </a:rPr>
              <a:t>[</a:t>
            </a:r>
            <a:r>
              <a:rPr b="1" dirty="0" sz="2700" spc="170">
                <a:latin typeface="Trebuchet MS"/>
                <a:cs typeface="Trebuchet MS"/>
              </a:rPr>
              <a:t>customer</a:t>
            </a:r>
            <a:r>
              <a:rPr dirty="0" sz="2700" spc="170">
                <a:latin typeface="Lucida Sans Unicode"/>
                <a:cs typeface="Lucida Sans Unicode"/>
              </a:rPr>
              <a:t>],</a:t>
            </a:r>
            <a:r>
              <a:rPr dirty="0" sz="2700" spc="-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I</a:t>
            </a:r>
            <a:r>
              <a:rPr dirty="0" sz="2700" spc="-1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want</a:t>
            </a:r>
            <a:r>
              <a:rPr dirty="0" sz="2700" spc="-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to</a:t>
            </a:r>
            <a:r>
              <a:rPr dirty="0" sz="2700" spc="-5">
                <a:latin typeface="Lucida Sans Unicode"/>
                <a:cs typeface="Lucida Sans Unicode"/>
              </a:rPr>
              <a:t> </a:t>
            </a:r>
            <a:r>
              <a:rPr dirty="0" sz="2700" spc="135">
                <a:latin typeface="Lucida Sans Unicode"/>
                <a:cs typeface="Lucida Sans Unicode"/>
              </a:rPr>
              <a:t>[</a:t>
            </a:r>
            <a:r>
              <a:rPr b="1" dirty="0" sz="2700" spc="135">
                <a:latin typeface="Trebuchet MS"/>
                <a:cs typeface="Trebuchet MS"/>
              </a:rPr>
              <a:t>receive</a:t>
            </a:r>
            <a:r>
              <a:rPr b="1" dirty="0" sz="2700" spc="-15">
                <a:latin typeface="Trebuchet MS"/>
                <a:cs typeface="Trebuchet MS"/>
              </a:rPr>
              <a:t> </a:t>
            </a:r>
            <a:r>
              <a:rPr b="1" dirty="0" sz="2700" spc="240">
                <a:latin typeface="Trebuchet MS"/>
                <a:cs typeface="Trebuchet MS"/>
              </a:rPr>
              <a:t>an</a:t>
            </a:r>
            <a:r>
              <a:rPr b="1" dirty="0" sz="2700" spc="-10">
                <a:latin typeface="Trebuchet MS"/>
                <a:cs typeface="Trebuchet MS"/>
              </a:rPr>
              <a:t> </a:t>
            </a:r>
            <a:r>
              <a:rPr b="1" dirty="0" sz="2700" spc="285">
                <a:latin typeface="Trebuchet MS"/>
                <a:cs typeface="Trebuchet MS"/>
              </a:rPr>
              <a:t>SMS </a:t>
            </a:r>
            <a:r>
              <a:rPr b="1" dirty="0" sz="2700" spc="215">
                <a:latin typeface="Trebuchet MS"/>
                <a:cs typeface="Trebuchet MS"/>
              </a:rPr>
              <a:t>when</a:t>
            </a:r>
            <a:r>
              <a:rPr b="1" dirty="0" sz="2700" spc="-15">
                <a:latin typeface="Trebuchet MS"/>
                <a:cs typeface="Trebuchet MS"/>
              </a:rPr>
              <a:t> </a:t>
            </a:r>
            <a:r>
              <a:rPr b="1" dirty="0" sz="2700" spc="150">
                <a:latin typeface="Trebuchet MS"/>
                <a:cs typeface="Trebuchet MS"/>
              </a:rPr>
              <a:t>the</a:t>
            </a:r>
            <a:r>
              <a:rPr b="1" dirty="0" sz="2700" spc="-10">
                <a:latin typeface="Trebuchet MS"/>
                <a:cs typeface="Trebuchet MS"/>
              </a:rPr>
              <a:t> </a:t>
            </a:r>
            <a:r>
              <a:rPr b="1" dirty="0" sz="2700" spc="180">
                <a:latin typeface="Trebuchet MS"/>
                <a:cs typeface="Trebuchet MS"/>
              </a:rPr>
              <a:t>item</a:t>
            </a:r>
            <a:r>
              <a:rPr b="1" dirty="0" sz="2700" spc="-15">
                <a:latin typeface="Trebuchet MS"/>
                <a:cs typeface="Trebuchet MS"/>
              </a:rPr>
              <a:t> </a:t>
            </a:r>
            <a:r>
              <a:rPr b="1" dirty="0" sz="2700" spc="340">
                <a:latin typeface="Trebuchet MS"/>
                <a:cs typeface="Trebuchet MS"/>
              </a:rPr>
              <a:t>is</a:t>
            </a:r>
            <a:r>
              <a:rPr b="1" dirty="0" sz="2700" spc="-5">
                <a:latin typeface="Trebuchet MS"/>
                <a:cs typeface="Trebuchet MS"/>
              </a:rPr>
              <a:t> </a:t>
            </a:r>
            <a:r>
              <a:rPr b="1" dirty="0" sz="2700" spc="190">
                <a:latin typeface="Trebuchet MS"/>
                <a:cs typeface="Trebuchet MS"/>
              </a:rPr>
              <a:t>arrived</a:t>
            </a:r>
            <a:r>
              <a:rPr dirty="0" sz="2700" spc="190">
                <a:latin typeface="Lucida Sans Unicode"/>
                <a:cs typeface="Lucida Sans Unicode"/>
              </a:rPr>
              <a:t>]</a:t>
            </a:r>
            <a:r>
              <a:rPr dirty="0" sz="2700" spc="-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so</a:t>
            </a:r>
            <a:r>
              <a:rPr dirty="0" sz="2700" spc="-1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that</a:t>
            </a:r>
            <a:r>
              <a:rPr dirty="0" sz="2700" spc="-5">
                <a:latin typeface="Lucida Sans Unicode"/>
                <a:cs typeface="Lucida Sans Unicode"/>
              </a:rPr>
              <a:t> </a:t>
            </a:r>
            <a:r>
              <a:rPr dirty="0" sz="2700" spc="110">
                <a:latin typeface="Lucida Sans Unicode"/>
                <a:cs typeface="Lucida Sans Unicode"/>
              </a:rPr>
              <a:t>[</a:t>
            </a:r>
            <a:r>
              <a:rPr b="1" dirty="0" sz="2700" spc="110">
                <a:latin typeface="Trebuchet MS"/>
                <a:cs typeface="Trebuchet MS"/>
              </a:rPr>
              <a:t>I</a:t>
            </a:r>
            <a:r>
              <a:rPr b="1" dirty="0" sz="2700" spc="-10">
                <a:latin typeface="Trebuchet MS"/>
                <a:cs typeface="Trebuchet MS"/>
              </a:rPr>
              <a:t> </a:t>
            </a:r>
            <a:r>
              <a:rPr b="1" dirty="0" sz="2700" spc="185">
                <a:latin typeface="Trebuchet MS"/>
                <a:cs typeface="Trebuchet MS"/>
              </a:rPr>
              <a:t>can</a:t>
            </a:r>
            <a:r>
              <a:rPr b="1" dirty="0" sz="2700" spc="-15">
                <a:latin typeface="Trebuchet MS"/>
                <a:cs typeface="Trebuchet MS"/>
              </a:rPr>
              <a:t> </a:t>
            </a:r>
            <a:r>
              <a:rPr b="1" dirty="0" sz="2700" spc="370">
                <a:latin typeface="Trebuchet MS"/>
                <a:cs typeface="Trebuchet MS"/>
              </a:rPr>
              <a:t>go </a:t>
            </a:r>
            <a:r>
              <a:rPr b="1" dirty="0" sz="2700" spc="215">
                <a:latin typeface="Trebuchet MS"/>
                <a:cs typeface="Trebuchet MS"/>
              </a:rPr>
              <a:t>pick</a:t>
            </a:r>
            <a:r>
              <a:rPr b="1" dirty="0" sz="2700">
                <a:latin typeface="Trebuchet MS"/>
                <a:cs typeface="Trebuchet MS"/>
              </a:rPr>
              <a:t> </a:t>
            </a:r>
            <a:r>
              <a:rPr b="1" dirty="0" sz="2700" spc="125">
                <a:latin typeface="Trebuchet MS"/>
                <a:cs typeface="Trebuchet MS"/>
              </a:rPr>
              <a:t>it</a:t>
            </a:r>
            <a:r>
              <a:rPr b="1" dirty="0" sz="2700" spc="5">
                <a:latin typeface="Trebuchet MS"/>
                <a:cs typeface="Trebuchet MS"/>
              </a:rPr>
              <a:t> </a:t>
            </a:r>
            <a:r>
              <a:rPr b="1" dirty="0" sz="2700" spc="280">
                <a:latin typeface="Trebuchet MS"/>
                <a:cs typeface="Trebuchet MS"/>
              </a:rPr>
              <a:t>up</a:t>
            </a:r>
            <a:r>
              <a:rPr b="1" dirty="0" sz="2700">
                <a:latin typeface="Trebuchet MS"/>
                <a:cs typeface="Trebuchet MS"/>
              </a:rPr>
              <a:t> </a:t>
            </a:r>
            <a:r>
              <a:rPr b="1" dirty="0" sz="2700" spc="245">
                <a:latin typeface="Trebuchet MS"/>
                <a:cs typeface="Trebuchet MS"/>
              </a:rPr>
              <a:t>right</a:t>
            </a:r>
            <a:r>
              <a:rPr b="1" dirty="0" sz="2700" spc="5">
                <a:latin typeface="Trebuchet MS"/>
                <a:cs typeface="Trebuchet MS"/>
              </a:rPr>
              <a:t> </a:t>
            </a:r>
            <a:r>
              <a:rPr b="1" dirty="0" sz="2700" spc="195">
                <a:latin typeface="Trebuchet MS"/>
                <a:cs typeface="Trebuchet MS"/>
              </a:rPr>
              <a:t>away</a:t>
            </a:r>
            <a:r>
              <a:rPr dirty="0" sz="2700" spc="195">
                <a:latin typeface="Lucida Sans Unicode"/>
                <a:cs typeface="Lucida Sans Unicode"/>
              </a:rPr>
              <a:t>]</a:t>
            </a:r>
            <a:endParaRPr sz="2700">
              <a:latin typeface="Lucida Sans Unicode"/>
              <a:cs typeface="Lucida Sans Unicode"/>
            </a:endParaRPr>
          </a:p>
        </p:txBody>
      </p:sp>
      <p:pic>
        <p:nvPicPr>
          <p:cNvPr id="2097162" name="object 5" descr="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6665118" y="4893469"/>
            <a:ext cx="2478881" cy="1964530"/>
          </a:xfrm>
          <a:prstGeom prst="rect"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object 2"/>
          <p:cNvSpPr txBox="1">
            <a:spLocks noGrp="1"/>
          </p:cNvSpPr>
          <p:nvPr>
            <p:ph type="title"/>
          </p:nvPr>
        </p:nvSpPr>
        <p:spPr>
          <a:xfrm>
            <a:off x="457200" y="-148437"/>
            <a:ext cx="7922259" cy="1270927"/>
          </a:xfrm>
          <a:prstGeom prst="rect"/>
        </p:spPr>
        <p:txBody>
          <a:bodyPr bIns="0" lIns="0" rIns="0" rtlCol="0" tIns="661327" vert="horz" wrap="square">
            <a:spAutoFit/>
          </a:bodyPr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dirty="0" spc="285"/>
              <a:t>Example</a:t>
            </a:r>
          </a:p>
        </p:txBody>
      </p:sp>
      <p:pic>
        <p:nvPicPr>
          <p:cNvPr id="2097163" name="object 3" descr="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304800" y="457200"/>
            <a:ext cx="8456053" cy="6400798"/>
          </a:xfrm>
          <a:prstGeom prst="rect"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5" name="object 2"/>
          <p:cNvSpPr txBox="1">
            <a:spLocks noGrp="1"/>
          </p:cNvSpPr>
          <p:nvPr>
            <p:ph type="title"/>
          </p:nvPr>
        </p:nvSpPr>
        <p:spPr>
          <a:xfrm>
            <a:off x="457200" y="-148437"/>
            <a:ext cx="7922259" cy="1270927"/>
          </a:xfrm>
          <a:prstGeom prst="rect"/>
        </p:spPr>
        <p:txBody>
          <a:bodyPr bIns="0" lIns="0" rIns="0" rtlCol="0" tIns="661327" vert="horz" wrap="square">
            <a:spAutoFit/>
          </a:bodyPr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dirty="0" spc="360"/>
              <a:t>Estimation</a:t>
            </a:r>
            <a:r>
              <a:rPr dirty="0" spc="-10"/>
              <a:t> </a:t>
            </a:r>
            <a:r>
              <a:rPr dirty="0" spc="325"/>
              <a:t>in</a:t>
            </a:r>
            <a:r>
              <a:rPr dirty="0" spc="-10"/>
              <a:t> </a:t>
            </a:r>
            <a:r>
              <a:rPr dirty="0" spc="380"/>
              <a:t>Agile</a:t>
            </a:r>
          </a:p>
        </p:txBody>
      </p:sp>
      <p:sp>
        <p:nvSpPr>
          <p:cNvPr id="1048726" name="object 3" descr=""/>
          <p:cNvSpPr txBox="1"/>
          <p:nvPr/>
        </p:nvSpPr>
        <p:spPr>
          <a:xfrm>
            <a:off x="788127" y="2187462"/>
            <a:ext cx="5340985" cy="1198881"/>
          </a:xfrm>
          <a:prstGeom prst="rect"/>
        </p:spPr>
        <p:txBody>
          <a:bodyPr bIns="0" lIns="0" rIns="0" rtlCol="0" tIns="63500" vert="horz" wrap="square">
            <a:spAutoFit/>
          </a:bodyPr>
          <a:p>
            <a:pPr indent="-278765" marL="291465">
              <a:lnSpc>
                <a:spcPct val="100000"/>
              </a:lnSpc>
              <a:spcBef>
                <a:spcPts val="500"/>
              </a:spcBef>
              <a:buClr>
                <a:srgbClr val="2DA2BE"/>
              </a:buClr>
              <a:buSzPct val="66666"/>
              <a:buChar char="□"/>
              <a:tabLst>
                <a:tab algn="l" pos="291465"/>
              </a:tabLst>
            </a:pPr>
            <a:r>
              <a:rPr dirty="0" sz="2700">
                <a:latin typeface="Lucida Sans Unicode"/>
                <a:cs typeface="Lucida Sans Unicode"/>
              </a:rPr>
              <a:t>Project</a:t>
            </a:r>
            <a:r>
              <a:rPr dirty="0" sz="2700" spc="-125">
                <a:latin typeface="Lucida Sans Unicode"/>
                <a:cs typeface="Lucida Sans Unicode"/>
              </a:rPr>
              <a:t> </a:t>
            </a:r>
            <a:r>
              <a:rPr dirty="0" sz="2700" spc="-10">
                <a:latin typeface="Lucida Sans Unicode"/>
                <a:cs typeface="Lucida Sans Unicode"/>
              </a:rPr>
              <a:t>Velocity</a:t>
            </a:r>
            <a:endParaRPr sz="2700">
              <a:latin typeface="Lucida Sans Unicode"/>
              <a:cs typeface="Lucida Sans Unicode"/>
            </a:endParaRPr>
          </a:p>
          <a:p>
            <a:pPr indent="-186690" lvl="1" marL="548005" marR="5080">
              <a:lnSpc>
                <a:spcPct val="100000"/>
              </a:lnSpc>
              <a:spcBef>
                <a:spcPts val="340"/>
              </a:spcBef>
              <a:buClr>
                <a:srgbClr val="2DA2BE"/>
              </a:buClr>
              <a:buFont typeface="Verdana"/>
              <a:buChar char="◦"/>
              <a:tabLst>
                <a:tab algn="l" pos="548005"/>
              </a:tabLst>
            </a:pPr>
            <a:r>
              <a:rPr dirty="0" sz="2300">
                <a:latin typeface="Lucida Sans Unicode"/>
                <a:cs typeface="Lucida Sans Unicode"/>
              </a:rPr>
              <a:t>Story</a:t>
            </a:r>
            <a:r>
              <a:rPr dirty="0" sz="2300" spc="-14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points</a:t>
            </a:r>
            <a:r>
              <a:rPr dirty="0" sz="2300" spc="-70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completed</a:t>
            </a:r>
            <a:r>
              <a:rPr dirty="0" sz="2300" spc="-75">
                <a:latin typeface="Lucida Sans Unicode"/>
                <a:cs typeface="Lucida Sans Unicode"/>
              </a:rPr>
              <a:t> </a:t>
            </a:r>
            <a:r>
              <a:rPr dirty="0" sz="2300" spc="-385">
                <a:latin typeface="Lucida Sans Unicode"/>
                <a:cs typeface="Lucida Sans Unicode"/>
              </a:rPr>
              <a:t>÷</a:t>
            </a:r>
            <a:r>
              <a:rPr dirty="0" sz="2300" spc="-5">
                <a:latin typeface="Lucida Sans Unicode"/>
                <a:cs typeface="Lucida Sans Unicode"/>
              </a:rPr>
              <a:t> </a:t>
            </a:r>
            <a:r>
              <a:rPr dirty="0" sz="2300" spc="-10">
                <a:latin typeface="Lucida Sans Unicode"/>
                <a:cs typeface="Lucida Sans Unicode"/>
              </a:rPr>
              <a:t>Number </a:t>
            </a:r>
            <a:r>
              <a:rPr dirty="0" sz="2300">
                <a:latin typeface="Lucida Sans Unicode"/>
                <a:cs typeface="Lucida Sans Unicode"/>
              </a:rPr>
              <a:t>of</a:t>
            </a:r>
            <a:r>
              <a:rPr dirty="0" sz="2300" spc="-35">
                <a:latin typeface="Lucida Sans Unicode"/>
                <a:cs typeface="Lucida Sans Unicode"/>
              </a:rPr>
              <a:t> </a:t>
            </a:r>
            <a:r>
              <a:rPr dirty="0" sz="2300" spc="-10">
                <a:latin typeface="Lucida Sans Unicode"/>
                <a:cs typeface="Lucida Sans Unicode"/>
              </a:rPr>
              <a:t>sprints</a:t>
            </a:r>
            <a:endParaRPr sz="23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7" name="object 2" descr=""/>
          <p:cNvSpPr txBox="1"/>
          <p:nvPr/>
        </p:nvSpPr>
        <p:spPr>
          <a:xfrm>
            <a:off x="616677" y="1442212"/>
            <a:ext cx="4301490" cy="1384300"/>
          </a:xfrm>
          <a:prstGeom prst="rect"/>
        </p:spPr>
        <p:txBody>
          <a:bodyPr bIns="0" lIns="0" rIns="0" rtlCol="0" tIns="63500" vert="horz" wrap="square">
            <a:spAutoFit/>
          </a:bodyPr>
          <a:p>
            <a:pPr indent="-278765" marL="291465">
              <a:lnSpc>
                <a:spcPct val="100000"/>
              </a:lnSpc>
              <a:spcBef>
                <a:spcPts val="500"/>
              </a:spcBef>
              <a:buClr>
                <a:srgbClr val="2DA2BE"/>
              </a:buClr>
              <a:buSzPct val="66666"/>
              <a:buChar char="□"/>
              <a:tabLst>
                <a:tab algn="l" pos="291465"/>
              </a:tabLst>
            </a:pPr>
            <a:r>
              <a:rPr dirty="0" sz="2700">
                <a:latin typeface="Lucida Sans Unicode"/>
                <a:cs typeface="Lucida Sans Unicode"/>
              </a:rPr>
              <a:t>SE</a:t>
            </a:r>
            <a:r>
              <a:rPr dirty="0" sz="2700" spc="-3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by</a:t>
            </a:r>
            <a:r>
              <a:rPr dirty="0" sz="2700" spc="-25">
                <a:latin typeface="Lucida Sans Unicode"/>
                <a:cs typeface="Lucida Sans Unicode"/>
              </a:rPr>
              <a:t> </a:t>
            </a:r>
            <a:r>
              <a:rPr dirty="0" sz="2700" spc="-10">
                <a:latin typeface="Lucida Sans Unicode"/>
                <a:cs typeface="Lucida Sans Unicode"/>
              </a:rPr>
              <a:t>Pfleeger</a:t>
            </a:r>
            <a:endParaRPr sz="2700">
              <a:latin typeface="Lucida Sans Unicode"/>
              <a:cs typeface="Lucida Sans Unicode"/>
            </a:endParaRPr>
          </a:p>
          <a:p>
            <a:pPr indent="-278765" marL="291465">
              <a:lnSpc>
                <a:spcPct val="100000"/>
              </a:lnSpc>
              <a:spcBef>
                <a:spcPts val="400"/>
              </a:spcBef>
              <a:buClr>
                <a:srgbClr val="2DA2BE"/>
              </a:buClr>
              <a:buSzPct val="66666"/>
              <a:buChar char="□"/>
              <a:tabLst>
                <a:tab algn="l" pos="291465"/>
              </a:tabLst>
            </a:pPr>
            <a:r>
              <a:rPr dirty="0" sz="2700">
                <a:latin typeface="Lucida Sans Unicode"/>
                <a:cs typeface="Lucida Sans Unicode"/>
              </a:rPr>
              <a:t>SE</a:t>
            </a:r>
            <a:r>
              <a:rPr dirty="0" sz="2700" spc="-3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by</a:t>
            </a:r>
            <a:r>
              <a:rPr dirty="0" sz="2700" spc="-25">
                <a:latin typeface="Lucida Sans Unicode"/>
                <a:cs typeface="Lucida Sans Unicode"/>
              </a:rPr>
              <a:t> </a:t>
            </a:r>
            <a:r>
              <a:rPr dirty="0" sz="2700" spc="-10">
                <a:latin typeface="Lucida Sans Unicode"/>
                <a:cs typeface="Lucida Sans Unicode"/>
              </a:rPr>
              <a:t>Pressman</a:t>
            </a:r>
            <a:endParaRPr sz="2700">
              <a:latin typeface="Lucida Sans Unicode"/>
              <a:cs typeface="Lucida Sans Unicode"/>
            </a:endParaRPr>
          </a:p>
          <a:p>
            <a:pPr indent="-278765" marL="291465">
              <a:lnSpc>
                <a:spcPct val="100000"/>
              </a:lnSpc>
              <a:spcBef>
                <a:spcPts val="400"/>
              </a:spcBef>
              <a:buClr>
                <a:srgbClr val="2DA2BE"/>
              </a:buClr>
              <a:buSzPct val="66666"/>
              <a:buChar char="□"/>
              <a:tabLst>
                <a:tab algn="l" pos="291465"/>
              </a:tabLst>
            </a:pPr>
            <a:r>
              <a:rPr dirty="0" sz="2700">
                <a:latin typeface="Lucida Sans Unicode"/>
                <a:cs typeface="Lucida Sans Unicode"/>
              </a:rPr>
              <a:t>UCF</a:t>
            </a:r>
            <a:r>
              <a:rPr dirty="0" sz="2700" spc="-3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slides</a:t>
            </a:r>
            <a:r>
              <a:rPr dirty="0" sz="2700" spc="-3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for</a:t>
            </a:r>
            <a:r>
              <a:rPr dirty="0" sz="2700" spc="-3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Lucida Sans Unicode"/>
                <a:cs typeface="Lucida Sans Unicode"/>
              </a:rPr>
              <a:t>SE</a:t>
            </a:r>
            <a:r>
              <a:rPr dirty="0" sz="2700" spc="-30">
                <a:latin typeface="Lucida Sans Unicode"/>
                <a:cs typeface="Lucida Sans Unicode"/>
              </a:rPr>
              <a:t> </a:t>
            </a:r>
            <a:r>
              <a:rPr dirty="0" sz="2700" spc="-10">
                <a:latin typeface="Lucida Sans Unicode"/>
                <a:cs typeface="Lucida Sans Unicode"/>
              </a:rPr>
              <a:t>course</a:t>
            </a:r>
            <a:endParaRPr sz="2700">
              <a:latin typeface="Lucida Sans Unicode"/>
              <a:cs typeface="Lucida Sans Unicode"/>
            </a:endParaRPr>
          </a:p>
        </p:txBody>
      </p:sp>
      <p:sp>
        <p:nvSpPr>
          <p:cNvPr id="1048728" name="object 3"/>
          <p:cNvSpPr txBox="1">
            <a:spLocks noGrp="1"/>
          </p:cNvSpPr>
          <p:nvPr>
            <p:ph type="title"/>
          </p:nvPr>
        </p:nvSpPr>
        <p:spPr>
          <a:xfrm>
            <a:off x="457200" y="-148437"/>
            <a:ext cx="7922259" cy="1270927"/>
          </a:xfrm>
          <a:prstGeom prst="rect"/>
        </p:spPr>
        <p:txBody>
          <a:bodyPr bIns="0" lIns="0" rIns="0" rtlCol="0" tIns="661327" vert="horz" wrap="square">
            <a:spAutoFit/>
          </a:bodyPr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dirty="0" spc="285"/>
              <a:t>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Lecture 28-Effort Estimation-COCOMO II.pptx</dc:title>
  <dc:creator>TECNO CH6i</dc:creator>
  <dcterms:created xsi:type="dcterms:W3CDTF">2026-05-07T23:17:42Z</dcterms:created>
  <dcterms:modified xsi:type="dcterms:W3CDTF">2026-05-08T09:21:45Z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2026-05-08T00:00:00Z</vt:filetime>
  </property>
  <property fmtid="{D5CDD505-2E9C-101B-9397-08002B2CF9AE}" pid="3" name="Creator">
    <vt:lpwstr>Google</vt:lpwstr>
  </property>
  <property fmtid="{D5CDD505-2E9C-101B-9397-08002B2CF9AE}" pid="4" name="LastSaved">
    <vt:filetime>2026-05-08T00:00:00Z</vt:filetime>
  </property>
  <property fmtid="{D5CDD505-2E9C-101B-9397-08002B2CF9AE}" pid="5" name="ICV">
    <vt:lpwstr>8e427c8ddb27428d9363c95cdb7ab1fc</vt:lpwstr>
  </property>
</Properties>
</file>