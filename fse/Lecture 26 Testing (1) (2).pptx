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17" r:id="rId1"/>
  </p:sldMasterIdLst>
  <p:notesMasterIdLst>
    <p:notesMasterId r:id="rId24"/>
  </p:notesMasterIdLst>
  <p:sldIdLst>
    <p:sldId id="330" r:id="rId2"/>
    <p:sldId id="259" r:id="rId3"/>
    <p:sldId id="386" r:id="rId4"/>
    <p:sldId id="315" r:id="rId5"/>
    <p:sldId id="324" r:id="rId6"/>
    <p:sldId id="314" r:id="rId7"/>
    <p:sldId id="261" r:id="rId8"/>
    <p:sldId id="355" r:id="rId9"/>
    <p:sldId id="280" r:id="rId10"/>
    <p:sldId id="281" r:id="rId11"/>
    <p:sldId id="357" r:id="rId12"/>
    <p:sldId id="328" r:id="rId13"/>
    <p:sldId id="387" r:id="rId14"/>
    <p:sldId id="388" r:id="rId15"/>
    <p:sldId id="391" r:id="rId16"/>
    <p:sldId id="389" r:id="rId17"/>
    <p:sldId id="390" r:id="rId18"/>
    <p:sldId id="359" r:id="rId19"/>
    <p:sldId id="360" r:id="rId20"/>
    <p:sldId id="384" r:id="rId21"/>
    <p:sldId id="385" r:id="rId22"/>
    <p:sldId id="329" r:id="rId23"/>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bg1"/>
        </a:solidFill>
        <a:latin typeface="Times New Roman" pitchFamily="18" charset="0"/>
        <a:ea typeface="Lucida Sans Unicode" pitchFamily="34" charset="0"/>
        <a:cs typeface="Lucida Sans Unicode" pitchFamily="34" charset="0"/>
      </a:defRPr>
    </a:lvl1pPr>
    <a:lvl2pPr marL="457200" algn="l" rtl="0" eaLnBrk="0" fontAlgn="base" hangingPunct="0">
      <a:spcBef>
        <a:spcPct val="0"/>
      </a:spcBef>
      <a:spcAft>
        <a:spcPct val="0"/>
      </a:spcAft>
      <a:defRPr kern="1200">
        <a:solidFill>
          <a:schemeClr val="bg1"/>
        </a:solidFill>
        <a:latin typeface="Times New Roman" pitchFamily="18" charset="0"/>
        <a:ea typeface="Lucida Sans Unicode" pitchFamily="34" charset="0"/>
        <a:cs typeface="Lucida Sans Unicode" pitchFamily="34" charset="0"/>
      </a:defRPr>
    </a:lvl2pPr>
    <a:lvl3pPr marL="914400" algn="l" rtl="0" eaLnBrk="0" fontAlgn="base" hangingPunct="0">
      <a:spcBef>
        <a:spcPct val="0"/>
      </a:spcBef>
      <a:spcAft>
        <a:spcPct val="0"/>
      </a:spcAft>
      <a:defRPr kern="1200">
        <a:solidFill>
          <a:schemeClr val="bg1"/>
        </a:solidFill>
        <a:latin typeface="Times New Roman" pitchFamily="18" charset="0"/>
        <a:ea typeface="Lucida Sans Unicode" pitchFamily="34" charset="0"/>
        <a:cs typeface="Lucida Sans Unicode" pitchFamily="34" charset="0"/>
      </a:defRPr>
    </a:lvl3pPr>
    <a:lvl4pPr marL="1371600" algn="l" rtl="0" eaLnBrk="0" fontAlgn="base" hangingPunct="0">
      <a:spcBef>
        <a:spcPct val="0"/>
      </a:spcBef>
      <a:spcAft>
        <a:spcPct val="0"/>
      </a:spcAft>
      <a:defRPr kern="1200">
        <a:solidFill>
          <a:schemeClr val="bg1"/>
        </a:solidFill>
        <a:latin typeface="Times New Roman" pitchFamily="18" charset="0"/>
        <a:ea typeface="Lucida Sans Unicode" pitchFamily="34" charset="0"/>
        <a:cs typeface="Lucida Sans Unicode" pitchFamily="34" charset="0"/>
      </a:defRPr>
    </a:lvl4pPr>
    <a:lvl5pPr marL="1828800" algn="l" rtl="0" eaLnBrk="0" fontAlgn="base" hangingPunct="0">
      <a:spcBef>
        <a:spcPct val="0"/>
      </a:spcBef>
      <a:spcAft>
        <a:spcPct val="0"/>
      </a:spcAft>
      <a:defRPr kern="1200">
        <a:solidFill>
          <a:schemeClr val="bg1"/>
        </a:solidFill>
        <a:latin typeface="Times New Roman" pitchFamily="18" charset="0"/>
        <a:ea typeface="Lucida Sans Unicode" pitchFamily="34" charset="0"/>
        <a:cs typeface="Lucida Sans Unicode" pitchFamily="34" charset="0"/>
      </a:defRPr>
    </a:lvl5pPr>
    <a:lvl6pPr marL="2286000" algn="l" defTabSz="914400" rtl="0" eaLnBrk="1" latinLnBrk="0" hangingPunct="1">
      <a:defRPr kern="1200">
        <a:solidFill>
          <a:schemeClr val="bg1"/>
        </a:solidFill>
        <a:latin typeface="Times New Roman" pitchFamily="18" charset="0"/>
        <a:ea typeface="Lucida Sans Unicode" pitchFamily="34" charset="0"/>
        <a:cs typeface="Lucida Sans Unicode" pitchFamily="34" charset="0"/>
      </a:defRPr>
    </a:lvl6pPr>
    <a:lvl7pPr marL="2743200" algn="l" defTabSz="914400" rtl="0" eaLnBrk="1" latinLnBrk="0" hangingPunct="1">
      <a:defRPr kern="1200">
        <a:solidFill>
          <a:schemeClr val="bg1"/>
        </a:solidFill>
        <a:latin typeface="Times New Roman" pitchFamily="18" charset="0"/>
        <a:ea typeface="Lucida Sans Unicode" pitchFamily="34" charset="0"/>
        <a:cs typeface="Lucida Sans Unicode" pitchFamily="34" charset="0"/>
      </a:defRPr>
    </a:lvl7pPr>
    <a:lvl8pPr marL="3200400" algn="l" defTabSz="914400" rtl="0" eaLnBrk="1" latinLnBrk="0" hangingPunct="1">
      <a:defRPr kern="1200">
        <a:solidFill>
          <a:schemeClr val="bg1"/>
        </a:solidFill>
        <a:latin typeface="Times New Roman" pitchFamily="18" charset="0"/>
        <a:ea typeface="Lucida Sans Unicode" pitchFamily="34" charset="0"/>
        <a:cs typeface="Lucida Sans Unicode" pitchFamily="34" charset="0"/>
      </a:defRPr>
    </a:lvl8pPr>
    <a:lvl9pPr marL="3657600" algn="l" defTabSz="914400" rtl="0" eaLnBrk="1" latinLnBrk="0" hangingPunct="1">
      <a:defRPr kern="1200">
        <a:solidFill>
          <a:schemeClr val="bg1"/>
        </a:solidFill>
        <a:latin typeface="Times New Roman" pitchFamily="18" charset="0"/>
        <a:ea typeface="Lucida Sans Unicode" pitchFamily="34" charset="0"/>
        <a:cs typeface="Lucida Sans Unicode"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8" autoAdjust="0"/>
    <p:restoredTop sz="94598" autoAdjust="0"/>
  </p:normalViewPr>
  <p:slideViewPr>
    <p:cSldViewPr>
      <p:cViewPr varScale="1">
        <p:scale>
          <a:sx n="70" d="100"/>
          <a:sy n="70" d="100"/>
        </p:scale>
        <p:origin x="1380" y="72"/>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AutoShape 1"/>
          <p:cNvSpPr>
            <a:spLocks noChangeArrowheads="1"/>
          </p:cNvSpPr>
          <p:nvPr/>
        </p:nvSpPr>
        <p:spPr bwMode="auto">
          <a:xfrm>
            <a:off x="0" y="0"/>
            <a:ext cx="6858000" cy="9144000"/>
          </a:xfrm>
          <a:prstGeom prst="roundRect">
            <a:avLst>
              <a:gd name="adj" fmla="val 23"/>
            </a:avLst>
          </a:prstGeom>
          <a:solidFill>
            <a:srgbClr val="FFFFFF"/>
          </a:solidFill>
          <a:ln w="9360">
            <a:noFill/>
            <a:round/>
            <a:headEnd/>
            <a:tailEnd/>
          </a:ln>
        </p:spPr>
        <p:txBody>
          <a:bodyPr wrap="none" anchor="ctr"/>
          <a:lstStyle/>
          <a:p>
            <a:pPr>
              <a:defRPr/>
            </a:pPr>
            <a:endParaRPr lang="en-US">
              <a:ea typeface="+mn-ea"/>
              <a:cs typeface="+mn-cs"/>
            </a:endParaRPr>
          </a:p>
        </p:txBody>
      </p:sp>
      <p:sp>
        <p:nvSpPr>
          <p:cNvPr id="3074" name="AutoShape 2"/>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75" name="AutoShape 3"/>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76" name="AutoShape 4"/>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77" name="AutoShape 5"/>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78" name="AutoShape 6"/>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79" name="AutoShape 7"/>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80" name="AutoShape 8"/>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48138" name="Rectangle 9"/>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w="9525">
            <a:solidFill>
              <a:srgbClr val="000000"/>
            </a:solidFill>
            <a:miter lim="800000"/>
            <a:headEnd/>
            <a:tailEnd/>
          </a:ln>
        </p:spPr>
      </p:sp>
      <p:sp>
        <p:nvSpPr>
          <p:cNvPr id="3082" name="Rectangle 10"/>
          <p:cNvSpPr txBox="1">
            <a:spLocks noGrp="1" noChangeArrowheads="1"/>
          </p:cNvSpPr>
          <p:nvPr>
            <p:ph type="body" idx="1"/>
          </p:nvPr>
        </p:nvSpPr>
        <p:spPr bwMode="auto">
          <a:xfrm>
            <a:off x="685800" y="4343400"/>
            <a:ext cx="5486400" cy="4114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smtClean="0"/>
          </a:p>
        </p:txBody>
      </p:sp>
    </p:spTree>
    <p:extLst>
      <p:ext uri="{BB962C8B-B14F-4D97-AF65-F5344CB8AC3E}">
        <p14:creationId xmlns:p14="http://schemas.microsoft.com/office/powerpoint/2010/main" val="2200024406"/>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1"/>
          <p:cNvSpPr>
            <a:spLocks noGrp="1" noRot="1" noChangeAspect="1" noChangeArrowheads="1" noTextEdit="1"/>
          </p:cNvSpPr>
          <p:nvPr>
            <p:ph type="sldImg"/>
          </p:nvPr>
        </p:nvSpPr>
        <p:spPr>
          <a:ln/>
        </p:spPr>
      </p:sp>
      <p:sp>
        <p:nvSpPr>
          <p:cNvPr id="52227" name="Rectangle 2"/>
          <p:cNvSpPr txBox="1">
            <a:spLocks noGrp="1" noChangeArrowheads="1"/>
          </p:cNvSpPr>
          <p:nvPr>
            <p:ph type="body" idx="1"/>
          </p:nvPr>
        </p:nvSpPr>
        <p:spPr>
          <a:noFill/>
          <a:ln/>
        </p:spPr>
        <p:txBody>
          <a:bodyPr wrap="none" anchor="ctr"/>
          <a:lstStyle/>
          <a:p>
            <a:endParaRPr lang="en-US" smtClean="0"/>
          </a:p>
        </p:txBody>
      </p:sp>
    </p:spTree>
    <p:extLst>
      <p:ext uri="{BB962C8B-B14F-4D97-AF65-F5344CB8AC3E}">
        <p14:creationId xmlns:p14="http://schemas.microsoft.com/office/powerpoint/2010/main" val="2644168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1"/>
          <p:cNvSpPr>
            <a:spLocks noGrp="1" noRot="1" noChangeAspect="1" noChangeArrowheads="1" noTextEdit="1"/>
          </p:cNvSpPr>
          <p:nvPr>
            <p:ph type="sldImg"/>
          </p:nvPr>
        </p:nvSpPr>
        <p:spPr>
          <a:ln/>
        </p:spPr>
      </p:sp>
      <p:sp>
        <p:nvSpPr>
          <p:cNvPr id="52227" name="Rectangle 2"/>
          <p:cNvSpPr txBox="1">
            <a:spLocks noGrp="1" noChangeArrowheads="1"/>
          </p:cNvSpPr>
          <p:nvPr>
            <p:ph type="body" idx="1"/>
          </p:nvPr>
        </p:nvSpPr>
        <p:spPr>
          <a:noFill/>
          <a:ln/>
        </p:spPr>
        <p:txBody>
          <a:bodyPr wrap="none" anchor="ctr"/>
          <a:lstStyle/>
          <a:p>
            <a:endParaRPr lang="en-US" smtClean="0"/>
          </a:p>
        </p:txBody>
      </p:sp>
    </p:spTree>
    <p:extLst>
      <p:ext uri="{BB962C8B-B14F-4D97-AF65-F5344CB8AC3E}">
        <p14:creationId xmlns:p14="http://schemas.microsoft.com/office/powerpoint/2010/main" val="2092859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txBox="1">
            <a:spLocks noGrp="1"/>
          </p:cNvSpPr>
          <p:nvPr>
            <p:ph type="body" idx="1"/>
          </p:nvPr>
        </p:nvSpPr>
        <p:spPr>
          <a:noFill/>
          <a:ln/>
        </p:spPr>
        <p:txBody>
          <a:bodyPr/>
          <a:lstStyle/>
          <a:p>
            <a:endParaRPr lang="en-US" smtClean="0"/>
          </a:p>
        </p:txBody>
      </p:sp>
    </p:spTree>
    <p:extLst>
      <p:ext uri="{BB962C8B-B14F-4D97-AF65-F5344CB8AC3E}">
        <p14:creationId xmlns:p14="http://schemas.microsoft.com/office/powerpoint/2010/main" val="2522144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txBox="1">
            <a:spLocks noGrp="1"/>
          </p:cNvSpPr>
          <p:nvPr>
            <p:ph type="body" idx="1"/>
          </p:nvPr>
        </p:nvSpPr>
        <p:spPr>
          <a:noFill/>
          <a:ln/>
        </p:spPr>
        <p:txBody>
          <a:bodyPr/>
          <a:lstStyle/>
          <a:p>
            <a:endParaRPr lang="en-US" smtClean="0"/>
          </a:p>
        </p:txBody>
      </p:sp>
    </p:spTree>
    <p:extLst>
      <p:ext uri="{BB962C8B-B14F-4D97-AF65-F5344CB8AC3E}">
        <p14:creationId xmlns:p14="http://schemas.microsoft.com/office/powerpoint/2010/main" val="1532226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1"/>
          <p:cNvSpPr>
            <a:spLocks noGrp="1" noRot="1" noChangeAspect="1" noChangeArrowheads="1" noTextEdit="1"/>
          </p:cNvSpPr>
          <p:nvPr>
            <p:ph type="sldImg"/>
          </p:nvPr>
        </p:nvSpPr>
        <p:spPr>
          <a:ln/>
        </p:spPr>
      </p:sp>
      <p:sp>
        <p:nvSpPr>
          <p:cNvPr id="55299" name="Rectangle 2"/>
          <p:cNvSpPr txBox="1">
            <a:spLocks noGrp="1" noChangeArrowheads="1"/>
          </p:cNvSpPr>
          <p:nvPr>
            <p:ph type="body" idx="1"/>
          </p:nvPr>
        </p:nvSpPr>
        <p:spPr>
          <a:noFill/>
          <a:ln/>
        </p:spPr>
        <p:txBody>
          <a:bodyPr wrap="none" anchor="ctr"/>
          <a:lstStyle/>
          <a:p>
            <a:endParaRPr lang="en-US" smtClean="0"/>
          </a:p>
        </p:txBody>
      </p:sp>
    </p:spTree>
    <p:extLst>
      <p:ext uri="{BB962C8B-B14F-4D97-AF65-F5344CB8AC3E}">
        <p14:creationId xmlns:p14="http://schemas.microsoft.com/office/powerpoint/2010/main" val="3383641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57347" name="Rectangle 3"/>
          <p:cNvSpPr>
            <a:spLocks noGrp="1" noChangeArrowheads="1"/>
          </p:cNvSpPr>
          <p:nvPr>
            <p:ph type="body" idx="1"/>
          </p:nvPr>
        </p:nvSpPr>
        <p:spPr bwMode="auto">
          <a:xfrm>
            <a:off x="685800" y="4343361"/>
            <a:ext cx="5486400" cy="4115511"/>
          </a:xfrm>
          <a:prstGeom prst="rect">
            <a:avLst/>
          </a:prstGeom>
          <a:noFill/>
          <a:ln>
            <a:miter lim="800000"/>
            <a:headEnd/>
            <a:tailEnd/>
          </a:ln>
        </p:spPr>
        <p:txBody>
          <a:bodyPr/>
          <a:lstStyle/>
          <a:p>
            <a:endParaRPr lang="en-US" smtClean="0"/>
          </a:p>
        </p:txBody>
      </p:sp>
    </p:spTree>
    <p:extLst>
      <p:ext uri="{BB962C8B-B14F-4D97-AF65-F5344CB8AC3E}">
        <p14:creationId xmlns:p14="http://schemas.microsoft.com/office/powerpoint/2010/main" val="2834077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noFill/>
          <a:ln/>
        </p:spPr>
      </p:sp>
      <p:sp>
        <p:nvSpPr>
          <p:cNvPr id="59395"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394643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noFill/>
          <a:ln/>
        </p:spPr>
      </p:sp>
      <p:sp>
        <p:nvSpPr>
          <p:cNvPr id="60419"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53996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noFill/>
          <a:ln/>
        </p:spPr>
      </p:sp>
      <p:sp>
        <p:nvSpPr>
          <p:cNvPr id="56323"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577922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noFill/>
          <a:ln/>
        </p:spPr>
      </p:sp>
      <p:sp>
        <p:nvSpPr>
          <p:cNvPr id="57347"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69396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noFill/>
          <a:ln/>
        </p:spPr>
      </p:sp>
      <p:sp>
        <p:nvSpPr>
          <p:cNvPr id="83971"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441162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44213AF-26F6-41FA-8D85-E2C5388D6E58}" type="datetimeFigureOut">
              <a:rPr lang="en-US" smtClean="0"/>
              <a:pPr/>
              <a:t>4/16/2026</a:t>
            </a:fld>
            <a:endParaRPr lang="en-US" dirty="0">
              <a:solidFill>
                <a:srgbClr val="FFFFFF"/>
              </a:solidFill>
            </a:endParaRPr>
          </a:p>
        </p:txBody>
      </p:sp>
      <p:sp>
        <p:nvSpPr>
          <p:cNvPr id="19" name="Footer Placeholder 18"/>
          <p:cNvSpPr>
            <a:spLocks noGrp="1"/>
          </p:cNvSpPr>
          <p:nvPr>
            <p:ph type="ftr" sz="quarter" idx="11"/>
          </p:nvPr>
        </p:nvSpPr>
        <p:spPr/>
        <p:txBody>
          <a:bodyPr/>
          <a:lstStyle/>
          <a:p>
            <a:endParaRPr kumimoji="0" lang="en-US">
              <a:solidFill>
                <a:schemeClr val="accent1">
                  <a:tint val="20000"/>
                </a:schemeClr>
              </a:solidFill>
            </a:endParaRPr>
          </a:p>
        </p:txBody>
      </p:sp>
      <p:sp>
        <p:nvSpPr>
          <p:cNvPr id="27" name="Slide Number Placeholder 26"/>
          <p:cNvSpPr>
            <a:spLocks noGrp="1"/>
          </p:cNvSpPr>
          <p:nvPr>
            <p:ph type="sldNum" sz="quarter" idx="12"/>
          </p:nvPr>
        </p:nvSpPr>
        <p:spPr/>
        <p:txBody>
          <a:bodyPr/>
          <a:lstStyle/>
          <a:p>
            <a:fld id="{D5BBC35B-A44B-4119-B8DA-DE9E3DFADA20}" type="slidenum">
              <a:rPr kumimoji="0" lang="en-US" smtClean="0"/>
              <a:pPr/>
              <a:t>‹#›</a:t>
            </a:fld>
            <a:endParaRPr kumimoji="0" lang="en-US" dirty="0">
              <a:solidFill>
                <a:srgbClr val="FFFFFF"/>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4213AF-26F6-41FA-8D85-E2C5388D6E58}"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44213AF-26F6-41FA-8D85-E2C5388D6E58}"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44213AF-26F6-41FA-8D85-E2C5388D6E58}"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44213AF-26F6-41FA-8D85-E2C5388D6E58}" type="datetimeFigureOut">
              <a:rPr lang="en-US" smtClean="0"/>
              <a:pPr/>
              <a:t>4/16/2026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44213AF-26F6-41FA-8D85-E2C5388D6E58}" type="datetimeFigureOut">
              <a:rPr lang="en-US" smtClean="0"/>
              <a:pPr/>
              <a:t>4/16/2026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4213AF-26F6-41FA-8D85-E2C5388D6E58}" type="datetimeFigureOut">
              <a:rPr lang="en-US" smtClean="0"/>
              <a:pPr/>
              <a:t>4/16/2026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44213AF-26F6-41FA-8D85-E2C5388D6E58}"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44213AF-26F6-41FA-8D85-E2C5388D6E58}" type="datetimeFigureOut">
              <a:rPr lang="en-US" smtClean="0"/>
              <a:pPr/>
              <a:t>4/16/2026</a:t>
            </a:fld>
            <a:endParaRPr lang="en-US">
              <a:solidFill>
                <a:schemeClr val="tx1"/>
              </a:solidFill>
            </a:endParaRPr>
          </a:p>
        </p:txBody>
      </p:sp>
      <p:sp>
        <p:nvSpPr>
          <p:cNvPr id="6" name="Footer Placeholder 5"/>
          <p:cNvSpPr>
            <a:spLocks noGrp="1"/>
          </p:cNvSpPr>
          <p:nvPr>
            <p:ph type="ftr" sz="quarter" idx="11"/>
          </p:nvPr>
        </p:nvSpPr>
        <p:spPr/>
        <p:txBody>
          <a:bodyPr/>
          <a:lstStyle/>
          <a:p>
            <a:endParaRPr kumimoji="0" lang="en-US">
              <a:solidFill>
                <a:schemeClr val="tx1"/>
              </a:solidFill>
            </a:endParaRPr>
          </a:p>
        </p:txBody>
      </p:sp>
      <p:sp>
        <p:nvSpPr>
          <p:cNvPr id="7" name="Slide Number Placeholder 6"/>
          <p:cNvSpPr>
            <a:spLocks noGrp="1"/>
          </p:cNvSpPr>
          <p:nvPr>
            <p:ph type="sldNum" sz="quarter" idx="12"/>
          </p:nvPr>
        </p:nvSpPr>
        <p:spPr>
          <a:xfrm>
            <a:off x="8077200" y="6356350"/>
            <a:ext cx="609600" cy="365125"/>
          </a:xfrm>
        </p:spPr>
        <p:txBody>
          <a:bodyPr/>
          <a:lstStyle/>
          <a:p>
            <a:fld id="{D5BBC35B-A44B-4119-B8DA-DE9E3DFADA20}" type="slidenum">
              <a:rPr kumimoji="0" lang="en-US" smtClean="0"/>
              <a:pPr/>
              <a:t>‹#›</a:t>
            </a:fld>
            <a:endParaRPr kumimoji="0" lang="en-US">
              <a:solidFill>
                <a:schemeClr val="tx1"/>
              </a:solidFill>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4213AF-26F6-41FA-8D85-E2C5388D6E58}"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4213AF-26F6-41FA-8D85-E2C5388D6E58}"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44213AF-26F6-41FA-8D85-E2C5388D6E58}" type="datetimeFigureOut">
              <a:rPr lang="en-US" smtClean="0"/>
              <a:pPr/>
              <a:t>4/16/2026</a:t>
            </a:fld>
            <a:endParaRPr lang="en-US" sz="1000" dirty="0">
              <a:solidFill>
                <a:schemeClr val="tx1"/>
              </a:solidFill>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lgn="r" eaLnBrk="1" latinLnBrk="0" hangingPunct="1"/>
            <a:endParaRPr kumimoji="0" lang="en-US" sz="1000" dirty="0">
              <a:solidFill>
                <a:schemeClr val="tx1"/>
              </a:solidFill>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5BBC35B-A44B-4119-B8DA-DE9E3DFADA20}" type="slidenum">
              <a:rPr kumimoji="0" lang="en-US" smtClean="0"/>
              <a:pPr/>
              <a:t>‹#›</a:t>
            </a:fld>
            <a:endParaRPr kumimoji="0" lang="en-US" sz="1000" b="0">
              <a:solidFill>
                <a:schemeClr val="tx1"/>
              </a:solidFill>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Software Testing </a:t>
            </a:r>
            <a:endParaRPr lang="en-US" dirty="0"/>
          </a:p>
        </p:txBody>
      </p:sp>
      <p:sp>
        <p:nvSpPr>
          <p:cNvPr id="5" name="Subtitle 4"/>
          <p:cNvSpPr>
            <a:spLocks noGrp="1"/>
          </p:cNvSpPr>
          <p:nvPr>
            <p:ph type="subTitle" idx="1"/>
          </p:nvPr>
        </p:nvSpPr>
        <p:spPr/>
        <p:txBody>
          <a:bodyPr/>
          <a:lstStyle/>
          <a:p>
            <a:r>
              <a:rPr lang="en-US" dirty="0" err="1" smtClean="0"/>
              <a:t>Zeeshan</a:t>
            </a:r>
            <a:r>
              <a:rPr lang="en-US" dirty="0" smtClean="0"/>
              <a:t> Ali </a:t>
            </a:r>
            <a:r>
              <a:rPr lang="en-US" dirty="0" err="1" smtClean="0"/>
              <a:t>Rana</a:t>
            </a:r>
            <a:endParaRPr lang="en-US" dirty="0"/>
          </a:p>
        </p:txBody>
      </p:sp>
    </p:spTree>
    <p:extLst>
      <p:ext uri="{BB962C8B-B14F-4D97-AF65-F5344CB8AC3E}">
        <p14:creationId xmlns:p14="http://schemas.microsoft.com/office/powerpoint/2010/main" val="15825243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a:xfrm>
            <a:off x="457200" y="819150"/>
            <a:ext cx="8218488" cy="1135063"/>
          </a:xfrm>
        </p:spPr>
        <p:txBody>
          <a:bodyPr>
            <a:normAutofit fontScale="90000"/>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smtClean="0"/>
              <a:t>Software Faults and Failures</a:t>
            </a:r>
            <a:br>
              <a:rPr lang="en-GB" dirty="0" smtClean="0"/>
            </a:br>
            <a:r>
              <a:rPr lang="en-US" sz="2800" dirty="0" smtClean="0"/>
              <a:t>Why Does Software Fail?</a:t>
            </a:r>
            <a:endParaRPr lang="en-GB" sz="2800" dirty="0" smtClean="0"/>
          </a:p>
        </p:txBody>
      </p:sp>
      <p:sp>
        <p:nvSpPr>
          <p:cNvPr id="6147" name="Rectangle 2"/>
          <p:cNvSpPr>
            <a:spLocks noGrp="1" noChangeArrowheads="1"/>
          </p:cNvSpPr>
          <p:nvPr>
            <p:ph idx="1"/>
          </p:nvPr>
        </p:nvSpPr>
        <p:spPr>
          <a:xfrm>
            <a:off x="457200" y="2266950"/>
            <a:ext cx="8218488" cy="3524250"/>
          </a:xfrm>
        </p:spPr>
        <p:txBody>
          <a:bodyPr>
            <a:normAutofit fontScale="92500"/>
          </a:bodyPr>
          <a:lstStyle/>
          <a:p>
            <a:pPr marL="45720">
              <a:lnSpc>
                <a:spcPct val="100000"/>
              </a:lnSpc>
              <a:spcBef>
                <a:spcPts val="1170"/>
              </a:spcBef>
            </a:pPr>
            <a:r>
              <a:rPr lang="en-US" sz="2400" b="1" u="sng" dirty="0">
                <a:solidFill>
                  <a:srgbClr val="000000"/>
                </a:solidFill>
                <a:uFill>
                  <a:solidFill>
                    <a:srgbClr val="000000"/>
                  </a:solidFill>
                </a:uFill>
                <a:latin typeface="Arial"/>
                <a:cs typeface="Arial"/>
              </a:rPr>
              <a:t>Fault</a:t>
            </a:r>
            <a:r>
              <a:rPr lang="en-US" sz="2400" b="1" u="sng" spc="-50" dirty="0">
                <a:solidFill>
                  <a:srgbClr val="000000"/>
                </a:solidFill>
                <a:uFill>
                  <a:solidFill>
                    <a:srgbClr val="000000"/>
                  </a:solidFill>
                </a:uFill>
                <a:latin typeface="Arial"/>
                <a:cs typeface="Arial"/>
              </a:rPr>
              <a:t> </a:t>
            </a:r>
            <a:r>
              <a:rPr lang="en-US" sz="2400" b="1" u="sng" spc="-10" dirty="0">
                <a:solidFill>
                  <a:srgbClr val="000000"/>
                </a:solidFill>
                <a:uFill>
                  <a:solidFill>
                    <a:srgbClr val="000000"/>
                  </a:solidFill>
                </a:uFill>
                <a:latin typeface="Arial"/>
                <a:cs typeface="Arial"/>
              </a:rPr>
              <a:t>(bug):</a:t>
            </a:r>
            <a:endParaRPr lang="en-US" sz="2400" dirty="0">
              <a:latin typeface="Arial"/>
              <a:cs typeface="Arial"/>
            </a:endParaRPr>
          </a:p>
          <a:p>
            <a:pPr marL="38100" marR="5080" indent="0">
              <a:lnSpc>
                <a:spcPts val="3020"/>
              </a:lnSpc>
              <a:spcBef>
                <a:spcPts val="1455"/>
              </a:spcBef>
              <a:buNone/>
            </a:pPr>
            <a:r>
              <a:rPr lang="en-US" sz="2400" dirty="0">
                <a:solidFill>
                  <a:srgbClr val="000000"/>
                </a:solidFill>
                <a:latin typeface="Arial MT"/>
                <a:cs typeface="Arial MT"/>
              </a:rPr>
              <a:t>Programming</a:t>
            </a:r>
            <a:r>
              <a:rPr lang="en-US" sz="2400" spc="-35" dirty="0">
                <a:solidFill>
                  <a:srgbClr val="000000"/>
                </a:solidFill>
                <a:latin typeface="Arial MT"/>
                <a:cs typeface="Arial MT"/>
              </a:rPr>
              <a:t> </a:t>
            </a:r>
            <a:r>
              <a:rPr lang="en-US" sz="2400" dirty="0">
                <a:solidFill>
                  <a:srgbClr val="000000"/>
                </a:solidFill>
                <a:latin typeface="Arial MT"/>
                <a:cs typeface="Arial MT"/>
              </a:rPr>
              <a:t>or</a:t>
            </a:r>
            <a:r>
              <a:rPr lang="en-US" sz="2400" spc="-65" dirty="0">
                <a:solidFill>
                  <a:srgbClr val="000000"/>
                </a:solidFill>
                <a:latin typeface="Arial MT"/>
                <a:cs typeface="Arial MT"/>
              </a:rPr>
              <a:t> </a:t>
            </a:r>
            <a:r>
              <a:rPr lang="en-US" sz="2400" dirty="0">
                <a:solidFill>
                  <a:srgbClr val="000000"/>
                </a:solidFill>
                <a:latin typeface="Arial MT"/>
                <a:cs typeface="Arial MT"/>
              </a:rPr>
              <a:t>design</a:t>
            </a:r>
            <a:r>
              <a:rPr lang="en-US" sz="2400" spc="-60" dirty="0">
                <a:solidFill>
                  <a:srgbClr val="000000"/>
                </a:solidFill>
                <a:latin typeface="Arial MT"/>
                <a:cs typeface="Arial MT"/>
              </a:rPr>
              <a:t> </a:t>
            </a:r>
            <a:r>
              <a:rPr lang="en-US" sz="2400" dirty="0">
                <a:solidFill>
                  <a:srgbClr val="000000"/>
                </a:solidFill>
                <a:latin typeface="Arial MT"/>
                <a:cs typeface="Arial MT"/>
              </a:rPr>
              <a:t>error</a:t>
            </a:r>
            <a:r>
              <a:rPr lang="en-US" sz="2400" spc="-70" dirty="0">
                <a:solidFill>
                  <a:srgbClr val="000000"/>
                </a:solidFill>
                <a:latin typeface="Arial MT"/>
                <a:cs typeface="Arial MT"/>
              </a:rPr>
              <a:t> </a:t>
            </a:r>
            <a:r>
              <a:rPr lang="en-US" sz="2400" dirty="0">
                <a:solidFill>
                  <a:srgbClr val="000000"/>
                </a:solidFill>
                <a:latin typeface="Arial MT"/>
                <a:cs typeface="Arial MT"/>
              </a:rPr>
              <a:t>whereby</a:t>
            </a:r>
            <a:r>
              <a:rPr lang="en-US" sz="2400" spc="-50" dirty="0">
                <a:solidFill>
                  <a:srgbClr val="000000"/>
                </a:solidFill>
                <a:latin typeface="Arial MT"/>
                <a:cs typeface="Arial MT"/>
              </a:rPr>
              <a:t> </a:t>
            </a:r>
            <a:r>
              <a:rPr lang="en-US" sz="2400" dirty="0">
                <a:solidFill>
                  <a:srgbClr val="000000"/>
                </a:solidFill>
                <a:latin typeface="Arial MT"/>
                <a:cs typeface="Arial MT"/>
              </a:rPr>
              <a:t>the</a:t>
            </a:r>
            <a:r>
              <a:rPr lang="en-US" sz="2400" spc="-65" dirty="0">
                <a:solidFill>
                  <a:srgbClr val="000000"/>
                </a:solidFill>
                <a:latin typeface="Arial MT"/>
                <a:cs typeface="Arial MT"/>
              </a:rPr>
              <a:t> </a:t>
            </a:r>
            <a:r>
              <a:rPr lang="en-US" sz="2400" dirty="0">
                <a:solidFill>
                  <a:srgbClr val="000000"/>
                </a:solidFill>
                <a:latin typeface="Arial MT"/>
                <a:cs typeface="Arial MT"/>
              </a:rPr>
              <a:t>delivered</a:t>
            </a:r>
            <a:r>
              <a:rPr lang="en-US" sz="2400" spc="-60" dirty="0">
                <a:solidFill>
                  <a:srgbClr val="000000"/>
                </a:solidFill>
                <a:latin typeface="Arial MT"/>
                <a:cs typeface="Arial MT"/>
              </a:rPr>
              <a:t> </a:t>
            </a:r>
            <a:r>
              <a:rPr lang="en-US" sz="2400" spc="-10" dirty="0">
                <a:solidFill>
                  <a:srgbClr val="000000"/>
                </a:solidFill>
                <a:latin typeface="Arial MT"/>
                <a:cs typeface="Arial MT"/>
              </a:rPr>
              <a:t>system </a:t>
            </a:r>
            <a:r>
              <a:rPr lang="en-US" sz="2400" dirty="0">
                <a:solidFill>
                  <a:srgbClr val="000000"/>
                </a:solidFill>
                <a:latin typeface="Arial MT"/>
                <a:cs typeface="Arial MT"/>
              </a:rPr>
              <a:t>does</a:t>
            </a:r>
            <a:r>
              <a:rPr lang="en-US" sz="2400" spc="-70" dirty="0">
                <a:solidFill>
                  <a:srgbClr val="000000"/>
                </a:solidFill>
                <a:latin typeface="Arial MT"/>
                <a:cs typeface="Arial MT"/>
              </a:rPr>
              <a:t> </a:t>
            </a:r>
            <a:r>
              <a:rPr lang="en-US" sz="2400" dirty="0">
                <a:solidFill>
                  <a:srgbClr val="000000"/>
                </a:solidFill>
                <a:latin typeface="Arial MT"/>
                <a:cs typeface="Arial MT"/>
              </a:rPr>
              <a:t>not</a:t>
            </a:r>
            <a:r>
              <a:rPr lang="en-US" sz="2400" spc="-70" dirty="0">
                <a:solidFill>
                  <a:srgbClr val="000000"/>
                </a:solidFill>
                <a:latin typeface="Arial MT"/>
                <a:cs typeface="Arial MT"/>
              </a:rPr>
              <a:t> </a:t>
            </a:r>
            <a:r>
              <a:rPr lang="en-US" sz="2400" dirty="0">
                <a:solidFill>
                  <a:srgbClr val="000000"/>
                </a:solidFill>
                <a:latin typeface="Arial MT"/>
                <a:cs typeface="Arial MT"/>
              </a:rPr>
              <a:t>conform</a:t>
            </a:r>
            <a:r>
              <a:rPr lang="en-US" sz="2400" spc="-65" dirty="0">
                <a:solidFill>
                  <a:srgbClr val="000000"/>
                </a:solidFill>
                <a:latin typeface="Arial MT"/>
                <a:cs typeface="Arial MT"/>
              </a:rPr>
              <a:t> </a:t>
            </a:r>
            <a:r>
              <a:rPr lang="en-US" sz="2400" dirty="0">
                <a:solidFill>
                  <a:srgbClr val="000000"/>
                </a:solidFill>
                <a:latin typeface="Arial MT"/>
                <a:cs typeface="Arial MT"/>
              </a:rPr>
              <a:t>to</a:t>
            </a:r>
            <a:r>
              <a:rPr lang="en-US" sz="2400" spc="-65" dirty="0">
                <a:solidFill>
                  <a:srgbClr val="000000"/>
                </a:solidFill>
                <a:latin typeface="Arial MT"/>
                <a:cs typeface="Arial MT"/>
              </a:rPr>
              <a:t> </a:t>
            </a:r>
            <a:r>
              <a:rPr lang="en-US" sz="2400" dirty="0">
                <a:solidFill>
                  <a:srgbClr val="000000"/>
                </a:solidFill>
                <a:latin typeface="Arial MT"/>
                <a:cs typeface="Arial MT"/>
              </a:rPr>
              <a:t>specification</a:t>
            </a:r>
            <a:r>
              <a:rPr lang="en-US" sz="2400" spc="-85" dirty="0">
                <a:solidFill>
                  <a:srgbClr val="000000"/>
                </a:solidFill>
                <a:latin typeface="Arial MT"/>
                <a:cs typeface="Arial MT"/>
              </a:rPr>
              <a:t> </a:t>
            </a:r>
            <a:r>
              <a:rPr lang="en-US" sz="2400" dirty="0">
                <a:solidFill>
                  <a:srgbClr val="000000"/>
                </a:solidFill>
                <a:latin typeface="Arial MT"/>
                <a:cs typeface="Arial MT"/>
              </a:rPr>
              <a:t>(e.g.,</a:t>
            </a:r>
            <a:r>
              <a:rPr lang="en-US" sz="2400" spc="-70" dirty="0">
                <a:solidFill>
                  <a:srgbClr val="000000"/>
                </a:solidFill>
                <a:latin typeface="Arial MT"/>
                <a:cs typeface="Arial MT"/>
              </a:rPr>
              <a:t> </a:t>
            </a:r>
            <a:r>
              <a:rPr lang="en-US" sz="2400" dirty="0">
                <a:solidFill>
                  <a:srgbClr val="000000"/>
                </a:solidFill>
                <a:latin typeface="Arial MT"/>
                <a:cs typeface="Arial MT"/>
              </a:rPr>
              <a:t>coding</a:t>
            </a:r>
            <a:r>
              <a:rPr lang="en-US" sz="2400" spc="-70" dirty="0">
                <a:solidFill>
                  <a:srgbClr val="000000"/>
                </a:solidFill>
                <a:latin typeface="Arial MT"/>
                <a:cs typeface="Arial MT"/>
              </a:rPr>
              <a:t> </a:t>
            </a:r>
            <a:r>
              <a:rPr lang="en-US" sz="2400" dirty="0">
                <a:solidFill>
                  <a:srgbClr val="000000"/>
                </a:solidFill>
                <a:latin typeface="Arial MT"/>
                <a:cs typeface="Arial MT"/>
              </a:rPr>
              <a:t>error,</a:t>
            </a:r>
            <a:r>
              <a:rPr lang="en-US" sz="2400" spc="-70" dirty="0">
                <a:solidFill>
                  <a:srgbClr val="000000"/>
                </a:solidFill>
                <a:latin typeface="Arial MT"/>
                <a:cs typeface="Arial MT"/>
              </a:rPr>
              <a:t> </a:t>
            </a:r>
            <a:r>
              <a:rPr lang="en-US" sz="2400" spc="-10" dirty="0">
                <a:solidFill>
                  <a:srgbClr val="000000"/>
                </a:solidFill>
                <a:latin typeface="Arial MT"/>
                <a:cs typeface="Arial MT"/>
              </a:rPr>
              <a:t>protocol error)</a:t>
            </a:r>
            <a:endParaRPr lang="en-US" sz="2400" dirty="0">
              <a:latin typeface="Arial MT"/>
              <a:cs typeface="Arial MT"/>
            </a:endParaRPr>
          </a:p>
          <a:p>
            <a:pPr marL="45720">
              <a:lnSpc>
                <a:spcPct val="100000"/>
              </a:lnSpc>
              <a:spcBef>
                <a:spcPts val="1025"/>
              </a:spcBef>
            </a:pPr>
            <a:r>
              <a:rPr lang="en-US" sz="2400" b="1" u="sng" spc="-10" dirty="0">
                <a:solidFill>
                  <a:srgbClr val="000000"/>
                </a:solidFill>
                <a:uFill>
                  <a:solidFill>
                    <a:srgbClr val="000000"/>
                  </a:solidFill>
                </a:uFill>
                <a:latin typeface="Arial"/>
                <a:cs typeface="Arial"/>
              </a:rPr>
              <a:t>Failure:</a:t>
            </a:r>
            <a:endParaRPr lang="en-US" sz="2400" dirty="0">
              <a:latin typeface="Arial"/>
              <a:cs typeface="Arial"/>
            </a:endParaRPr>
          </a:p>
          <a:p>
            <a:pPr marL="38100" marR="314960" indent="0">
              <a:lnSpc>
                <a:spcPts val="3030"/>
              </a:lnSpc>
              <a:spcBef>
                <a:spcPts val="1445"/>
              </a:spcBef>
              <a:buNone/>
            </a:pPr>
            <a:r>
              <a:rPr lang="en-US" sz="2400" dirty="0">
                <a:solidFill>
                  <a:srgbClr val="000000"/>
                </a:solidFill>
                <a:latin typeface="Arial MT"/>
                <a:cs typeface="Arial MT"/>
              </a:rPr>
              <a:t>Software</a:t>
            </a:r>
            <a:r>
              <a:rPr lang="en-US" sz="2400" spc="-50" dirty="0">
                <a:solidFill>
                  <a:srgbClr val="000000"/>
                </a:solidFill>
                <a:latin typeface="Arial MT"/>
                <a:cs typeface="Arial MT"/>
              </a:rPr>
              <a:t> </a:t>
            </a:r>
            <a:r>
              <a:rPr lang="en-US" sz="2400" dirty="0">
                <a:solidFill>
                  <a:srgbClr val="000000"/>
                </a:solidFill>
                <a:latin typeface="Arial MT"/>
                <a:cs typeface="Arial MT"/>
              </a:rPr>
              <a:t>does</a:t>
            </a:r>
            <a:r>
              <a:rPr lang="en-US" sz="2400" spc="-45" dirty="0">
                <a:solidFill>
                  <a:srgbClr val="000000"/>
                </a:solidFill>
                <a:latin typeface="Arial MT"/>
                <a:cs typeface="Arial MT"/>
              </a:rPr>
              <a:t> </a:t>
            </a:r>
            <a:r>
              <a:rPr lang="en-US" sz="2400" dirty="0">
                <a:solidFill>
                  <a:srgbClr val="000000"/>
                </a:solidFill>
                <a:latin typeface="Arial MT"/>
                <a:cs typeface="Arial MT"/>
              </a:rPr>
              <a:t>not</a:t>
            </a:r>
            <a:r>
              <a:rPr lang="en-US" sz="2400" spc="-50" dirty="0">
                <a:solidFill>
                  <a:srgbClr val="000000"/>
                </a:solidFill>
                <a:latin typeface="Arial MT"/>
                <a:cs typeface="Arial MT"/>
              </a:rPr>
              <a:t> </a:t>
            </a:r>
            <a:r>
              <a:rPr lang="en-US" sz="2400" dirty="0">
                <a:solidFill>
                  <a:srgbClr val="000000"/>
                </a:solidFill>
                <a:latin typeface="Arial MT"/>
                <a:cs typeface="Arial MT"/>
              </a:rPr>
              <a:t>deliver</a:t>
            </a:r>
            <a:r>
              <a:rPr lang="en-US" sz="2400" spc="-45" dirty="0">
                <a:solidFill>
                  <a:srgbClr val="000000"/>
                </a:solidFill>
                <a:latin typeface="Arial MT"/>
                <a:cs typeface="Arial MT"/>
              </a:rPr>
              <a:t> </a:t>
            </a:r>
            <a:r>
              <a:rPr lang="en-US" sz="2400" dirty="0">
                <a:solidFill>
                  <a:srgbClr val="000000"/>
                </a:solidFill>
                <a:latin typeface="Arial MT"/>
                <a:cs typeface="Arial MT"/>
              </a:rPr>
              <a:t>the</a:t>
            </a:r>
            <a:r>
              <a:rPr lang="en-US" sz="2400" spc="-45" dirty="0">
                <a:solidFill>
                  <a:srgbClr val="000000"/>
                </a:solidFill>
                <a:latin typeface="Arial MT"/>
                <a:cs typeface="Arial MT"/>
              </a:rPr>
              <a:t> </a:t>
            </a:r>
            <a:r>
              <a:rPr lang="en-US" sz="2400" dirty="0">
                <a:solidFill>
                  <a:srgbClr val="000000"/>
                </a:solidFill>
                <a:latin typeface="Arial MT"/>
                <a:cs typeface="Arial MT"/>
              </a:rPr>
              <a:t>service</a:t>
            </a:r>
            <a:r>
              <a:rPr lang="en-US" sz="2400" spc="-45" dirty="0">
                <a:solidFill>
                  <a:srgbClr val="000000"/>
                </a:solidFill>
                <a:latin typeface="Arial MT"/>
                <a:cs typeface="Arial MT"/>
              </a:rPr>
              <a:t> </a:t>
            </a:r>
            <a:r>
              <a:rPr lang="en-US" sz="2400" dirty="0">
                <a:solidFill>
                  <a:srgbClr val="000000"/>
                </a:solidFill>
                <a:latin typeface="Arial MT"/>
                <a:cs typeface="Arial MT"/>
              </a:rPr>
              <a:t>expected</a:t>
            </a:r>
            <a:r>
              <a:rPr lang="en-US" sz="2400" spc="-55" dirty="0">
                <a:solidFill>
                  <a:srgbClr val="000000"/>
                </a:solidFill>
                <a:latin typeface="Arial MT"/>
                <a:cs typeface="Arial MT"/>
              </a:rPr>
              <a:t> </a:t>
            </a:r>
            <a:r>
              <a:rPr lang="en-US" sz="2400" dirty="0">
                <a:solidFill>
                  <a:srgbClr val="000000"/>
                </a:solidFill>
                <a:latin typeface="Arial MT"/>
                <a:cs typeface="Arial MT"/>
              </a:rPr>
              <a:t>by</a:t>
            </a:r>
            <a:r>
              <a:rPr lang="en-US" sz="2400" spc="-45" dirty="0">
                <a:solidFill>
                  <a:srgbClr val="000000"/>
                </a:solidFill>
                <a:latin typeface="Arial MT"/>
                <a:cs typeface="Arial MT"/>
              </a:rPr>
              <a:t> </a:t>
            </a:r>
            <a:r>
              <a:rPr lang="en-US" sz="2400" dirty="0">
                <a:solidFill>
                  <a:srgbClr val="000000"/>
                </a:solidFill>
                <a:latin typeface="Arial MT"/>
                <a:cs typeface="Arial MT"/>
              </a:rPr>
              <a:t>the</a:t>
            </a:r>
            <a:r>
              <a:rPr lang="en-US" sz="2400" spc="-45" dirty="0">
                <a:solidFill>
                  <a:srgbClr val="000000"/>
                </a:solidFill>
                <a:latin typeface="Arial MT"/>
                <a:cs typeface="Arial MT"/>
              </a:rPr>
              <a:t> </a:t>
            </a:r>
            <a:r>
              <a:rPr lang="en-US" sz="2400" spc="-20" dirty="0">
                <a:solidFill>
                  <a:srgbClr val="000000"/>
                </a:solidFill>
                <a:latin typeface="Arial MT"/>
                <a:cs typeface="Arial MT"/>
              </a:rPr>
              <a:t>user </a:t>
            </a:r>
            <a:r>
              <a:rPr lang="en-US" sz="2400" dirty="0">
                <a:solidFill>
                  <a:srgbClr val="000000"/>
                </a:solidFill>
                <a:latin typeface="Arial MT"/>
                <a:cs typeface="Arial MT"/>
              </a:rPr>
              <a:t>(e.g.,</a:t>
            </a:r>
            <a:r>
              <a:rPr lang="en-US" sz="2400" spc="-70" dirty="0">
                <a:solidFill>
                  <a:srgbClr val="000000"/>
                </a:solidFill>
                <a:latin typeface="Arial MT"/>
                <a:cs typeface="Arial MT"/>
              </a:rPr>
              <a:t> </a:t>
            </a:r>
            <a:r>
              <a:rPr lang="en-US" sz="2400" dirty="0">
                <a:solidFill>
                  <a:srgbClr val="000000"/>
                </a:solidFill>
                <a:latin typeface="Arial MT"/>
                <a:cs typeface="Arial MT"/>
              </a:rPr>
              <a:t>mistake</a:t>
            </a:r>
            <a:r>
              <a:rPr lang="en-US" sz="2400" spc="-60" dirty="0">
                <a:solidFill>
                  <a:srgbClr val="000000"/>
                </a:solidFill>
                <a:latin typeface="Arial MT"/>
                <a:cs typeface="Arial MT"/>
              </a:rPr>
              <a:t> </a:t>
            </a:r>
            <a:r>
              <a:rPr lang="en-US" sz="2400" dirty="0">
                <a:solidFill>
                  <a:srgbClr val="000000"/>
                </a:solidFill>
                <a:latin typeface="Arial MT"/>
                <a:cs typeface="Arial MT"/>
              </a:rPr>
              <a:t>in</a:t>
            </a:r>
            <a:r>
              <a:rPr lang="en-US" sz="2400" spc="-65" dirty="0">
                <a:solidFill>
                  <a:srgbClr val="000000"/>
                </a:solidFill>
                <a:latin typeface="Arial MT"/>
                <a:cs typeface="Arial MT"/>
              </a:rPr>
              <a:t> </a:t>
            </a:r>
            <a:r>
              <a:rPr lang="en-US" sz="2400" dirty="0">
                <a:solidFill>
                  <a:srgbClr val="000000"/>
                </a:solidFill>
                <a:latin typeface="Arial MT"/>
                <a:cs typeface="Arial MT"/>
              </a:rPr>
              <a:t>requirements,</a:t>
            </a:r>
            <a:r>
              <a:rPr lang="en-US" sz="2400" spc="-65" dirty="0">
                <a:solidFill>
                  <a:srgbClr val="000000"/>
                </a:solidFill>
                <a:latin typeface="Arial MT"/>
                <a:cs typeface="Arial MT"/>
              </a:rPr>
              <a:t> </a:t>
            </a:r>
            <a:r>
              <a:rPr lang="en-US" sz="2400" dirty="0">
                <a:solidFill>
                  <a:srgbClr val="000000"/>
                </a:solidFill>
                <a:latin typeface="Arial MT"/>
                <a:cs typeface="Arial MT"/>
              </a:rPr>
              <a:t>confusing</a:t>
            </a:r>
            <a:r>
              <a:rPr lang="en-US" sz="2400" spc="-60" dirty="0">
                <a:solidFill>
                  <a:srgbClr val="000000"/>
                </a:solidFill>
                <a:latin typeface="Arial MT"/>
                <a:cs typeface="Arial MT"/>
              </a:rPr>
              <a:t> </a:t>
            </a:r>
            <a:r>
              <a:rPr lang="en-US" sz="2400" dirty="0">
                <a:solidFill>
                  <a:srgbClr val="000000"/>
                </a:solidFill>
                <a:latin typeface="Arial MT"/>
                <a:cs typeface="Arial MT"/>
              </a:rPr>
              <a:t>user</a:t>
            </a:r>
            <a:r>
              <a:rPr lang="en-US" sz="2400" spc="-65" dirty="0">
                <a:solidFill>
                  <a:srgbClr val="000000"/>
                </a:solidFill>
                <a:latin typeface="Arial MT"/>
                <a:cs typeface="Arial MT"/>
              </a:rPr>
              <a:t> </a:t>
            </a:r>
            <a:r>
              <a:rPr lang="en-US" sz="2400" spc="-10" dirty="0">
                <a:solidFill>
                  <a:srgbClr val="000000"/>
                </a:solidFill>
                <a:latin typeface="Arial MT"/>
                <a:cs typeface="Arial MT"/>
              </a:rPr>
              <a:t>interface)</a:t>
            </a:r>
            <a:endParaRPr lang="en-US" sz="2400" dirty="0">
              <a:latin typeface="Arial MT"/>
              <a:cs typeface="Arial MT"/>
            </a:endParaRPr>
          </a:p>
          <a:p>
            <a:pPr marL="38100" marR="5080" indent="7620">
              <a:lnSpc>
                <a:spcPts val="3020"/>
              </a:lnSpc>
              <a:spcBef>
                <a:spcPts val="1455"/>
              </a:spcBef>
            </a:pPr>
            <a:endParaRPr lang="en-US" sz="2400" dirty="0">
              <a:latin typeface="Arial MT"/>
              <a:cs typeface="Arial MT"/>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a:xfrm>
            <a:off x="457200" y="819150"/>
            <a:ext cx="8218488" cy="1135063"/>
          </a:xfrm>
        </p:spPr>
        <p:txBody>
          <a:bodyPr>
            <a:normAutofit fontScale="90000"/>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smtClean="0"/>
              <a:t>Software Faults and Failures</a:t>
            </a:r>
            <a:br>
              <a:rPr lang="en-GB" dirty="0" smtClean="0"/>
            </a:br>
            <a:r>
              <a:rPr lang="en-US" sz="2800" dirty="0" smtClean="0"/>
              <a:t>Why Does Software Fail?</a:t>
            </a:r>
            <a:endParaRPr lang="en-GB" sz="2800" dirty="0" smtClean="0"/>
          </a:p>
        </p:txBody>
      </p:sp>
      <p:sp>
        <p:nvSpPr>
          <p:cNvPr id="6147" name="Rectangle 2"/>
          <p:cNvSpPr>
            <a:spLocks noGrp="1" noChangeArrowheads="1"/>
          </p:cNvSpPr>
          <p:nvPr>
            <p:ph idx="1"/>
          </p:nvPr>
        </p:nvSpPr>
        <p:spPr>
          <a:xfrm>
            <a:off x="457200" y="2266950"/>
            <a:ext cx="8218488" cy="3524250"/>
          </a:xfrm>
        </p:spPr>
        <p:txBody>
          <a:bodyPr/>
          <a:lstStyle/>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Wrong requirement:  not what the customer wants</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Missing requirement</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Requirement impossible to implement</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Faulty design</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Faulty code</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Improperly implemented design</a:t>
            </a:r>
            <a:endParaRPr lang="en-GB" dirty="0" smtClean="0"/>
          </a:p>
        </p:txBody>
      </p:sp>
    </p:spTree>
    <p:extLst>
      <p:ext uri="{BB962C8B-B14F-4D97-AF65-F5344CB8AC3E}">
        <p14:creationId xmlns:p14="http://schemas.microsoft.com/office/powerpoint/2010/main" val="3000843545"/>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4002733"/>
            <a:ext cx="2805113" cy="2834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0" name="Rectangle 2"/>
          <p:cNvSpPr>
            <a:spLocks noGrp="1" noChangeArrowheads="1"/>
          </p:cNvSpPr>
          <p:nvPr>
            <p:ph type="title"/>
          </p:nvPr>
        </p:nvSpPr>
        <p:spPr/>
        <p:txBody>
          <a:bodyPr>
            <a:normAutofit/>
          </a:bodyPr>
          <a:lstStyle/>
          <a:p>
            <a:pPr eaLnBrk="1" hangingPunct="1"/>
            <a:r>
              <a:rPr lang="en-US" dirty="0" smtClean="0"/>
              <a:t>Objective of Testing</a:t>
            </a:r>
          </a:p>
        </p:txBody>
      </p:sp>
      <p:sp>
        <p:nvSpPr>
          <p:cNvPr id="7171" name="Rectangle 3"/>
          <p:cNvSpPr>
            <a:spLocks noGrp="1" noChangeArrowheads="1"/>
          </p:cNvSpPr>
          <p:nvPr>
            <p:ph idx="1"/>
          </p:nvPr>
        </p:nvSpPr>
        <p:spPr/>
        <p:txBody>
          <a:bodyPr/>
          <a:lstStyle/>
          <a:p>
            <a:pPr eaLnBrk="1" hangingPunct="1"/>
            <a:r>
              <a:rPr lang="en-US" dirty="0" smtClean="0"/>
              <a:t>Objective of testing: discover faults</a:t>
            </a:r>
          </a:p>
          <a:p>
            <a:pPr eaLnBrk="1" hangingPunct="1"/>
            <a:r>
              <a:rPr lang="en-US" dirty="0" smtClean="0"/>
              <a:t>A test is successful only when a fault is discovered</a:t>
            </a:r>
          </a:p>
          <a:p>
            <a:pPr lvl="1" eaLnBrk="1" hangingPunct="1"/>
            <a:r>
              <a:rPr lang="en-US" dirty="0" smtClean="0"/>
              <a:t>Fault identification is the process of determining what fault caused the failure</a:t>
            </a:r>
          </a:p>
          <a:p>
            <a:pPr lvl="1" eaLnBrk="1" hangingPunct="1"/>
            <a:r>
              <a:rPr lang="en-US" dirty="0" smtClean="0"/>
              <a:t>Fault correction is the process of making changes to the system so that the faults are removed</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smtClean="0"/>
              <a:t>Elements of a Test Case</a:t>
            </a:r>
          </a:p>
        </p:txBody>
      </p:sp>
      <p:sp>
        <p:nvSpPr>
          <p:cNvPr id="8195" name="Content Placeholder 2"/>
          <p:cNvSpPr>
            <a:spLocks noGrp="1"/>
          </p:cNvSpPr>
          <p:nvPr>
            <p:ph idx="1"/>
          </p:nvPr>
        </p:nvSpPr>
        <p:spPr/>
        <p:txBody>
          <a:bodyPr/>
          <a:lstStyle/>
          <a:p>
            <a:r>
              <a:rPr lang="en-US" smtClean="0"/>
              <a:t>Purpose</a:t>
            </a:r>
          </a:p>
          <a:p>
            <a:r>
              <a:rPr lang="en-US" smtClean="0"/>
              <a:t>Input</a:t>
            </a:r>
          </a:p>
          <a:p>
            <a:r>
              <a:rPr lang="en-US" smtClean="0"/>
              <a:t>Expected Output</a:t>
            </a:r>
          </a:p>
          <a:p>
            <a:r>
              <a:rPr lang="en-US" smtClean="0"/>
              <a:t>Actual Output</a:t>
            </a:r>
          </a:p>
          <a:p>
            <a:r>
              <a:rPr lang="en-US" smtClean="0"/>
              <a:t>Sample Format:</a:t>
            </a:r>
          </a:p>
          <a:p>
            <a:pPr lvl="1"/>
            <a:endParaRPr lang="en-US" smtClean="0"/>
          </a:p>
        </p:txBody>
      </p:sp>
      <p:graphicFrame>
        <p:nvGraphicFramePr>
          <p:cNvPr id="2" name="Table 1"/>
          <p:cNvGraphicFramePr>
            <a:graphicFrameLocks noGrp="1"/>
          </p:cNvGraphicFramePr>
          <p:nvPr>
            <p:extLst>
              <p:ext uri="{D42A27DB-BD31-4B8C-83A1-F6EECF244321}">
                <p14:modId xmlns:p14="http://schemas.microsoft.com/office/powerpoint/2010/main" val="3878703246"/>
              </p:ext>
            </p:extLst>
          </p:nvPr>
        </p:nvGraphicFramePr>
        <p:xfrm>
          <a:off x="304800" y="4800600"/>
          <a:ext cx="8534400" cy="949960"/>
        </p:xfrm>
        <a:graphic>
          <a:graphicData uri="http://schemas.openxmlformats.org/drawingml/2006/table">
            <a:tbl>
              <a:tblPr firstRow="1" bandRow="1">
                <a:tableStyleId>{5C22544A-7EE6-4342-B048-85BDC9FD1C3A}</a:tableStyleId>
              </a:tblPr>
              <a:tblGrid>
                <a:gridCol w="1422400">
                  <a:extLst>
                    <a:ext uri="{9D8B030D-6E8A-4147-A177-3AD203B41FA5}">
                      <a16:colId xmlns="" xmlns:a16="http://schemas.microsoft.com/office/drawing/2014/main" val="20000"/>
                    </a:ext>
                  </a:extLst>
                </a:gridCol>
                <a:gridCol w="1422400">
                  <a:extLst>
                    <a:ext uri="{9D8B030D-6E8A-4147-A177-3AD203B41FA5}">
                      <a16:colId xmlns="" xmlns:a16="http://schemas.microsoft.com/office/drawing/2014/main" val="20001"/>
                    </a:ext>
                  </a:extLst>
                </a:gridCol>
                <a:gridCol w="1422400">
                  <a:extLst>
                    <a:ext uri="{9D8B030D-6E8A-4147-A177-3AD203B41FA5}">
                      <a16:colId xmlns="" xmlns:a16="http://schemas.microsoft.com/office/drawing/2014/main" val="20002"/>
                    </a:ext>
                  </a:extLst>
                </a:gridCol>
                <a:gridCol w="1422400">
                  <a:extLst>
                    <a:ext uri="{9D8B030D-6E8A-4147-A177-3AD203B41FA5}">
                      <a16:colId xmlns="" xmlns:a16="http://schemas.microsoft.com/office/drawing/2014/main" val="20003"/>
                    </a:ext>
                  </a:extLst>
                </a:gridCol>
                <a:gridCol w="1422400">
                  <a:extLst>
                    <a:ext uri="{9D8B030D-6E8A-4147-A177-3AD203B41FA5}">
                      <a16:colId xmlns="" xmlns:a16="http://schemas.microsoft.com/office/drawing/2014/main" val="20004"/>
                    </a:ext>
                  </a:extLst>
                </a:gridCol>
                <a:gridCol w="1422400">
                  <a:extLst>
                    <a:ext uri="{9D8B030D-6E8A-4147-A177-3AD203B41FA5}">
                      <a16:colId xmlns="" xmlns:a16="http://schemas.microsoft.com/office/drawing/2014/main" val="20005"/>
                    </a:ext>
                  </a:extLst>
                </a:gridCol>
              </a:tblGrid>
              <a:tr h="370840">
                <a:tc>
                  <a:txBody>
                    <a:bodyPr/>
                    <a:lstStyle/>
                    <a:p>
                      <a:r>
                        <a:rPr lang="en-US" sz="1600" dirty="0" smtClean="0"/>
                        <a:t>Test Case ID</a:t>
                      </a:r>
                      <a:endParaRPr lang="en-US" sz="1600" dirty="0"/>
                    </a:p>
                  </a:txBody>
                  <a:tcPr/>
                </a:tc>
                <a:tc>
                  <a:txBody>
                    <a:bodyPr/>
                    <a:lstStyle/>
                    <a:p>
                      <a:r>
                        <a:rPr lang="en-US" sz="1600" dirty="0" smtClean="0"/>
                        <a:t>Purpose</a:t>
                      </a:r>
                      <a:endParaRPr lang="en-US" sz="1600" dirty="0"/>
                    </a:p>
                  </a:txBody>
                  <a:tcPr/>
                </a:tc>
                <a:tc>
                  <a:txBody>
                    <a:bodyPr/>
                    <a:lstStyle/>
                    <a:p>
                      <a:r>
                        <a:rPr lang="en-US" sz="1600" dirty="0" smtClean="0"/>
                        <a:t>Input Data</a:t>
                      </a:r>
                      <a:endParaRPr lang="en-US" sz="1600" dirty="0"/>
                    </a:p>
                  </a:txBody>
                  <a:tcPr/>
                </a:tc>
                <a:tc>
                  <a:txBody>
                    <a:bodyPr/>
                    <a:lstStyle/>
                    <a:p>
                      <a:r>
                        <a:rPr lang="en-US" sz="1600" dirty="0" smtClean="0"/>
                        <a:t>Expected Output</a:t>
                      </a:r>
                      <a:endParaRPr lang="en-US" sz="1600" dirty="0"/>
                    </a:p>
                  </a:txBody>
                  <a:tcPr/>
                </a:tc>
                <a:tc>
                  <a:txBody>
                    <a:bodyPr/>
                    <a:lstStyle/>
                    <a:p>
                      <a:r>
                        <a:rPr lang="en-US" sz="1600" dirty="0" smtClean="0"/>
                        <a:t>Actual Output</a:t>
                      </a:r>
                      <a:endParaRPr lang="en-US" sz="1600" dirty="0"/>
                    </a:p>
                  </a:txBody>
                  <a:tcPr/>
                </a:tc>
                <a:tc>
                  <a:txBody>
                    <a:bodyPr/>
                    <a:lstStyle/>
                    <a:p>
                      <a:r>
                        <a:rPr lang="en-US" sz="1600" dirty="0" smtClean="0"/>
                        <a:t>Result</a:t>
                      </a:r>
                      <a:endParaRPr lang="en-US" sz="1600" dirty="0"/>
                    </a:p>
                  </a:txBody>
                  <a:tcPr/>
                </a:tc>
                <a:extLst>
                  <a:ext uri="{0D108BD9-81ED-4DB2-BD59-A6C34878D82A}">
                    <a16:rowId xmlns="" xmlns:a16="http://schemas.microsoft.com/office/drawing/2014/main" val="10000"/>
                  </a:ext>
                </a:extLst>
              </a:tr>
              <a:tr h="370840">
                <a:tc>
                  <a:txBody>
                    <a:bodyPr/>
                    <a:lstStyle/>
                    <a:p>
                      <a:endParaRPr lang="en-US" sz="1600"/>
                    </a:p>
                  </a:txBody>
                  <a:tcPr/>
                </a:tc>
                <a:tc>
                  <a:txBody>
                    <a:bodyPr/>
                    <a:lstStyle/>
                    <a:p>
                      <a:endParaRPr lang="en-US" sz="1600"/>
                    </a:p>
                  </a:txBody>
                  <a:tcPr/>
                </a:tc>
                <a:tc>
                  <a:txBody>
                    <a:bodyPr/>
                    <a:lstStyle/>
                    <a:p>
                      <a:endParaRPr lang="en-US" sz="1600"/>
                    </a:p>
                  </a:txBody>
                  <a:tcPr/>
                </a:tc>
                <a:tc>
                  <a:txBody>
                    <a:bodyPr/>
                    <a:lstStyle/>
                    <a:p>
                      <a:endParaRPr lang="en-US" sz="1600"/>
                    </a:p>
                  </a:txBody>
                  <a:tcPr/>
                </a:tc>
                <a:tc>
                  <a:txBody>
                    <a:bodyPr/>
                    <a:lstStyle/>
                    <a:p>
                      <a:endParaRPr lang="en-US" sz="1600"/>
                    </a:p>
                  </a:txBody>
                  <a:tcPr/>
                </a:tc>
                <a:tc>
                  <a:txBody>
                    <a:bodyPr/>
                    <a:lstStyle/>
                    <a:p>
                      <a:endParaRPr lang="en-US" sz="1600" dirty="0"/>
                    </a:p>
                  </a:txBody>
                  <a:tcPr/>
                </a:tc>
                <a:extLst>
                  <a:ext uri="{0D108BD9-81ED-4DB2-BD59-A6C34878D82A}">
                    <a16:rowId xmlns=""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pPr eaLnBrk="1" hangingPunct="1"/>
            <a:r>
              <a:rPr lang="en-US" dirty="0" smtClean="0"/>
              <a:t>Types of Faults</a:t>
            </a:r>
          </a:p>
        </p:txBody>
      </p:sp>
      <p:sp>
        <p:nvSpPr>
          <p:cNvPr id="9219" name="Rectangle 3"/>
          <p:cNvSpPr>
            <a:spLocks noGrp="1" noChangeArrowheads="1"/>
          </p:cNvSpPr>
          <p:nvPr>
            <p:ph idx="1"/>
          </p:nvPr>
        </p:nvSpPr>
        <p:spPr/>
        <p:txBody>
          <a:bodyPr/>
          <a:lstStyle/>
          <a:p>
            <a:pPr eaLnBrk="1" hangingPunct="1">
              <a:lnSpc>
                <a:spcPct val="90000"/>
              </a:lnSpc>
            </a:pPr>
            <a:r>
              <a:rPr lang="en-US" sz="2400" dirty="0" smtClean="0"/>
              <a:t>Algorithmic fault (logic)</a:t>
            </a:r>
          </a:p>
          <a:p>
            <a:pPr eaLnBrk="1" hangingPunct="1">
              <a:lnSpc>
                <a:spcPct val="90000"/>
              </a:lnSpc>
            </a:pPr>
            <a:r>
              <a:rPr lang="en-US" sz="2400" dirty="0" smtClean="0"/>
              <a:t>Computation and precision fault</a:t>
            </a:r>
          </a:p>
          <a:p>
            <a:pPr lvl="1" eaLnBrk="1" hangingPunct="1">
              <a:lnSpc>
                <a:spcPct val="90000"/>
              </a:lnSpc>
            </a:pPr>
            <a:r>
              <a:rPr lang="en-US" sz="2000" dirty="0" smtClean="0"/>
              <a:t>a formula’s implementation is wrong</a:t>
            </a:r>
          </a:p>
          <a:p>
            <a:pPr eaLnBrk="1" hangingPunct="1">
              <a:lnSpc>
                <a:spcPct val="90000"/>
              </a:lnSpc>
            </a:pPr>
            <a:r>
              <a:rPr lang="en-US" sz="2400" dirty="0" smtClean="0"/>
              <a:t>Capacity or boundary faults</a:t>
            </a:r>
          </a:p>
          <a:p>
            <a:pPr lvl="1" eaLnBrk="1" hangingPunct="1">
              <a:lnSpc>
                <a:spcPct val="90000"/>
              </a:lnSpc>
            </a:pPr>
            <a:r>
              <a:rPr lang="en-US" sz="2000" dirty="0" smtClean="0"/>
              <a:t>System’s performance not acceptable when certain limits are reached</a:t>
            </a:r>
          </a:p>
          <a:p>
            <a:pPr eaLnBrk="1" hangingPunct="1">
              <a:lnSpc>
                <a:spcPct val="90000"/>
              </a:lnSpc>
            </a:pPr>
            <a:r>
              <a:rPr lang="en-US" sz="2400" dirty="0" smtClean="0"/>
              <a:t>Timing or coordination faults</a:t>
            </a:r>
          </a:p>
          <a:p>
            <a:pPr eaLnBrk="1" hangingPunct="1">
              <a:lnSpc>
                <a:spcPct val="90000"/>
              </a:lnSpc>
            </a:pPr>
            <a:r>
              <a:rPr lang="en-US" sz="2400" dirty="0" smtClean="0"/>
              <a:t>Performance faults</a:t>
            </a:r>
          </a:p>
          <a:p>
            <a:pPr lvl="1" eaLnBrk="1" hangingPunct="1">
              <a:lnSpc>
                <a:spcPct val="90000"/>
              </a:lnSpc>
            </a:pPr>
            <a:r>
              <a:rPr lang="en-US" sz="2000" dirty="0" smtClean="0"/>
              <a:t>System does not perform at the speed prescribed</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Grp="1" noChangeArrowheads="1"/>
          </p:cNvSpPr>
          <p:nvPr>
            <p:ph type="title"/>
          </p:nvPr>
        </p:nvSpPr>
        <p:spPr>
          <a:xfrm>
            <a:off x="457200" y="1150937"/>
            <a:ext cx="8218488" cy="1135063"/>
          </a:xfrm>
        </p:spPr>
        <p:txBody>
          <a:bodyPr>
            <a:normAutofit fontScale="90000"/>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smtClean="0"/>
              <a:t>Software Faults and Failures</a:t>
            </a:r>
            <a:br>
              <a:rPr lang="en-GB" dirty="0" smtClean="0"/>
            </a:br>
            <a:r>
              <a:rPr lang="en-GB" sz="2800" dirty="0" smtClean="0"/>
              <a:t>Typical Algorithmic Faults</a:t>
            </a:r>
          </a:p>
        </p:txBody>
      </p:sp>
      <p:sp>
        <p:nvSpPr>
          <p:cNvPr id="10243" name="Rectangle 2"/>
          <p:cNvSpPr>
            <a:spLocks noGrp="1" noChangeArrowheads="1"/>
          </p:cNvSpPr>
          <p:nvPr>
            <p:ph idx="1"/>
          </p:nvPr>
        </p:nvSpPr>
        <p:spPr>
          <a:xfrm>
            <a:off x="457200" y="2571750"/>
            <a:ext cx="8218488" cy="2838450"/>
          </a:xfrm>
        </p:spPr>
        <p:txBody>
          <a:bodyPr/>
          <a:lstStyle/>
          <a:p>
            <a:pPr eaLnBrk="1" hangingPunct="1">
              <a:lnSpc>
                <a:spcPct val="9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An algorithmic fault occurs when a component’s algorithm or logic does not produce proper output</a:t>
            </a:r>
          </a:p>
          <a:p>
            <a:pPr lvl="1" eaLnBrk="1" hangingPunct="1">
              <a:lnSpc>
                <a:spcPct val="9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Branching too soon</a:t>
            </a:r>
          </a:p>
          <a:p>
            <a:pPr lvl="1" eaLnBrk="1" hangingPunct="1">
              <a:lnSpc>
                <a:spcPct val="9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Branching too late</a:t>
            </a:r>
          </a:p>
          <a:p>
            <a:pPr lvl="1" eaLnBrk="1" hangingPunct="1">
              <a:lnSpc>
                <a:spcPct val="9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Forgetting to initialize variable or set loop invariants</a:t>
            </a:r>
          </a:p>
          <a:p>
            <a:pPr lvl="1" eaLnBrk="1" hangingPunct="1">
              <a:lnSpc>
                <a:spcPct val="9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Comparing variables of inappropriate data types</a:t>
            </a: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1143000"/>
            <a:ext cx="8229600" cy="1143000"/>
          </a:xfrm>
        </p:spPr>
        <p:txBody>
          <a:bodyPr>
            <a:noAutofit/>
          </a:bodyPr>
          <a:lstStyle/>
          <a:p>
            <a:pPr eaLnBrk="1" hangingPunct="1"/>
            <a:r>
              <a:rPr lang="en-US" dirty="0"/>
              <a:t>Different Level of Failure Severity</a:t>
            </a:r>
          </a:p>
        </p:txBody>
      </p:sp>
      <p:sp>
        <p:nvSpPr>
          <p:cNvPr id="16387" name="Rectangle 3"/>
          <p:cNvSpPr>
            <a:spLocks noGrp="1" noChangeArrowheads="1"/>
          </p:cNvSpPr>
          <p:nvPr>
            <p:ph type="body" idx="1"/>
          </p:nvPr>
        </p:nvSpPr>
        <p:spPr>
          <a:xfrm>
            <a:off x="457200" y="2316480"/>
            <a:ext cx="8229600" cy="3931920"/>
          </a:xfrm>
        </p:spPr>
        <p:txBody>
          <a:bodyPr/>
          <a:lstStyle/>
          <a:p>
            <a:pPr eaLnBrk="1" hangingPunct="1"/>
            <a:r>
              <a:rPr lang="en-US" dirty="0" smtClean="0"/>
              <a:t>Catastrophic: causes death or system loss</a:t>
            </a:r>
          </a:p>
          <a:p>
            <a:pPr eaLnBrk="1" hangingPunct="1"/>
            <a:r>
              <a:rPr lang="en-US" dirty="0" smtClean="0"/>
              <a:t>Critical: causes severe injury or major system damage</a:t>
            </a:r>
          </a:p>
          <a:p>
            <a:pPr eaLnBrk="1" hangingPunct="1"/>
            <a:r>
              <a:rPr lang="en-US" dirty="0" smtClean="0"/>
              <a:t>Marginal: causes minor injury or minor system damage</a:t>
            </a:r>
          </a:p>
          <a:p>
            <a:pPr eaLnBrk="1" hangingPunct="1"/>
            <a:r>
              <a:rPr lang="en-US" dirty="0" smtClean="0"/>
              <a:t>Minor: causes no injury or system damage</a:t>
            </a:r>
          </a:p>
        </p:txBody>
      </p:sp>
    </p:spTree>
    <p:extLst>
      <p:ext uri="{BB962C8B-B14F-4D97-AF65-F5344CB8AC3E}">
        <p14:creationId xmlns:p14="http://schemas.microsoft.com/office/powerpoint/2010/main" val="754291516"/>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pPr eaLnBrk="1" hangingPunct="1"/>
            <a:r>
              <a:rPr lang="en-US" dirty="0" smtClean="0"/>
              <a:t>Testing Issues</a:t>
            </a:r>
            <a:br>
              <a:rPr lang="en-US" dirty="0" smtClean="0"/>
            </a:br>
            <a:r>
              <a:rPr lang="en-US" sz="2800" dirty="0" smtClean="0"/>
              <a:t>Who Performs the Test?</a:t>
            </a:r>
            <a:endParaRPr lang="en-US" sz="2400" dirty="0" smtClean="0"/>
          </a:p>
        </p:txBody>
      </p:sp>
      <p:sp>
        <p:nvSpPr>
          <p:cNvPr id="14339" name="Rectangle 3"/>
          <p:cNvSpPr>
            <a:spLocks noGrp="1" noChangeArrowheads="1"/>
          </p:cNvSpPr>
          <p:nvPr>
            <p:ph idx="1"/>
          </p:nvPr>
        </p:nvSpPr>
        <p:spPr/>
        <p:txBody>
          <a:bodyPr/>
          <a:lstStyle/>
          <a:p>
            <a:pPr eaLnBrk="1" hangingPunct="1"/>
            <a:r>
              <a:rPr lang="en-US" dirty="0" smtClean="0"/>
              <a:t>Independent test team</a:t>
            </a:r>
          </a:p>
          <a:p>
            <a:pPr lvl="1" eaLnBrk="1" hangingPunct="1"/>
            <a:r>
              <a:rPr lang="en-US" dirty="0" smtClean="0"/>
              <a:t>avoid conflict </a:t>
            </a:r>
          </a:p>
          <a:p>
            <a:pPr lvl="2"/>
            <a:r>
              <a:rPr lang="en-US" dirty="0" smtClean="0"/>
              <a:t>personal responsibility vs need to discover faults</a:t>
            </a:r>
          </a:p>
          <a:p>
            <a:pPr lvl="1" eaLnBrk="1" hangingPunct="1"/>
            <a:r>
              <a:rPr lang="en-US" dirty="0" smtClean="0"/>
              <a:t>improve objectivity</a:t>
            </a:r>
          </a:p>
          <a:p>
            <a:pPr lvl="1" eaLnBrk="1" hangingPunct="1"/>
            <a:r>
              <a:rPr lang="en-US" dirty="0" smtClean="0"/>
              <a:t>allow testing and coding concurrently</a:t>
            </a:r>
          </a:p>
          <a:p>
            <a:pPr lvl="1" eaLnBrk="1" hangingPunct="1"/>
            <a:endParaRPr lang="en-US" dirty="0" smtClean="0"/>
          </a:p>
          <a:p>
            <a:pPr lvl="1" eaLnBrk="1" hangingPunct="1"/>
            <a:endParaRPr lang="en-US" dirty="0" smtClean="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pPr eaLnBrk="1" hangingPunct="1"/>
            <a:r>
              <a:rPr lang="en-US" dirty="0" smtClean="0"/>
              <a:t>Testing Issues</a:t>
            </a:r>
            <a:br>
              <a:rPr lang="en-US" dirty="0" smtClean="0"/>
            </a:br>
            <a:r>
              <a:rPr lang="en-US" sz="2800" dirty="0" smtClean="0"/>
              <a:t>Views of the Test Objects</a:t>
            </a:r>
          </a:p>
        </p:txBody>
      </p:sp>
      <p:sp>
        <p:nvSpPr>
          <p:cNvPr id="15363" name="Rectangle 3"/>
          <p:cNvSpPr>
            <a:spLocks noGrp="1" noChangeArrowheads="1"/>
          </p:cNvSpPr>
          <p:nvPr>
            <p:ph idx="1"/>
          </p:nvPr>
        </p:nvSpPr>
        <p:spPr/>
        <p:txBody>
          <a:bodyPr/>
          <a:lstStyle/>
          <a:p>
            <a:pPr eaLnBrk="1" hangingPunct="1"/>
            <a:r>
              <a:rPr lang="en-US" smtClean="0"/>
              <a:t>Closed box or black box: functionality of the test objects	</a:t>
            </a:r>
          </a:p>
          <a:p>
            <a:pPr lvl="1" eaLnBrk="1" hangingPunct="1"/>
            <a:r>
              <a:rPr lang="en-US" smtClean="0"/>
              <a:t>Equivalence Class, Boundary Value Analysis,  Scenario-based, Decision Table based, State Machine based…</a:t>
            </a:r>
          </a:p>
          <a:p>
            <a:pPr eaLnBrk="1" hangingPunct="1"/>
            <a:r>
              <a:rPr lang="en-US" smtClean="0"/>
              <a:t>Clear box or white box: structure of the test objects </a:t>
            </a:r>
          </a:p>
          <a:p>
            <a:pPr lvl="1" eaLnBrk="1" hangingPunct="1"/>
            <a:r>
              <a:rPr lang="en-US" smtClean="0"/>
              <a:t>Control Flow</a:t>
            </a:r>
          </a:p>
          <a:p>
            <a:pPr lvl="2" eaLnBrk="1" hangingPunct="1"/>
            <a:r>
              <a:rPr lang="en-US" smtClean="0"/>
              <a:t>Basis Path, Branch, Statement, Decision…</a:t>
            </a:r>
          </a:p>
          <a:p>
            <a:pPr lvl="1" eaLnBrk="1" hangingPunct="1"/>
            <a:r>
              <a:rPr lang="en-US" smtClean="0"/>
              <a:t>Data Flow</a:t>
            </a:r>
          </a:p>
          <a:p>
            <a:pPr lvl="2" eaLnBrk="1" hangingPunct="1"/>
            <a:r>
              <a:rPr lang="en-US" smtClean="0"/>
              <a:t>Du Path, All-uses Path</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Cases for Triangle Problem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82581615"/>
              </p:ext>
            </p:extLst>
          </p:nvPr>
        </p:nvGraphicFramePr>
        <p:xfrm>
          <a:off x="592925" y="2376922"/>
          <a:ext cx="5468303" cy="1614491"/>
        </p:xfrm>
        <a:graphic>
          <a:graphicData uri="http://schemas.openxmlformats.org/drawingml/2006/table">
            <a:tbl>
              <a:tblPr firstRow="1" firstCol="1" bandRow="1">
                <a:tableStyleId>{5C22544A-7EE6-4342-B048-85BDC9FD1C3A}</a:tableStyleId>
              </a:tblPr>
              <a:tblGrid>
                <a:gridCol w="462280">
                  <a:extLst>
                    <a:ext uri="{9D8B030D-6E8A-4147-A177-3AD203B41FA5}">
                      <a16:colId xmlns="" xmlns:a16="http://schemas.microsoft.com/office/drawing/2014/main" val="20000"/>
                    </a:ext>
                  </a:extLst>
                </a:gridCol>
                <a:gridCol w="1008698">
                  <a:extLst>
                    <a:ext uri="{9D8B030D-6E8A-4147-A177-3AD203B41FA5}">
                      <a16:colId xmlns="" xmlns:a16="http://schemas.microsoft.com/office/drawing/2014/main" val="20001"/>
                    </a:ext>
                  </a:extLst>
                </a:gridCol>
                <a:gridCol w="462280">
                  <a:extLst>
                    <a:ext uri="{9D8B030D-6E8A-4147-A177-3AD203B41FA5}">
                      <a16:colId xmlns="" xmlns:a16="http://schemas.microsoft.com/office/drawing/2014/main" val="20002"/>
                    </a:ext>
                  </a:extLst>
                </a:gridCol>
                <a:gridCol w="462280">
                  <a:extLst>
                    <a:ext uri="{9D8B030D-6E8A-4147-A177-3AD203B41FA5}">
                      <a16:colId xmlns="" xmlns:a16="http://schemas.microsoft.com/office/drawing/2014/main" val="20003"/>
                    </a:ext>
                  </a:extLst>
                </a:gridCol>
                <a:gridCol w="462280">
                  <a:extLst>
                    <a:ext uri="{9D8B030D-6E8A-4147-A177-3AD203B41FA5}">
                      <a16:colId xmlns="" xmlns:a16="http://schemas.microsoft.com/office/drawing/2014/main" val="20004"/>
                    </a:ext>
                  </a:extLst>
                </a:gridCol>
                <a:gridCol w="2610485">
                  <a:extLst>
                    <a:ext uri="{9D8B030D-6E8A-4147-A177-3AD203B41FA5}">
                      <a16:colId xmlns="" xmlns:a16="http://schemas.microsoft.com/office/drawing/2014/main" val="20005"/>
                    </a:ext>
                  </a:extLst>
                </a:gridCol>
              </a:tblGrid>
              <a:tr h="0">
                <a:tc>
                  <a:txBody>
                    <a:bodyPr/>
                    <a:lstStyle/>
                    <a:p>
                      <a:pPr marL="0" marR="0">
                        <a:lnSpc>
                          <a:spcPct val="107000"/>
                        </a:lnSpc>
                        <a:spcBef>
                          <a:spcPts val="0"/>
                        </a:spcBef>
                        <a:spcAft>
                          <a:spcPts val="0"/>
                        </a:spcAft>
                      </a:pPr>
                      <a:r>
                        <a:rPr lang="en-US" sz="1100">
                          <a:effectLst/>
                        </a:rPr>
                        <a:t>TC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What to test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0"/>
                  </a:ext>
                </a:extLst>
              </a:tr>
              <a:tr h="0">
                <a:tc>
                  <a:txBody>
                    <a:bodyPr/>
                    <a:lstStyle/>
                    <a:p>
                      <a:pPr marL="0" marR="0">
                        <a:lnSpc>
                          <a:spcPct val="107000"/>
                        </a:lnSpc>
                        <a:spcBef>
                          <a:spcPts val="0"/>
                        </a:spcBef>
                        <a:spcAft>
                          <a:spcPts val="0"/>
                        </a:spcAft>
                      </a:pPr>
                      <a:r>
                        <a:rPr lang="en-US" sz="11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EC1 of 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A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1"/>
                  </a:ext>
                </a:extLst>
              </a:tr>
              <a:tr h="0">
                <a:tc>
                  <a:txBody>
                    <a:bodyPr/>
                    <a:lstStyle/>
                    <a:p>
                      <a:pPr marL="0" marR="0">
                        <a:lnSpc>
                          <a:spcPct val="107000"/>
                        </a:lnSpc>
                        <a:spcBef>
                          <a:spcPts val="0"/>
                        </a:spcBef>
                        <a:spcAft>
                          <a:spcPts val="0"/>
                        </a:spcAft>
                      </a:pPr>
                      <a:r>
                        <a:rPr lang="en-US" sz="11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EC1 of 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B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2"/>
                  </a:ext>
                </a:extLst>
              </a:tr>
              <a:tr h="0">
                <a:tc>
                  <a:txBody>
                    <a:bodyPr/>
                    <a:lstStyle/>
                    <a:p>
                      <a:pPr marL="0" marR="0">
                        <a:lnSpc>
                          <a:spcPct val="107000"/>
                        </a:lnSpc>
                        <a:spcBef>
                          <a:spcPts val="0"/>
                        </a:spcBef>
                        <a:spcAft>
                          <a:spcPts val="0"/>
                        </a:spcAft>
                      </a:pPr>
                      <a:r>
                        <a:rPr lang="en-US"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EC1 of 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C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3"/>
                  </a:ext>
                </a:extLst>
              </a:tr>
              <a:tr h="0">
                <a:tc>
                  <a:txBody>
                    <a:bodyPr/>
                    <a:lstStyle/>
                    <a:p>
                      <a:pPr marL="0" marR="0">
                        <a:lnSpc>
                          <a:spcPct val="107000"/>
                        </a:lnSpc>
                        <a:spcBef>
                          <a:spcPts val="0"/>
                        </a:spcBef>
                        <a:spcAft>
                          <a:spcPts val="0"/>
                        </a:spcAft>
                      </a:pPr>
                      <a:r>
                        <a:rPr lang="en-US" sz="11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EC3 of 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A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4"/>
                  </a:ext>
                </a:extLst>
              </a:tr>
              <a:tr h="0">
                <a:tc>
                  <a:txBody>
                    <a:bodyPr/>
                    <a:lstStyle/>
                    <a:p>
                      <a:pPr marL="0" marR="0">
                        <a:lnSpc>
                          <a:spcPct val="107000"/>
                        </a:lnSpc>
                        <a:spcBef>
                          <a:spcPts val="0"/>
                        </a:spcBef>
                        <a:spcAft>
                          <a:spcPts val="0"/>
                        </a:spcAft>
                      </a:pPr>
                      <a:r>
                        <a:rPr lang="en-US"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EC3 of 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B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5"/>
                  </a:ext>
                </a:extLst>
              </a:tr>
              <a:tr h="0">
                <a:tc>
                  <a:txBody>
                    <a:bodyPr/>
                    <a:lstStyle/>
                    <a:p>
                      <a:pPr marL="0" marR="0">
                        <a:lnSpc>
                          <a:spcPct val="107000"/>
                        </a:lnSpc>
                        <a:spcBef>
                          <a:spcPts val="0"/>
                        </a:spcBef>
                        <a:spcAft>
                          <a:spcPts val="0"/>
                        </a:spcAft>
                      </a:pPr>
                      <a:r>
                        <a:rPr lang="en-US" sz="1100">
                          <a:effectLst/>
                        </a:rPr>
                        <a:t>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EC3 of 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C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6"/>
                  </a:ext>
                </a:extLst>
              </a:tr>
              <a:tr h="0">
                <a:tc>
                  <a:txBody>
                    <a:bodyPr/>
                    <a:lstStyle/>
                    <a:p>
                      <a:pPr marL="0" marR="0">
                        <a:lnSpc>
                          <a:spcPct val="107000"/>
                        </a:lnSpc>
                        <a:spcBef>
                          <a:spcPts val="0"/>
                        </a:spcBef>
                        <a:spcAft>
                          <a:spcPts val="0"/>
                        </a:spcAft>
                      </a:pPr>
                      <a:r>
                        <a:rPr lang="en-US" sz="1100">
                          <a:effectLst/>
                        </a:rPr>
                        <a:t>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EC2 of A, B, 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Equilateral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7"/>
                  </a:ext>
                </a:extLst>
              </a:tr>
            </a:tbl>
          </a:graphicData>
        </a:graphic>
      </p:graphicFrame>
      <p:sp>
        <p:nvSpPr>
          <p:cNvPr id="5" name="Rectangle 1"/>
          <p:cNvSpPr>
            <a:spLocks noChangeArrowheads="1"/>
          </p:cNvSpPr>
          <p:nvPr/>
        </p:nvSpPr>
        <p:spPr bwMode="auto">
          <a:xfrm>
            <a:off x="592924" y="1942729"/>
            <a:ext cx="375047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Test cases based on input range</a:t>
            </a:r>
            <a:endParaRPr kumimoji="0" lang="en-US" altLang="en-US" sz="2800" b="1"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504215" y="3911138"/>
            <a:ext cx="7484275" cy="1200329"/>
          </a:xfrm>
          <a:prstGeom prst="rect">
            <a:avLst/>
          </a:prstGeom>
        </p:spPr>
        <p:txBody>
          <a:bodyPr wrap="square">
            <a:spAutoFit/>
          </a:bodyPr>
          <a:lstStyle/>
          <a:p>
            <a:r>
              <a:rPr lang="en-US" dirty="0">
                <a:solidFill>
                  <a:schemeClr val="tx2"/>
                </a:solidFill>
                <a:latin typeface="Calibri" panose="020F0502020204030204" pitchFamily="34" charset="0"/>
                <a:ea typeface="Calibri" panose="020F0502020204030204" pitchFamily="34" charset="0"/>
                <a:cs typeface="Times New Roman" panose="02020603050405020304" pitchFamily="18" charset="0"/>
              </a:rPr>
              <a:t>Note that we have made only one test case instead of three separate test cases to check ABC in valid range. This one test could be any test cases with any valid combination of A, B, </a:t>
            </a:r>
            <a:r>
              <a:rPr lang="en-US" dirty="0" smtClean="0">
                <a:solidFill>
                  <a:schemeClr val="tx2"/>
                </a:solidFill>
                <a:latin typeface="Calibri" panose="020F0502020204030204" pitchFamily="34" charset="0"/>
                <a:ea typeface="Calibri" panose="020F0502020204030204" pitchFamily="34" charset="0"/>
                <a:cs typeface="Times New Roman" panose="02020603050405020304" pitchFamily="18" charset="0"/>
              </a:rPr>
              <a:t>C; for example see any of the valid range based test cases.</a:t>
            </a:r>
            <a:endParaRPr lang="en-US" dirty="0">
              <a:solidFill>
                <a:schemeClr val="tx2"/>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2692326193"/>
              </p:ext>
            </p:extLst>
          </p:nvPr>
        </p:nvGraphicFramePr>
        <p:xfrm>
          <a:off x="2749550" y="5531340"/>
          <a:ext cx="5937250" cy="896940"/>
        </p:xfrm>
        <a:graphic>
          <a:graphicData uri="http://schemas.openxmlformats.org/drawingml/2006/table">
            <a:tbl>
              <a:tblPr firstRow="1" firstCol="1" bandRow="1">
                <a:tableStyleId>{5C22544A-7EE6-4342-B048-85BDC9FD1C3A}</a:tableStyleId>
              </a:tblPr>
              <a:tblGrid>
                <a:gridCol w="989330">
                  <a:extLst>
                    <a:ext uri="{9D8B030D-6E8A-4147-A177-3AD203B41FA5}">
                      <a16:colId xmlns="" xmlns:a16="http://schemas.microsoft.com/office/drawing/2014/main" val="20000"/>
                    </a:ext>
                  </a:extLst>
                </a:gridCol>
                <a:gridCol w="989330">
                  <a:extLst>
                    <a:ext uri="{9D8B030D-6E8A-4147-A177-3AD203B41FA5}">
                      <a16:colId xmlns="" xmlns:a16="http://schemas.microsoft.com/office/drawing/2014/main" val="20001"/>
                    </a:ext>
                  </a:extLst>
                </a:gridCol>
                <a:gridCol w="989330">
                  <a:extLst>
                    <a:ext uri="{9D8B030D-6E8A-4147-A177-3AD203B41FA5}">
                      <a16:colId xmlns="" xmlns:a16="http://schemas.microsoft.com/office/drawing/2014/main" val="20002"/>
                    </a:ext>
                  </a:extLst>
                </a:gridCol>
                <a:gridCol w="989330">
                  <a:extLst>
                    <a:ext uri="{9D8B030D-6E8A-4147-A177-3AD203B41FA5}">
                      <a16:colId xmlns="" xmlns:a16="http://schemas.microsoft.com/office/drawing/2014/main" val="20003"/>
                    </a:ext>
                  </a:extLst>
                </a:gridCol>
                <a:gridCol w="989965">
                  <a:extLst>
                    <a:ext uri="{9D8B030D-6E8A-4147-A177-3AD203B41FA5}">
                      <a16:colId xmlns="" xmlns:a16="http://schemas.microsoft.com/office/drawing/2014/main" val="20004"/>
                    </a:ext>
                  </a:extLst>
                </a:gridCol>
                <a:gridCol w="989965">
                  <a:extLst>
                    <a:ext uri="{9D8B030D-6E8A-4147-A177-3AD203B41FA5}">
                      <a16:colId xmlns="" xmlns:a16="http://schemas.microsoft.com/office/drawing/2014/main" val="20005"/>
                    </a:ext>
                  </a:extLst>
                </a:gridCol>
              </a:tblGrid>
              <a:tr h="0">
                <a:tc>
                  <a:txBody>
                    <a:bodyPr/>
                    <a:lstStyle/>
                    <a:p>
                      <a:pPr marL="0" marR="0">
                        <a:lnSpc>
                          <a:spcPct val="107000"/>
                        </a:lnSpc>
                        <a:spcBef>
                          <a:spcPts val="0"/>
                        </a:spcBef>
                        <a:spcAft>
                          <a:spcPts val="0"/>
                        </a:spcAft>
                      </a:pPr>
                      <a:r>
                        <a:rPr lang="en-US" sz="1100">
                          <a:effectLst/>
                        </a:rPr>
                        <a:t>TC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What to test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0"/>
                  </a:ext>
                </a:extLst>
              </a:tr>
              <a:tr h="0">
                <a:tc>
                  <a:txBody>
                    <a:bodyPr/>
                    <a:lstStyle/>
                    <a:p>
                      <a:pPr marL="0" marR="0">
                        <a:lnSpc>
                          <a:spcPct val="107000"/>
                        </a:lnSpc>
                        <a:spcBef>
                          <a:spcPts val="0"/>
                        </a:spcBef>
                        <a:spcAft>
                          <a:spcPts val="0"/>
                        </a:spcAft>
                      </a:pPr>
                      <a:r>
                        <a:rPr lang="en-US" sz="11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 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Equilateral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1"/>
                  </a:ext>
                </a:extLst>
              </a:tr>
              <a:tr h="0">
                <a:tc>
                  <a:txBody>
                    <a:bodyPr/>
                    <a:lstStyle/>
                    <a:p>
                      <a:pPr marL="0" marR="0">
                        <a:lnSpc>
                          <a:spcPct val="107000"/>
                        </a:lnSpc>
                        <a:spcBef>
                          <a:spcPts val="0"/>
                        </a:spcBef>
                        <a:spcAft>
                          <a:spcPts val="0"/>
                        </a:spcAft>
                      </a:pPr>
                      <a:r>
                        <a:rPr lang="en-US" sz="11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 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Isosceles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2"/>
                  </a:ext>
                </a:extLst>
              </a:tr>
              <a:tr h="0">
                <a:tc>
                  <a:txBody>
                    <a:bodyPr/>
                    <a:lstStyle/>
                    <a:p>
                      <a:pPr marL="0" marR="0">
                        <a:lnSpc>
                          <a:spcPct val="107000"/>
                        </a:lnSpc>
                        <a:spcBef>
                          <a:spcPts val="0"/>
                        </a:spcBef>
                        <a:spcAft>
                          <a:spcPts val="0"/>
                        </a:spcAft>
                      </a:pPr>
                      <a:r>
                        <a:rPr lang="en-US"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 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Scalene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3"/>
                  </a:ext>
                </a:extLst>
              </a:tr>
              <a:tr h="0">
                <a:tc>
                  <a:txBody>
                    <a:bodyPr/>
                    <a:lstStyle/>
                    <a:p>
                      <a:pPr marL="0" marR="0">
                        <a:lnSpc>
                          <a:spcPct val="107000"/>
                        </a:lnSpc>
                        <a:spcBef>
                          <a:spcPts val="0"/>
                        </a:spcBef>
                        <a:spcAft>
                          <a:spcPts val="0"/>
                        </a:spcAft>
                      </a:pPr>
                      <a:r>
                        <a:rPr lang="en-US" sz="11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 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Not a triangle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0004"/>
                  </a:ext>
                </a:extLst>
              </a:tr>
            </a:tbl>
          </a:graphicData>
        </a:graphic>
      </p:graphicFrame>
      <p:sp>
        <p:nvSpPr>
          <p:cNvPr id="8" name="Rectangle 7"/>
          <p:cNvSpPr/>
          <p:nvPr/>
        </p:nvSpPr>
        <p:spPr>
          <a:xfrm>
            <a:off x="2749550" y="4988556"/>
            <a:ext cx="54800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Test cases based on </a:t>
            </a:r>
            <a:r>
              <a:rPr lang="en-US" sz="1600" b="1" dirty="0" smtClean="0">
                <a:solidFill>
                  <a:schemeClr val="tx1"/>
                </a:solidFill>
                <a:latin typeface="Calibri" panose="020F0502020204030204" pitchFamily="34" charset="0"/>
                <a:ea typeface="Calibri" panose="020F0502020204030204" pitchFamily="34" charset="0"/>
                <a:cs typeface="Times New Roman" panose="02020603050405020304" pitchFamily="18" charset="0"/>
              </a:rPr>
              <a:t>equivalence classes within valid range</a:t>
            </a:r>
            <a:endParaRPr lang="en-US" sz="16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070081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normAutofit fontScale="90000"/>
          </a:bodyPr>
          <a:lstStyle/>
          <a:p>
            <a:r>
              <a:rPr lang="en-US" smtClean="0"/>
              <a:t>Whitebox Testing</a:t>
            </a:r>
            <a:br>
              <a:rPr lang="en-US" smtClean="0"/>
            </a:br>
            <a:r>
              <a:rPr lang="en-US" smtClean="0"/>
              <a:t>Control Flow Graph</a:t>
            </a:r>
          </a:p>
        </p:txBody>
      </p:sp>
      <p:graphicFrame>
        <p:nvGraphicFramePr>
          <p:cNvPr id="4" name="Content Placeholder 3"/>
          <p:cNvGraphicFramePr>
            <a:graphicFrameLocks noGrp="1"/>
          </p:cNvGraphicFramePr>
          <p:nvPr>
            <p:ph idx="1"/>
          </p:nvPr>
        </p:nvGraphicFramePr>
        <p:xfrm>
          <a:off x="1525588" y="3684588"/>
          <a:ext cx="6080760" cy="192786"/>
        </p:xfrm>
        <a:graphic>
          <a:graphicData uri="http://schemas.openxmlformats.org/drawingml/2006/table">
            <a:tbl>
              <a:tblPr/>
              <a:tblGrid>
                <a:gridCol w="3040380">
                  <a:extLst>
                    <a:ext uri="{9D8B030D-6E8A-4147-A177-3AD203B41FA5}">
                      <a16:colId xmlns="" xmlns:a16="http://schemas.microsoft.com/office/drawing/2014/main" val="20000"/>
                    </a:ext>
                  </a:extLst>
                </a:gridCol>
                <a:gridCol w="3040380">
                  <a:extLst>
                    <a:ext uri="{9D8B030D-6E8A-4147-A177-3AD203B41FA5}">
                      <a16:colId xmlns="" xmlns:a16="http://schemas.microsoft.com/office/drawing/2014/main" val="20001"/>
                    </a:ext>
                  </a:extLst>
                </a:gridCol>
              </a:tblGrid>
              <a:tr h="0">
                <a:tc>
                  <a:txBody>
                    <a:bodyPr/>
                    <a:lstStyle/>
                    <a:p>
                      <a:pPr marL="0" marR="0">
                        <a:lnSpc>
                          <a:spcPct val="115000"/>
                        </a:lnSpc>
                        <a:spcBef>
                          <a:spcPts val="0"/>
                        </a:spcBef>
                        <a:spcAft>
                          <a:spcPts val="0"/>
                        </a:spcAft>
                      </a:pPr>
                      <a:endParaRPr lang="en-US" sz="1100">
                        <a:latin typeface="Calibri"/>
                        <a:ea typeface="Calibri"/>
                        <a:cs typeface="Arial"/>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pPr>
                      <a:endParaRPr lang="en-US" sz="1100" dirty="0">
                        <a:latin typeface="Calibri"/>
                        <a:ea typeface="Calibri"/>
                        <a:cs typeface="Arial"/>
                      </a:endParaRPr>
                    </a:p>
                  </a:txBody>
                  <a:tcPr marL="68580" marR="68580" marT="0" marB="0">
                    <a:lnL>
                      <a:noFill/>
                    </a:lnL>
                    <a:lnR>
                      <a:noFill/>
                    </a:lnR>
                    <a:lnT>
                      <a:noFill/>
                    </a:lnT>
                    <a:lnB>
                      <a:noFill/>
                    </a:lnB>
                  </a:tcPr>
                </a:tc>
                <a:extLst>
                  <a:ext uri="{0D108BD9-81ED-4DB2-BD59-A6C34878D82A}">
                    <a16:rowId xmlns="" xmlns:a16="http://schemas.microsoft.com/office/drawing/2014/main" val="10000"/>
                  </a:ext>
                </a:extLst>
              </a:tr>
            </a:tbl>
          </a:graphicData>
        </a:graphic>
      </p:graphicFrame>
      <p:pic>
        <p:nvPicPr>
          <p:cNvPr id="22534" name="Picture 1"/>
          <p:cNvPicPr>
            <a:picLocks noChangeAspect="1" noChangeArrowheads="1"/>
          </p:cNvPicPr>
          <p:nvPr/>
        </p:nvPicPr>
        <p:blipFill>
          <a:blip r:embed="rId2" cstate="print"/>
          <a:srcRect/>
          <a:stretch>
            <a:fillRect/>
          </a:stretch>
        </p:blipFill>
        <p:spPr bwMode="auto">
          <a:xfrm>
            <a:off x="1524000" y="2057400"/>
            <a:ext cx="2790825" cy="2647950"/>
          </a:xfrm>
          <a:prstGeom prst="rect">
            <a:avLst/>
          </a:prstGeom>
          <a:noFill/>
          <a:ln w="9525">
            <a:noFill/>
            <a:miter lim="800000"/>
            <a:headEnd/>
            <a:tailEnd/>
          </a:ln>
        </p:spPr>
      </p:pic>
      <p:pic>
        <p:nvPicPr>
          <p:cNvPr id="22535" name="Picture 2"/>
          <p:cNvPicPr>
            <a:picLocks noChangeAspect="1" noChangeArrowheads="1"/>
          </p:cNvPicPr>
          <p:nvPr/>
        </p:nvPicPr>
        <p:blipFill>
          <a:blip r:embed="rId3" cstate="print"/>
          <a:srcRect/>
          <a:stretch>
            <a:fillRect/>
          </a:stretch>
        </p:blipFill>
        <p:spPr bwMode="auto">
          <a:xfrm>
            <a:off x="5715000" y="1981200"/>
            <a:ext cx="1838325" cy="3067050"/>
          </a:xfrm>
          <a:prstGeom prst="rect">
            <a:avLst/>
          </a:prstGeom>
          <a:noFill/>
          <a:ln w="9525">
            <a:noFill/>
            <a:miter lim="800000"/>
            <a:headEnd/>
            <a:tailEnd/>
          </a:ln>
        </p:spPr>
      </p:pic>
      <p:sp>
        <p:nvSpPr>
          <p:cNvPr id="22536" name="Rectangle 3"/>
          <p:cNvSpPr>
            <a:spLocks noChangeArrowheads="1"/>
          </p:cNvSpPr>
          <p:nvPr/>
        </p:nvSpPr>
        <p:spPr bwMode="auto">
          <a:xfrm>
            <a:off x="2667000" y="5194300"/>
            <a:ext cx="4746625" cy="584200"/>
          </a:xfrm>
          <a:prstGeom prst="rect">
            <a:avLst/>
          </a:prstGeom>
          <a:noFill/>
          <a:ln w="9525">
            <a:noFill/>
            <a:miter lim="800000"/>
            <a:headEnd/>
            <a:tailEnd/>
          </a:ln>
        </p:spPr>
        <p:txBody>
          <a:bodyPr wrap="none" anchor="ctr">
            <a:spAutoFit/>
          </a:bodyPr>
          <a:lstStyle/>
          <a:p>
            <a:r>
              <a:rPr lang="en-US" b="1">
                <a:solidFill>
                  <a:schemeClr val="tx1"/>
                </a:solidFill>
                <a:latin typeface="Calibri" pitchFamily="34" charset="0"/>
                <a:ea typeface="Calibri" pitchFamily="34" charset="0"/>
                <a:cs typeface="Calibri" pitchFamily="34" charset="0"/>
              </a:rPr>
              <a:t>Cyclomatic Complexity = E – N + 2 = 9 – 9 + 2 = 2</a:t>
            </a:r>
            <a:endParaRPr lang="en-US" sz="3200">
              <a:solidFill>
                <a:schemeClr val="tx1"/>
              </a:solidFill>
            </a:endParaRPr>
          </a:p>
        </p:txBody>
      </p:sp>
      <p:sp>
        <p:nvSpPr>
          <p:cNvPr id="2" name="Rectangle 1"/>
          <p:cNvSpPr/>
          <p:nvPr/>
        </p:nvSpPr>
        <p:spPr>
          <a:xfrm>
            <a:off x="381000" y="5429071"/>
            <a:ext cx="4572000" cy="1200329"/>
          </a:xfrm>
          <a:prstGeom prst="rect">
            <a:avLst/>
          </a:prstGeom>
        </p:spPr>
        <p:txBody>
          <a:bodyPr>
            <a:spAutoFit/>
          </a:bodyPr>
          <a:lstStyle/>
          <a:p>
            <a:pPr eaLnBrk="1" hangingPunct="1"/>
            <a:r>
              <a:rPr lang="en-US">
                <a:solidFill>
                  <a:schemeClr val="tx1"/>
                </a:solidFill>
              </a:rPr>
              <a:t>Statement testing</a:t>
            </a:r>
          </a:p>
          <a:p>
            <a:pPr eaLnBrk="1" hangingPunct="1"/>
            <a:r>
              <a:rPr lang="en-US">
                <a:solidFill>
                  <a:schemeClr val="tx1"/>
                </a:solidFill>
              </a:rPr>
              <a:t>Branch testing</a:t>
            </a:r>
          </a:p>
          <a:p>
            <a:pPr eaLnBrk="1" hangingPunct="1"/>
            <a:r>
              <a:rPr lang="en-US">
                <a:solidFill>
                  <a:schemeClr val="tx1"/>
                </a:solidFill>
              </a:rPr>
              <a:t>Path testing</a:t>
            </a:r>
          </a:p>
          <a:p>
            <a:pPr eaLnBrk="1" hangingPunct="1"/>
            <a:r>
              <a:rPr lang="en-US">
                <a:solidFill>
                  <a:schemeClr val="tx1"/>
                </a:solidFill>
              </a:rPr>
              <a:t>…</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Boundary Value Analysis</a:t>
            </a:r>
            <a:endParaRPr lang="en-US" dirty="0"/>
          </a:p>
        </p:txBody>
      </p:sp>
      <p:pic>
        <p:nvPicPr>
          <p:cNvPr id="4" name="object 3"/>
          <p:cNvPicPr/>
          <p:nvPr/>
        </p:nvPicPr>
        <p:blipFill>
          <a:blip r:embed="rId2" cstate="print"/>
          <a:stretch>
            <a:fillRect/>
          </a:stretch>
        </p:blipFill>
        <p:spPr>
          <a:xfrm>
            <a:off x="870627" y="2438400"/>
            <a:ext cx="7402746" cy="1766327"/>
          </a:xfrm>
          <a:prstGeom prst="rect">
            <a:avLst/>
          </a:prstGeom>
        </p:spPr>
      </p:pic>
      <p:pic>
        <p:nvPicPr>
          <p:cNvPr id="5" name="object 4"/>
          <p:cNvPicPr/>
          <p:nvPr/>
        </p:nvPicPr>
        <p:blipFill>
          <a:blip r:embed="rId3" cstate="print"/>
          <a:stretch>
            <a:fillRect/>
          </a:stretch>
        </p:blipFill>
        <p:spPr>
          <a:xfrm>
            <a:off x="1905000" y="4495800"/>
            <a:ext cx="5104936" cy="1328153"/>
          </a:xfrm>
          <a:prstGeom prst="rect">
            <a:avLst/>
          </a:prstGeom>
        </p:spPr>
      </p:pic>
    </p:spTree>
    <p:extLst>
      <p:ext uri="{BB962C8B-B14F-4D97-AF65-F5344CB8AC3E}">
        <p14:creationId xmlns:p14="http://schemas.microsoft.com/office/powerpoint/2010/main" val="24572195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6" name="Rectangle 3"/>
          <p:cNvSpPr>
            <a:spLocks noGrp="1" noChangeArrowheads="1"/>
          </p:cNvSpPr>
          <p:nvPr>
            <p:ph idx="1"/>
          </p:nvPr>
        </p:nvSpPr>
        <p:spPr>
          <a:xfrm>
            <a:off x="457200" y="1935480"/>
            <a:ext cx="8229600" cy="4389120"/>
          </a:xfrm>
        </p:spPr>
        <p:txBody>
          <a:bodyPr>
            <a:normAutofit/>
          </a:bodyPr>
          <a:lstStyle/>
          <a:p>
            <a:r>
              <a:rPr lang="en-US" sz="2800" dirty="0">
                <a:solidFill>
                  <a:srgbClr val="404040"/>
                </a:solidFill>
                <a:latin typeface="Calibri"/>
                <a:cs typeface="Calibri"/>
              </a:rPr>
              <a:t>An</a:t>
            </a:r>
            <a:r>
              <a:rPr lang="en-US" sz="2800" spc="-5" dirty="0">
                <a:solidFill>
                  <a:srgbClr val="404040"/>
                </a:solidFill>
                <a:latin typeface="Calibri"/>
                <a:cs typeface="Calibri"/>
              </a:rPr>
              <a:t> Address</a:t>
            </a:r>
            <a:r>
              <a:rPr lang="en-US" sz="2800" spc="5" dirty="0">
                <a:solidFill>
                  <a:srgbClr val="404040"/>
                </a:solidFill>
                <a:latin typeface="Calibri"/>
                <a:cs typeface="Calibri"/>
              </a:rPr>
              <a:t> </a:t>
            </a:r>
            <a:r>
              <a:rPr lang="en-US" sz="2800" spc="-15" dirty="0">
                <a:solidFill>
                  <a:srgbClr val="404040"/>
                </a:solidFill>
                <a:latin typeface="Calibri"/>
                <a:cs typeface="Calibri"/>
              </a:rPr>
              <a:t>text</a:t>
            </a:r>
            <a:r>
              <a:rPr lang="en-US" sz="2800" spc="10" dirty="0">
                <a:solidFill>
                  <a:srgbClr val="404040"/>
                </a:solidFill>
                <a:latin typeface="Calibri"/>
                <a:cs typeface="Calibri"/>
              </a:rPr>
              <a:t> </a:t>
            </a:r>
            <a:r>
              <a:rPr lang="en-US" sz="2800" spc="-10" dirty="0">
                <a:solidFill>
                  <a:srgbClr val="404040"/>
                </a:solidFill>
                <a:latin typeface="Calibri"/>
                <a:cs typeface="Calibri"/>
              </a:rPr>
              <a:t>box</a:t>
            </a:r>
            <a:r>
              <a:rPr lang="en-US" sz="2800" spc="-20" dirty="0">
                <a:solidFill>
                  <a:srgbClr val="404040"/>
                </a:solidFill>
                <a:latin typeface="Calibri"/>
                <a:cs typeface="Calibri"/>
              </a:rPr>
              <a:t> </a:t>
            </a:r>
            <a:r>
              <a:rPr lang="en-US" sz="2800" dirty="0">
                <a:solidFill>
                  <a:srgbClr val="404040"/>
                </a:solidFill>
                <a:latin typeface="Calibri"/>
                <a:cs typeface="Calibri"/>
              </a:rPr>
              <a:t>which</a:t>
            </a:r>
            <a:r>
              <a:rPr lang="en-US" sz="2800" spc="5" dirty="0">
                <a:solidFill>
                  <a:srgbClr val="404040"/>
                </a:solidFill>
                <a:latin typeface="Calibri"/>
                <a:cs typeface="Calibri"/>
              </a:rPr>
              <a:t> </a:t>
            </a:r>
            <a:r>
              <a:rPr lang="en-US" sz="2800" spc="-5" dirty="0">
                <a:solidFill>
                  <a:srgbClr val="404040"/>
                </a:solidFill>
                <a:latin typeface="Calibri"/>
                <a:cs typeface="Calibri"/>
              </a:rPr>
              <a:t>allows</a:t>
            </a:r>
            <a:r>
              <a:rPr lang="en-US" sz="2800" spc="10" dirty="0">
                <a:solidFill>
                  <a:srgbClr val="404040"/>
                </a:solidFill>
                <a:latin typeface="Calibri"/>
                <a:cs typeface="Calibri"/>
              </a:rPr>
              <a:t> </a:t>
            </a:r>
            <a:r>
              <a:rPr lang="en-US" sz="2800" spc="-5" dirty="0">
                <a:solidFill>
                  <a:srgbClr val="404040"/>
                </a:solidFill>
                <a:latin typeface="Calibri"/>
                <a:cs typeface="Calibri"/>
              </a:rPr>
              <a:t>maximum</a:t>
            </a:r>
            <a:r>
              <a:rPr lang="en-US" sz="2800" spc="20" dirty="0">
                <a:solidFill>
                  <a:srgbClr val="404040"/>
                </a:solidFill>
                <a:latin typeface="Calibri"/>
                <a:cs typeface="Calibri"/>
              </a:rPr>
              <a:t> </a:t>
            </a:r>
            <a:r>
              <a:rPr lang="en-US" sz="2800" dirty="0">
                <a:solidFill>
                  <a:srgbClr val="404040"/>
                </a:solidFill>
                <a:latin typeface="Calibri"/>
                <a:cs typeface="Calibri"/>
              </a:rPr>
              <a:t>500</a:t>
            </a:r>
            <a:r>
              <a:rPr lang="en-US" sz="2800" spc="-30" dirty="0">
                <a:solidFill>
                  <a:srgbClr val="404040"/>
                </a:solidFill>
                <a:latin typeface="Calibri"/>
                <a:cs typeface="Calibri"/>
              </a:rPr>
              <a:t> </a:t>
            </a:r>
            <a:r>
              <a:rPr lang="en-US" sz="2800" spc="-10" dirty="0">
                <a:solidFill>
                  <a:srgbClr val="404040"/>
                </a:solidFill>
                <a:latin typeface="Calibri"/>
                <a:cs typeface="Calibri"/>
              </a:rPr>
              <a:t>characters.</a:t>
            </a:r>
            <a:r>
              <a:rPr lang="en-US" sz="2800" spc="15" dirty="0">
                <a:solidFill>
                  <a:srgbClr val="404040"/>
                </a:solidFill>
                <a:latin typeface="Calibri"/>
                <a:cs typeface="Calibri"/>
              </a:rPr>
              <a:t> </a:t>
            </a:r>
            <a:r>
              <a:rPr lang="en-US" sz="2800" spc="-10" dirty="0">
                <a:solidFill>
                  <a:srgbClr val="404040"/>
                </a:solidFill>
                <a:latin typeface="Calibri"/>
                <a:cs typeface="Calibri"/>
              </a:rPr>
              <a:t>So,</a:t>
            </a:r>
            <a:r>
              <a:rPr lang="en-US" sz="2800" spc="5" dirty="0">
                <a:solidFill>
                  <a:srgbClr val="404040"/>
                </a:solidFill>
                <a:latin typeface="Calibri"/>
                <a:cs typeface="Calibri"/>
              </a:rPr>
              <a:t> </a:t>
            </a:r>
            <a:r>
              <a:rPr lang="en-US" sz="2800" spc="-5" dirty="0">
                <a:solidFill>
                  <a:srgbClr val="404040"/>
                </a:solidFill>
                <a:latin typeface="Calibri"/>
                <a:cs typeface="Calibri"/>
              </a:rPr>
              <a:t>writing </a:t>
            </a:r>
            <a:r>
              <a:rPr lang="en-US" sz="2800" spc="-10" dirty="0">
                <a:solidFill>
                  <a:srgbClr val="404040"/>
                </a:solidFill>
                <a:latin typeface="Calibri"/>
                <a:cs typeface="Calibri"/>
              </a:rPr>
              <a:t>test</a:t>
            </a:r>
            <a:r>
              <a:rPr lang="en-US" sz="2800" spc="30" dirty="0">
                <a:solidFill>
                  <a:srgbClr val="404040"/>
                </a:solidFill>
                <a:latin typeface="Calibri"/>
                <a:cs typeface="Calibri"/>
              </a:rPr>
              <a:t> </a:t>
            </a:r>
            <a:r>
              <a:rPr lang="en-US" sz="2800" dirty="0">
                <a:solidFill>
                  <a:srgbClr val="404040"/>
                </a:solidFill>
                <a:latin typeface="Calibri"/>
                <a:cs typeface="Calibri"/>
              </a:rPr>
              <a:t>cases </a:t>
            </a:r>
            <a:r>
              <a:rPr lang="en-US" sz="2800" spc="-15" dirty="0">
                <a:solidFill>
                  <a:srgbClr val="404040"/>
                </a:solidFill>
                <a:latin typeface="Calibri"/>
                <a:cs typeface="Calibri"/>
              </a:rPr>
              <a:t>for</a:t>
            </a:r>
            <a:r>
              <a:rPr lang="en-US" sz="2800" spc="-5" dirty="0">
                <a:solidFill>
                  <a:srgbClr val="404040"/>
                </a:solidFill>
                <a:latin typeface="Calibri"/>
                <a:cs typeface="Calibri"/>
              </a:rPr>
              <a:t> </a:t>
            </a:r>
            <a:r>
              <a:rPr lang="en-US" sz="2800" dirty="0">
                <a:solidFill>
                  <a:srgbClr val="404040"/>
                </a:solidFill>
                <a:latin typeface="Calibri"/>
                <a:cs typeface="Calibri"/>
              </a:rPr>
              <a:t>each </a:t>
            </a:r>
            <a:r>
              <a:rPr lang="en-US" sz="2800" spc="-434" dirty="0">
                <a:solidFill>
                  <a:srgbClr val="404040"/>
                </a:solidFill>
                <a:latin typeface="Calibri"/>
                <a:cs typeface="Calibri"/>
              </a:rPr>
              <a:t> </a:t>
            </a:r>
            <a:r>
              <a:rPr lang="en-US" sz="2800" spc="-5" dirty="0">
                <a:solidFill>
                  <a:srgbClr val="404040"/>
                </a:solidFill>
                <a:latin typeface="Calibri"/>
                <a:cs typeface="Calibri"/>
              </a:rPr>
              <a:t>character</a:t>
            </a:r>
            <a:r>
              <a:rPr lang="en-US" sz="2800" dirty="0">
                <a:solidFill>
                  <a:srgbClr val="404040"/>
                </a:solidFill>
                <a:latin typeface="Calibri"/>
                <a:cs typeface="Calibri"/>
              </a:rPr>
              <a:t> once</a:t>
            </a:r>
            <a:r>
              <a:rPr lang="en-US" sz="2800" spc="-10" dirty="0">
                <a:solidFill>
                  <a:srgbClr val="404040"/>
                </a:solidFill>
                <a:latin typeface="Calibri"/>
                <a:cs typeface="Calibri"/>
              </a:rPr>
              <a:t> </a:t>
            </a:r>
            <a:r>
              <a:rPr lang="en-US" sz="2800" spc="-5" dirty="0">
                <a:solidFill>
                  <a:srgbClr val="404040"/>
                </a:solidFill>
                <a:latin typeface="Calibri"/>
                <a:cs typeface="Calibri"/>
              </a:rPr>
              <a:t>will</a:t>
            </a:r>
            <a:r>
              <a:rPr lang="en-US" sz="2800" spc="10" dirty="0">
                <a:solidFill>
                  <a:srgbClr val="404040"/>
                </a:solidFill>
                <a:latin typeface="Calibri"/>
                <a:cs typeface="Calibri"/>
              </a:rPr>
              <a:t> </a:t>
            </a:r>
            <a:r>
              <a:rPr lang="en-US" sz="2800" dirty="0">
                <a:solidFill>
                  <a:srgbClr val="404040"/>
                </a:solidFill>
                <a:latin typeface="Calibri"/>
                <a:cs typeface="Calibri"/>
              </a:rPr>
              <a:t>be</a:t>
            </a:r>
            <a:r>
              <a:rPr lang="en-US" sz="2800" spc="-10" dirty="0">
                <a:solidFill>
                  <a:srgbClr val="404040"/>
                </a:solidFill>
                <a:latin typeface="Calibri"/>
                <a:cs typeface="Calibri"/>
              </a:rPr>
              <a:t> </a:t>
            </a:r>
            <a:r>
              <a:rPr lang="en-US" sz="2800" spc="-5" dirty="0">
                <a:solidFill>
                  <a:srgbClr val="404040"/>
                </a:solidFill>
                <a:latin typeface="Calibri"/>
                <a:cs typeface="Calibri"/>
              </a:rPr>
              <a:t>very</a:t>
            </a:r>
            <a:r>
              <a:rPr lang="en-US" sz="2800" dirty="0">
                <a:solidFill>
                  <a:srgbClr val="404040"/>
                </a:solidFill>
                <a:latin typeface="Calibri"/>
                <a:cs typeface="Calibri"/>
              </a:rPr>
              <a:t> </a:t>
            </a:r>
            <a:r>
              <a:rPr lang="en-US" sz="2800" spc="-5" dirty="0">
                <a:solidFill>
                  <a:srgbClr val="404040"/>
                </a:solidFill>
                <a:latin typeface="Calibri"/>
                <a:cs typeface="Calibri"/>
              </a:rPr>
              <a:t>difficult</a:t>
            </a:r>
            <a:r>
              <a:rPr lang="en-US" sz="2800" spc="10" dirty="0">
                <a:solidFill>
                  <a:srgbClr val="404040"/>
                </a:solidFill>
                <a:latin typeface="Calibri"/>
                <a:cs typeface="Calibri"/>
              </a:rPr>
              <a:t> </a:t>
            </a:r>
            <a:r>
              <a:rPr lang="en-US" sz="2800" spc="-5" dirty="0">
                <a:solidFill>
                  <a:srgbClr val="404040"/>
                </a:solidFill>
                <a:latin typeface="Calibri"/>
                <a:cs typeface="Calibri"/>
              </a:rPr>
              <a:t>so</a:t>
            </a:r>
            <a:r>
              <a:rPr lang="en-US" sz="2800" dirty="0">
                <a:solidFill>
                  <a:srgbClr val="404040"/>
                </a:solidFill>
                <a:latin typeface="Calibri"/>
                <a:cs typeface="Calibri"/>
              </a:rPr>
              <a:t> </a:t>
            </a:r>
            <a:r>
              <a:rPr lang="en-US" sz="2800" spc="-5" dirty="0">
                <a:solidFill>
                  <a:srgbClr val="404040"/>
                </a:solidFill>
                <a:latin typeface="Calibri"/>
                <a:cs typeface="Calibri"/>
              </a:rPr>
              <a:t>that</a:t>
            </a:r>
            <a:r>
              <a:rPr lang="en-US" sz="2800" spc="5" dirty="0">
                <a:solidFill>
                  <a:srgbClr val="404040"/>
                </a:solidFill>
                <a:latin typeface="Calibri"/>
                <a:cs typeface="Calibri"/>
              </a:rPr>
              <a:t> </a:t>
            </a:r>
            <a:r>
              <a:rPr lang="en-US" sz="2800" spc="-5" dirty="0">
                <a:solidFill>
                  <a:srgbClr val="404040"/>
                </a:solidFill>
                <a:latin typeface="Calibri"/>
                <a:cs typeface="Calibri"/>
              </a:rPr>
              <a:t>will</a:t>
            </a:r>
            <a:r>
              <a:rPr lang="en-US" sz="2800" spc="5" dirty="0">
                <a:solidFill>
                  <a:srgbClr val="404040"/>
                </a:solidFill>
                <a:latin typeface="Calibri"/>
                <a:cs typeface="Calibri"/>
              </a:rPr>
              <a:t> </a:t>
            </a:r>
            <a:r>
              <a:rPr lang="en-US" sz="2800" spc="-5" dirty="0">
                <a:solidFill>
                  <a:srgbClr val="404040"/>
                </a:solidFill>
                <a:latin typeface="Calibri"/>
                <a:cs typeface="Calibri"/>
              </a:rPr>
              <a:t>choose</a:t>
            </a:r>
            <a:r>
              <a:rPr lang="en-US" sz="2800" dirty="0">
                <a:solidFill>
                  <a:srgbClr val="404040"/>
                </a:solidFill>
                <a:latin typeface="Calibri"/>
                <a:cs typeface="Calibri"/>
              </a:rPr>
              <a:t> boundary</a:t>
            </a:r>
            <a:r>
              <a:rPr lang="en-US" sz="2800" spc="-40" dirty="0">
                <a:solidFill>
                  <a:srgbClr val="404040"/>
                </a:solidFill>
                <a:latin typeface="Calibri"/>
                <a:cs typeface="Calibri"/>
              </a:rPr>
              <a:t> </a:t>
            </a:r>
            <a:r>
              <a:rPr lang="en-US" sz="2800" spc="-5" dirty="0">
                <a:solidFill>
                  <a:srgbClr val="404040"/>
                </a:solidFill>
                <a:latin typeface="Calibri"/>
                <a:cs typeface="Calibri"/>
              </a:rPr>
              <a:t>value</a:t>
            </a:r>
            <a:r>
              <a:rPr lang="en-US" sz="2800" spc="5" dirty="0">
                <a:solidFill>
                  <a:srgbClr val="404040"/>
                </a:solidFill>
                <a:latin typeface="Calibri"/>
                <a:cs typeface="Calibri"/>
              </a:rPr>
              <a:t> </a:t>
            </a:r>
            <a:r>
              <a:rPr lang="en-US" sz="2800" spc="-5" dirty="0">
                <a:solidFill>
                  <a:srgbClr val="404040"/>
                </a:solidFill>
                <a:latin typeface="Calibri"/>
                <a:cs typeface="Calibri"/>
              </a:rPr>
              <a:t>analysis</a:t>
            </a:r>
            <a:r>
              <a:rPr lang="en-US" sz="2800" spc="-5" dirty="0" smtClean="0">
                <a:solidFill>
                  <a:srgbClr val="404040"/>
                </a:solidFill>
                <a:latin typeface="Calibri"/>
                <a:cs typeface="Calibri"/>
              </a:rPr>
              <a:t>.</a:t>
            </a:r>
          </a:p>
        </p:txBody>
      </p:sp>
    </p:spTree>
    <p:extLst>
      <p:ext uri="{BB962C8B-B14F-4D97-AF65-F5344CB8AC3E}">
        <p14:creationId xmlns:p14="http://schemas.microsoft.com/office/powerpoint/2010/main" val="5582171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6" name="Rectangle 3"/>
          <p:cNvSpPr>
            <a:spLocks noGrp="1" noChangeArrowheads="1"/>
          </p:cNvSpPr>
          <p:nvPr>
            <p:ph idx="1"/>
          </p:nvPr>
        </p:nvSpPr>
        <p:spPr>
          <a:xfrm>
            <a:off x="457200" y="1935480"/>
            <a:ext cx="8229600" cy="4389120"/>
          </a:xfrm>
        </p:spPr>
        <p:txBody>
          <a:bodyPr>
            <a:normAutofit lnSpcReduction="10000"/>
          </a:bodyPr>
          <a:lstStyle/>
          <a:p>
            <a:r>
              <a:rPr lang="en-US" sz="2800" dirty="0">
                <a:solidFill>
                  <a:srgbClr val="404040"/>
                </a:solidFill>
                <a:latin typeface="Calibri"/>
                <a:cs typeface="Calibri"/>
              </a:rPr>
              <a:t>An</a:t>
            </a:r>
            <a:r>
              <a:rPr lang="en-US" sz="2800" spc="-5" dirty="0">
                <a:solidFill>
                  <a:srgbClr val="404040"/>
                </a:solidFill>
                <a:latin typeface="Calibri"/>
                <a:cs typeface="Calibri"/>
              </a:rPr>
              <a:t> Address</a:t>
            </a:r>
            <a:r>
              <a:rPr lang="en-US" sz="2800" spc="5" dirty="0">
                <a:solidFill>
                  <a:srgbClr val="404040"/>
                </a:solidFill>
                <a:latin typeface="Calibri"/>
                <a:cs typeface="Calibri"/>
              </a:rPr>
              <a:t> </a:t>
            </a:r>
            <a:r>
              <a:rPr lang="en-US" sz="2800" spc="-15" dirty="0">
                <a:solidFill>
                  <a:srgbClr val="404040"/>
                </a:solidFill>
                <a:latin typeface="Calibri"/>
                <a:cs typeface="Calibri"/>
              </a:rPr>
              <a:t>text</a:t>
            </a:r>
            <a:r>
              <a:rPr lang="en-US" sz="2800" spc="10" dirty="0">
                <a:solidFill>
                  <a:srgbClr val="404040"/>
                </a:solidFill>
                <a:latin typeface="Calibri"/>
                <a:cs typeface="Calibri"/>
              </a:rPr>
              <a:t> </a:t>
            </a:r>
            <a:r>
              <a:rPr lang="en-US" sz="2800" spc="-10" dirty="0">
                <a:solidFill>
                  <a:srgbClr val="404040"/>
                </a:solidFill>
                <a:latin typeface="Calibri"/>
                <a:cs typeface="Calibri"/>
              </a:rPr>
              <a:t>box</a:t>
            </a:r>
            <a:r>
              <a:rPr lang="en-US" sz="2800" spc="-20" dirty="0">
                <a:solidFill>
                  <a:srgbClr val="404040"/>
                </a:solidFill>
                <a:latin typeface="Calibri"/>
                <a:cs typeface="Calibri"/>
              </a:rPr>
              <a:t> </a:t>
            </a:r>
            <a:r>
              <a:rPr lang="en-US" sz="2800" dirty="0">
                <a:solidFill>
                  <a:srgbClr val="404040"/>
                </a:solidFill>
                <a:latin typeface="Calibri"/>
                <a:cs typeface="Calibri"/>
              </a:rPr>
              <a:t>which</a:t>
            </a:r>
            <a:r>
              <a:rPr lang="en-US" sz="2800" spc="5" dirty="0">
                <a:solidFill>
                  <a:srgbClr val="404040"/>
                </a:solidFill>
                <a:latin typeface="Calibri"/>
                <a:cs typeface="Calibri"/>
              </a:rPr>
              <a:t> </a:t>
            </a:r>
            <a:r>
              <a:rPr lang="en-US" sz="2800" spc="-5" dirty="0">
                <a:solidFill>
                  <a:srgbClr val="404040"/>
                </a:solidFill>
                <a:latin typeface="Calibri"/>
                <a:cs typeface="Calibri"/>
              </a:rPr>
              <a:t>allows</a:t>
            </a:r>
            <a:r>
              <a:rPr lang="en-US" sz="2800" spc="10" dirty="0">
                <a:solidFill>
                  <a:srgbClr val="404040"/>
                </a:solidFill>
                <a:latin typeface="Calibri"/>
                <a:cs typeface="Calibri"/>
              </a:rPr>
              <a:t> </a:t>
            </a:r>
            <a:r>
              <a:rPr lang="en-US" sz="2800" spc="-5" dirty="0">
                <a:solidFill>
                  <a:srgbClr val="404040"/>
                </a:solidFill>
                <a:latin typeface="Calibri"/>
                <a:cs typeface="Calibri"/>
              </a:rPr>
              <a:t>maximum</a:t>
            </a:r>
            <a:r>
              <a:rPr lang="en-US" sz="2800" spc="20" dirty="0">
                <a:solidFill>
                  <a:srgbClr val="404040"/>
                </a:solidFill>
                <a:latin typeface="Calibri"/>
                <a:cs typeface="Calibri"/>
              </a:rPr>
              <a:t> </a:t>
            </a:r>
            <a:r>
              <a:rPr lang="en-US" sz="2800" dirty="0">
                <a:solidFill>
                  <a:srgbClr val="404040"/>
                </a:solidFill>
                <a:latin typeface="Calibri"/>
                <a:cs typeface="Calibri"/>
              </a:rPr>
              <a:t>500</a:t>
            </a:r>
            <a:r>
              <a:rPr lang="en-US" sz="2800" spc="-30" dirty="0">
                <a:solidFill>
                  <a:srgbClr val="404040"/>
                </a:solidFill>
                <a:latin typeface="Calibri"/>
                <a:cs typeface="Calibri"/>
              </a:rPr>
              <a:t> </a:t>
            </a:r>
            <a:r>
              <a:rPr lang="en-US" sz="2800" spc="-10" dirty="0">
                <a:solidFill>
                  <a:srgbClr val="404040"/>
                </a:solidFill>
                <a:latin typeface="Calibri"/>
                <a:cs typeface="Calibri"/>
              </a:rPr>
              <a:t>characters.</a:t>
            </a:r>
            <a:r>
              <a:rPr lang="en-US" sz="2800" spc="15" dirty="0">
                <a:solidFill>
                  <a:srgbClr val="404040"/>
                </a:solidFill>
                <a:latin typeface="Calibri"/>
                <a:cs typeface="Calibri"/>
              </a:rPr>
              <a:t> </a:t>
            </a:r>
            <a:r>
              <a:rPr lang="en-US" sz="2800" spc="-10" dirty="0">
                <a:solidFill>
                  <a:srgbClr val="404040"/>
                </a:solidFill>
                <a:latin typeface="Calibri"/>
                <a:cs typeface="Calibri"/>
              </a:rPr>
              <a:t>So,</a:t>
            </a:r>
            <a:r>
              <a:rPr lang="en-US" sz="2800" spc="5" dirty="0">
                <a:solidFill>
                  <a:srgbClr val="404040"/>
                </a:solidFill>
                <a:latin typeface="Calibri"/>
                <a:cs typeface="Calibri"/>
              </a:rPr>
              <a:t> </a:t>
            </a:r>
            <a:r>
              <a:rPr lang="en-US" sz="2800" spc="-5" dirty="0">
                <a:solidFill>
                  <a:srgbClr val="404040"/>
                </a:solidFill>
                <a:latin typeface="Calibri"/>
                <a:cs typeface="Calibri"/>
              </a:rPr>
              <a:t>writing </a:t>
            </a:r>
            <a:r>
              <a:rPr lang="en-US" sz="2800" spc="-10" dirty="0">
                <a:solidFill>
                  <a:srgbClr val="404040"/>
                </a:solidFill>
                <a:latin typeface="Calibri"/>
                <a:cs typeface="Calibri"/>
              </a:rPr>
              <a:t>test</a:t>
            </a:r>
            <a:r>
              <a:rPr lang="en-US" sz="2800" spc="30" dirty="0">
                <a:solidFill>
                  <a:srgbClr val="404040"/>
                </a:solidFill>
                <a:latin typeface="Calibri"/>
                <a:cs typeface="Calibri"/>
              </a:rPr>
              <a:t> </a:t>
            </a:r>
            <a:r>
              <a:rPr lang="en-US" sz="2800" dirty="0">
                <a:solidFill>
                  <a:srgbClr val="404040"/>
                </a:solidFill>
                <a:latin typeface="Calibri"/>
                <a:cs typeface="Calibri"/>
              </a:rPr>
              <a:t>cases </a:t>
            </a:r>
            <a:r>
              <a:rPr lang="en-US" sz="2800" spc="-15" dirty="0">
                <a:solidFill>
                  <a:srgbClr val="404040"/>
                </a:solidFill>
                <a:latin typeface="Calibri"/>
                <a:cs typeface="Calibri"/>
              </a:rPr>
              <a:t>for</a:t>
            </a:r>
            <a:r>
              <a:rPr lang="en-US" sz="2800" spc="-5" dirty="0">
                <a:solidFill>
                  <a:srgbClr val="404040"/>
                </a:solidFill>
                <a:latin typeface="Calibri"/>
                <a:cs typeface="Calibri"/>
              </a:rPr>
              <a:t> </a:t>
            </a:r>
            <a:r>
              <a:rPr lang="en-US" sz="2800" dirty="0">
                <a:solidFill>
                  <a:srgbClr val="404040"/>
                </a:solidFill>
                <a:latin typeface="Calibri"/>
                <a:cs typeface="Calibri"/>
              </a:rPr>
              <a:t>each </a:t>
            </a:r>
            <a:r>
              <a:rPr lang="en-US" sz="2800" spc="-434" dirty="0">
                <a:solidFill>
                  <a:srgbClr val="404040"/>
                </a:solidFill>
                <a:latin typeface="Calibri"/>
                <a:cs typeface="Calibri"/>
              </a:rPr>
              <a:t> </a:t>
            </a:r>
            <a:r>
              <a:rPr lang="en-US" sz="2800" spc="-5" dirty="0">
                <a:solidFill>
                  <a:srgbClr val="404040"/>
                </a:solidFill>
                <a:latin typeface="Calibri"/>
                <a:cs typeface="Calibri"/>
              </a:rPr>
              <a:t>character</a:t>
            </a:r>
            <a:r>
              <a:rPr lang="en-US" sz="2800" dirty="0">
                <a:solidFill>
                  <a:srgbClr val="404040"/>
                </a:solidFill>
                <a:latin typeface="Calibri"/>
                <a:cs typeface="Calibri"/>
              </a:rPr>
              <a:t> once</a:t>
            </a:r>
            <a:r>
              <a:rPr lang="en-US" sz="2800" spc="-10" dirty="0">
                <a:solidFill>
                  <a:srgbClr val="404040"/>
                </a:solidFill>
                <a:latin typeface="Calibri"/>
                <a:cs typeface="Calibri"/>
              </a:rPr>
              <a:t> </a:t>
            </a:r>
            <a:r>
              <a:rPr lang="en-US" sz="2800" spc="-5" dirty="0">
                <a:solidFill>
                  <a:srgbClr val="404040"/>
                </a:solidFill>
                <a:latin typeface="Calibri"/>
                <a:cs typeface="Calibri"/>
              </a:rPr>
              <a:t>will</a:t>
            </a:r>
            <a:r>
              <a:rPr lang="en-US" sz="2800" spc="10" dirty="0">
                <a:solidFill>
                  <a:srgbClr val="404040"/>
                </a:solidFill>
                <a:latin typeface="Calibri"/>
                <a:cs typeface="Calibri"/>
              </a:rPr>
              <a:t> </a:t>
            </a:r>
            <a:r>
              <a:rPr lang="en-US" sz="2800" dirty="0">
                <a:solidFill>
                  <a:srgbClr val="404040"/>
                </a:solidFill>
                <a:latin typeface="Calibri"/>
                <a:cs typeface="Calibri"/>
              </a:rPr>
              <a:t>be</a:t>
            </a:r>
            <a:r>
              <a:rPr lang="en-US" sz="2800" spc="-10" dirty="0">
                <a:solidFill>
                  <a:srgbClr val="404040"/>
                </a:solidFill>
                <a:latin typeface="Calibri"/>
                <a:cs typeface="Calibri"/>
              </a:rPr>
              <a:t> </a:t>
            </a:r>
            <a:r>
              <a:rPr lang="en-US" sz="2800" spc="-5" dirty="0">
                <a:solidFill>
                  <a:srgbClr val="404040"/>
                </a:solidFill>
                <a:latin typeface="Calibri"/>
                <a:cs typeface="Calibri"/>
              </a:rPr>
              <a:t>very</a:t>
            </a:r>
            <a:r>
              <a:rPr lang="en-US" sz="2800" dirty="0">
                <a:solidFill>
                  <a:srgbClr val="404040"/>
                </a:solidFill>
                <a:latin typeface="Calibri"/>
                <a:cs typeface="Calibri"/>
              </a:rPr>
              <a:t> </a:t>
            </a:r>
            <a:r>
              <a:rPr lang="en-US" sz="2800" spc="-5" dirty="0">
                <a:solidFill>
                  <a:srgbClr val="404040"/>
                </a:solidFill>
                <a:latin typeface="Calibri"/>
                <a:cs typeface="Calibri"/>
              </a:rPr>
              <a:t>difficult</a:t>
            </a:r>
            <a:r>
              <a:rPr lang="en-US" sz="2800" spc="10" dirty="0">
                <a:solidFill>
                  <a:srgbClr val="404040"/>
                </a:solidFill>
                <a:latin typeface="Calibri"/>
                <a:cs typeface="Calibri"/>
              </a:rPr>
              <a:t> </a:t>
            </a:r>
            <a:r>
              <a:rPr lang="en-US" sz="2800" spc="-5" dirty="0">
                <a:solidFill>
                  <a:srgbClr val="404040"/>
                </a:solidFill>
                <a:latin typeface="Calibri"/>
                <a:cs typeface="Calibri"/>
              </a:rPr>
              <a:t>so</a:t>
            </a:r>
            <a:r>
              <a:rPr lang="en-US" sz="2800" dirty="0">
                <a:solidFill>
                  <a:srgbClr val="404040"/>
                </a:solidFill>
                <a:latin typeface="Calibri"/>
                <a:cs typeface="Calibri"/>
              </a:rPr>
              <a:t> </a:t>
            </a:r>
            <a:r>
              <a:rPr lang="en-US" sz="2800" spc="-5" dirty="0">
                <a:solidFill>
                  <a:srgbClr val="404040"/>
                </a:solidFill>
                <a:latin typeface="Calibri"/>
                <a:cs typeface="Calibri"/>
              </a:rPr>
              <a:t>that</a:t>
            </a:r>
            <a:r>
              <a:rPr lang="en-US" sz="2800" spc="5" dirty="0">
                <a:solidFill>
                  <a:srgbClr val="404040"/>
                </a:solidFill>
                <a:latin typeface="Calibri"/>
                <a:cs typeface="Calibri"/>
              </a:rPr>
              <a:t> </a:t>
            </a:r>
            <a:r>
              <a:rPr lang="en-US" sz="2800" spc="-5" dirty="0">
                <a:solidFill>
                  <a:srgbClr val="404040"/>
                </a:solidFill>
                <a:latin typeface="Calibri"/>
                <a:cs typeface="Calibri"/>
              </a:rPr>
              <a:t>will</a:t>
            </a:r>
            <a:r>
              <a:rPr lang="en-US" sz="2800" spc="5" dirty="0">
                <a:solidFill>
                  <a:srgbClr val="404040"/>
                </a:solidFill>
                <a:latin typeface="Calibri"/>
                <a:cs typeface="Calibri"/>
              </a:rPr>
              <a:t> </a:t>
            </a:r>
            <a:r>
              <a:rPr lang="en-US" sz="2800" spc="-5" dirty="0">
                <a:solidFill>
                  <a:srgbClr val="404040"/>
                </a:solidFill>
                <a:latin typeface="Calibri"/>
                <a:cs typeface="Calibri"/>
              </a:rPr>
              <a:t>choose</a:t>
            </a:r>
            <a:r>
              <a:rPr lang="en-US" sz="2800" dirty="0">
                <a:solidFill>
                  <a:srgbClr val="404040"/>
                </a:solidFill>
                <a:latin typeface="Calibri"/>
                <a:cs typeface="Calibri"/>
              </a:rPr>
              <a:t> boundary</a:t>
            </a:r>
            <a:r>
              <a:rPr lang="en-US" sz="2800" spc="-40" dirty="0">
                <a:solidFill>
                  <a:srgbClr val="404040"/>
                </a:solidFill>
                <a:latin typeface="Calibri"/>
                <a:cs typeface="Calibri"/>
              </a:rPr>
              <a:t> </a:t>
            </a:r>
            <a:r>
              <a:rPr lang="en-US" sz="2800" spc="-5" dirty="0">
                <a:solidFill>
                  <a:srgbClr val="404040"/>
                </a:solidFill>
                <a:latin typeface="Calibri"/>
                <a:cs typeface="Calibri"/>
              </a:rPr>
              <a:t>value</a:t>
            </a:r>
            <a:r>
              <a:rPr lang="en-US" sz="2800" spc="5" dirty="0">
                <a:solidFill>
                  <a:srgbClr val="404040"/>
                </a:solidFill>
                <a:latin typeface="Calibri"/>
                <a:cs typeface="Calibri"/>
              </a:rPr>
              <a:t> </a:t>
            </a:r>
            <a:r>
              <a:rPr lang="en-US" sz="2800" spc="-5" dirty="0">
                <a:solidFill>
                  <a:srgbClr val="404040"/>
                </a:solidFill>
                <a:latin typeface="Calibri"/>
                <a:cs typeface="Calibri"/>
              </a:rPr>
              <a:t>analysis</a:t>
            </a:r>
            <a:r>
              <a:rPr lang="en-US" sz="2800" spc="-5" dirty="0" smtClean="0">
                <a:solidFill>
                  <a:srgbClr val="404040"/>
                </a:solidFill>
                <a:latin typeface="Calibri"/>
                <a:cs typeface="Calibri"/>
              </a:rPr>
              <a:t>.</a:t>
            </a:r>
          </a:p>
          <a:p>
            <a:pPr eaLnBrk="1" hangingPunct="1"/>
            <a:r>
              <a:rPr lang="en-US" dirty="0" smtClean="0"/>
              <a:t>No character</a:t>
            </a:r>
          </a:p>
          <a:p>
            <a:pPr eaLnBrk="1" hangingPunct="1"/>
            <a:r>
              <a:rPr lang="en-US" dirty="0" smtClean="0"/>
              <a:t>1 character</a:t>
            </a:r>
          </a:p>
          <a:p>
            <a:pPr eaLnBrk="1" hangingPunct="1"/>
            <a:r>
              <a:rPr lang="en-US" dirty="0" smtClean="0"/>
              <a:t>2 characters</a:t>
            </a:r>
          </a:p>
          <a:p>
            <a:pPr eaLnBrk="1" hangingPunct="1"/>
            <a:r>
              <a:rPr lang="en-US" dirty="0" smtClean="0"/>
              <a:t>499 characters</a:t>
            </a:r>
          </a:p>
          <a:p>
            <a:pPr eaLnBrk="1" hangingPunct="1"/>
            <a:r>
              <a:rPr lang="en-US" dirty="0" smtClean="0"/>
              <a:t>500 characters</a:t>
            </a:r>
          </a:p>
          <a:p>
            <a:pPr eaLnBrk="1" hangingPunct="1"/>
            <a:r>
              <a:rPr lang="en-US" dirty="0" smtClean="0"/>
              <a:t>501 characters</a:t>
            </a:r>
          </a:p>
        </p:txBody>
      </p:sp>
    </p:spTree>
    <p:extLst>
      <p:ext uri="{BB962C8B-B14F-4D97-AF65-F5344CB8AC3E}">
        <p14:creationId xmlns:p14="http://schemas.microsoft.com/office/powerpoint/2010/main" val="20362951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Equivalence and Boundary </a:t>
            </a:r>
            <a:r>
              <a:rPr lang="en-US" dirty="0" smtClean="0"/>
              <a:t>Value</a:t>
            </a:r>
            <a:endParaRPr lang="en-US" dirty="0"/>
          </a:p>
        </p:txBody>
      </p:sp>
      <p:sp>
        <p:nvSpPr>
          <p:cNvPr id="6" name="Rectangle 3"/>
          <p:cNvSpPr>
            <a:spLocks noGrp="1" noChangeArrowheads="1"/>
          </p:cNvSpPr>
          <p:nvPr>
            <p:ph idx="1"/>
          </p:nvPr>
        </p:nvSpPr>
        <p:spPr>
          <a:xfrm>
            <a:off x="457200" y="1935480"/>
            <a:ext cx="8229600" cy="4389120"/>
          </a:xfrm>
        </p:spPr>
        <p:txBody>
          <a:bodyPr>
            <a:normAutofit/>
          </a:bodyPr>
          <a:lstStyle/>
          <a:p>
            <a:pPr marL="12700" marR="12700">
              <a:lnSpc>
                <a:spcPct val="90000"/>
              </a:lnSpc>
              <a:spcBef>
                <a:spcPts val="1405"/>
              </a:spcBef>
            </a:pPr>
            <a:r>
              <a:rPr lang="en-US" sz="2800" spc="-5" dirty="0" smtClean="0">
                <a:solidFill>
                  <a:srgbClr val="404040"/>
                </a:solidFill>
                <a:latin typeface="Calibri"/>
                <a:cs typeface="Calibri"/>
              </a:rPr>
              <a:t>Let's </a:t>
            </a:r>
            <a:r>
              <a:rPr lang="en-US" sz="2800" spc="-5" dirty="0">
                <a:solidFill>
                  <a:srgbClr val="404040"/>
                </a:solidFill>
                <a:latin typeface="Calibri"/>
                <a:cs typeface="Calibri"/>
              </a:rPr>
              <a:t>consider </a:t>
            </a:r>
            <a:r>
              <a:rPr lang="en-US" sz="2800" dirty="0">
                <a:solidFill>
                  <a:srgbClr val="404040"/>
                </a:solidFill>
                <a:latin typeface="Calibri"/>
                <a:cs typeface="Calibri"/>
              </a:rPr>
              <a:t>the </a:t>
            </a:r>
            <a:r>
              <a:rPr lang="en-US" sz="2800" spc="-5" dirty="0">
                <a:solidFill>
                  <a:srgbClr val="404040"/>
                </a:solidFill>
                <a:latin typeface="Calibri"/>
                <a:cs typeface="Calibri"/>
              </a:rPr>
              <a:t>behavior of </a:t>
            </a:r>
            <a:r>
              <a:rPr lang="en-US" sz="2800" dirty="0">
                <a:solidFill>
                  <a:srgbClr val="404040"/>
                </a:solidFill>
                <a:latin typeface="Calibri"/>
                <a:cs typeface="Calibri"/>
              </a:rPr>
              <a:t> </a:t>
            </a:r>
            <a:r>
              <a:rPr lang="en-US" sz="2800" spc="-10" dirty="0">
                <a:solidFill>
                  <a:srgbClr val="404040"/>
                </a:solidFill>
                <a:latin typeface="Calibri"/>
                <a:cs typeface="Calibri"/>
              </a:rPr>
              <a:t>Order</a:t>
            </a:r>
            <a:r>
              <a:rPr lang="en-US" sz="2800" spc="-25" dirty="0">
                <a:solidFill>
                  <a:srgbClr val="404040"/>
                </a:solidFill>
                <a:latin typeface="Calibri"/>
                <a:cs typeface="Calibri"/>
              </a:rPr>
              <a:t> </a:t>
            </a:r>
            <a:r>
              <a:rPr lang="en-US" sz="2800" spc="-10" dirty="0">
                <a:solidFill>
                  <a:srgbClr val="404040"/>
                </a:solidFill>
                <a:latin typeface="Calibri"/>
                <a:cs typeface="Calibri"/>
              </a:rPr>
              <a:t>Pizza</a:t>
            </a:r>
            <a:r>
              <a:rPr lang="en-US" sz="2800" spc="-5" dirty="0">
                <a:solidFill>
                  <a:srgbClr val="404040"/>
                </a:solidFill>
                <a:latin typeface="Calibri"/>
                <a:cs typeface="Calibri"/>
              </a:rPr>
              <a:t> </a:t>
            </a:r>
            <a:r>
              <a:rPr lang="en-US" sz="2800" spc="-60" dirty="0">
                <a:solidFill>
                  <a:srgbClr val="404040"/>
                </a:solidFill>
                <a:latin typeface="Calibri"/>
                <a:cs typeface="Calibri"/>
              </a:rPr>
              <a:t>Text</a:t>
            </a:r>
            <a:r>
              <a:rPr lang="en-US" sz="2800" spc="10" dirty="0">
                <a:solidFill>
                  <a:srgbClr val="404040"/>
                </a:solidFill>
                <a:latin typeface="Calibri"/>
                <a:cs typeface="Calibri"/>
              </a:rPr>
              <a:t> </a:t>
            </a:r>
            <a:r>
              <a:rPr lang="en-US" sz="2800" spc="-10" dirty="0">
                <a:solidFill>
                  <a:srgbClr val="404040"/>
                </a:solidFill>
                <a:latin typeface="Calibri"/>
                <a:cs typeface="Calibri"/>
              </a:rPr>
              <a:t>Box</a:t>
            </a:r>
            <a:r>
              <a:rPr lang="en-US" sz="2800" spc="-30" dirty="0">
                <a:solidFill>
                  <a:srgbClr val="404040"/>
                </a:solidFill>
                <a:latin typeface="Calibri"/>
                <a:cs typeface="Calibri"/>
              </a:rPr>
              <a:t> </a:t>
            </a:r>
            <a:r>
              <a:rPr lang="en-US" sz="2800" spc="-10" dirty="0">
                <a:solidFill>
                  <a:srgbClr val="404040"/>
                </a:solidFill>
                <a:latin typeface="Calibri"/>
                <a:cs typeface="Calibri"/>
              </a:rPr>
              <a:t>Pizza</a:t>
            </a:r>
            <a:r>
              <a:rPr lang="en-US" sz="2800" spc="5" dirty="0">
                <a:solidFill>
                  <a:srgbClr val="404040"/>
                </a:solidFill>
                <a:latin typeface="Calibri"/>
                <a:cs typeface="Calibri"/>
              </a:rPr>
              <a:t> </a:t>
            </a:r>
            <a:r>
              <a:rPr lang="en-US" sz="2800" spc="-5" dirty="0">
                <a:solidFill>
                  <a:srgbClr val="404040"/>
                </a:solidFill>
                <a:latin typeface="Calibri"/>
                <a:cs typeface="Calibri"/>
              </a:rPr>
              <a:t>values </a:t>
            </a:r>
            <a:r>
              <a:rPr lang="en-US" sz="2800" spc="-440" dirty="0">
                <a:solidFill>
                  <a:srgbClr val="404040"/>
                </a:solidFill>
                <a:latin typeface="Calibri"/>
                <a:cs typeface="Calibri"/>
              </a:rPr>
              <a:t> </a:t>
            </a:r>
            <a:r>
              <a:rPr lang="en-US" sz="2800" dirty="0">
                <a:solidFill>
                  <a:srgbClr val="404040"/>
                </a:solidFill>
                <a:latin typeface="Calibri"/>
                <a:cs typeface="Calibri"/>
              </a:rPr>
              <a:t>1 </a:t>
            </a:r>
            <a:r>
              <a:rPr lang="en-US" sz="2800" spc="-10" dirty="0">
                <a:solidFill>
                  <a:srgbClr val="404040"/>
                </a:solidFill>
                <a:latin typeface="Calibri"/>
                <a:cs typeface="Calibri"/>
              </a:rPr>
              <a:t>to </a:t>
            </a:r>
            <a:r>
              <a:rPr lang="en-US" sz="2800" dirty="0">
                <a:solidFill>
                  <a:srgbClr val="404040"/>
                </a:solidFill>
                <a:latin typeface="Calibri"/>
                <a:cs typeface="Calibri"/>
              </a:rPr>
              <a:t>10 </a:t>
            </a:r>
            <a:r>
              <a:rPr lang="en-US" sz="2800" spc="-5" dirty="0">
                <a:solidFill>
                  <a:srgbClr val="404040"/>
                </a:solidFill>
                <a:latin typeface="Calibri"/>
                <a:cs typeface="Calibri"/>
              </a:rPr>
              <a:t>is considered valid. </a:t>
            </a:r>
            <a:r>
              <a:rPr lang="en-US" sz="2800" dirty="0">
                <a:solidFill>
                  <a:srgbClr val="404040"/>
                </a:solidFill>
                <a:latin typeface="Calibri"/>
                <a:cs typeface="Calibri"/>
              </a:rPr>
              <a:t>A </a:t>
            </a:r>
            <a:r>
              <a:rPr lang="en-US" sz="2800" spc="5" dirty="0">
                <a:solidFill>
                  <a:srgbClr val="404040"/>
                </a:solidFill>
                <a:latin typeface="Calibri"/>
                <a:cs typeface="Calibri"/>
              </a:rPr>
              <a:t> </a:t>
            </a:r>
            <a:r>
              <a:rPr lang="en-US" sz="2800" dirty="0">
                <a:solidFill>
                  <a:srgbClr val="404040"/>
                </a:solidFill>
                <a:latin typeface="Calibri"/>
                <a:cs typeface="Calibri"/>
              </a:rPr>
              <a:t>success </a:t>
            </a:r>
            <a:r>
              <a:rPr lang="en-US" sz="2800" spc="-5" dirty="0">
                <a:solidFill>
                  <a:srgbClr val="404040"/>
                </a:solidFill>
                <a:latin typeface="Calibri"/>
                <a:cs typeface="Calibri"/>
              </a:rPr>
              <a:t>message</a:t>
            </a:r>
            <a:r>
              <a:rPr lang="en-US" sz="2800" spc="5" dirty="0">
                <a:solidFill>
                  <a:srgbClr val="404040"/>
                </a:solidFill>
                <a:latin typeface="Calibri"/>
                <a:cs typeface="Calibri"/>
              </a:rPr>
              <a:t> </a:t>
            </a:r>
            <a:r>
              <a:rPr lang="en-US" sz="2800" dirty="0">
                <a:solidFill>
                  <a:srgbClr val="404040"/>
                </a:solidFill>
                <a:latin typeface="Calibri"/>
                <a:cs typeface="Calibri"/>
              </a:rPr>
              <a:t>is</a:t>
            </a:r>
            <a:r>
              <a:rPr lang="en-US" sz="2800" spc="-15" dirty="0">
                <a:solidFill>
                  <a:srgbClr val="404040"/>
                </a:solidFill>
                <a:latin typeface="Calibri"/>
                <a:cs typeface="Calibri"/>
              </a:rPr>
              <a:t> </a:t>
            </a:r>
            <a:r>
              <a:rPr lang="en-US" sz="2800" spc="-5" dirty="0">
                <a:solidFill>
                  <a:srgbClr val="404040"/>
                </a:solidFill>
                <a:latin typeface="Calibri"/>
                <a:cs typeface="Calibri"/>
              </a:rPr>
              <a:t>shown.</a:t>
            </a:r>
            <a:endParaRPr lang="en-US" sz="2800" dirty="0">
              <a:latin typeface="Calibri"/>
              <a:cs typeface="Calibri"/>
            </a:endParaRPr>
          </a:p>
        </p:txBody>
      </p:sp>
      <p:pic>
        <p:nvPicPr>
          <p:cNvPr id="4" name="object 5"/>
          <p:cNvPicPr/>
          <p:nvPr/>
        </p:nvPicPr>
        <p:blipFill>
          <a:blip r:embed="rId2" cstate="print"/>
          <a:stretch>
            <a:fillRect/>
          </a:stretch>
        </p:blipFill>
        <p:spPr>
          <a:xfrm>
            <a:off x="1295400" y="4820412"/>
            <a:ext cx="5618988" cy="2037588"/>
          </a:xfrm>
          <a:prstGeom prst="rect">
            <a:avLst/>
          </a:prstGeom>
        </p:spPr>
      </p:pic>
      <p:sp>
        <p:nvSpPr>
          <p:cNvPr id="5" name="object 4"/>
          <p:cNvSpPr txBox="1"/>
          <p:nvPr/>
        </p:nvSpPr>
        <p:spPr>
          <a:xfrm>
            <a:off x="3429001" y="2743200"/>
            <a:ext cx="5715000" cy="1951816"/>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chemeClr val="tx1"/>
                </a:solidFill>
                <a:latin typeface="Calibri"/>
                <a:cs typeface="Calibri"/>
              </a:rPr>
              <a:t>Here</a:t>
            </a:r>
            <a:r>
              <a:rPr sz="1800" b="1" spc="-15" dirty="0">
                <a:solidFill>
                  <a:schemeClr val="tx1"/>
                </a:solidFill>
                <a:latin typeface="Calibri"/>
                <a:cs typeface="Calibri"/>
              </a:rPr>
              <a:t> </a:t>
            </a:r>
            <a:r>
              <a:rPr sz="1800" b="1" dirty="0">
                <a:solidFill>
                  <a:schemeClr val="tx1"/>
                </a:solidFill>
                <a:latin typeface="Calibri"/>
                <a:cs typeface="Calibri"/>
              </a:rPr>
              <a:t>is</a:t>
            </a:r>
            <a:r>
              <a:rPr sz="1800" b="1" spc="-15" dirty="0">
                <a:solidFill>
                  <a:schemeClr val="tx1"/>
                </a:solidFill>
                <a:latin typeface="Calibri"/>
                <a:cs typeface="Calibri"/>
              </a:rPr>
              <a:t> </a:t>
            </a:r>
            <a:r>
              <a:rPr sz="1800" b="1" dirty="0">
                <a:solidFill>
                  <a:schemeClr val="tx1"/>
                </a:solidFill>
                <a:latin typeface="Calibri"/>
                <a:cs typeface="Calibri"/>
              </a:rPr>
              <a:t>the</a:t>
            </a:r>
            <a:r>
              <a:rPr sz="1800" b="1" spc="-25" dirty="0">
                <a:solidFill>
                  <a:schemeClr val="tx1"/>
                </a:solidFill>
                <a:latin typeface="Calibri"/>
                <a:cs typeface="Calibri"/>
              </a:rPr>
              <a:t> </a:t>
            </a:r>
            <a:r>
              <a:rPr sz="1800" b="1" spc="-15" dirty="0">
                <a:solidFill>
                  <a:schemeClr val="tx1"/>
                </a:solidFill>
                <a:latin typeface="Calibri"/>
                <a:cs typeface="Calibri"/>
              </a:rPr>
              <a:t>test</a:t>
            </a:r>
            <a:r>
              <a:rPr sz="1800" b="1" spc="-5" dirty="0">
                <a:solidFill>
                  <a:schemeClr val="tx1"/>
                </a:solidFill>
                <a:latin typeface="Calibri"/>
                <a:cs typeface="Calibri"/>
              </a:rPr>
              <a:t> condition</a:t>
            </a:r>
            <a:endParaRPr sz="1800" dirty="0">
              <a:solidFill>
                <a:schemeClr val="tx1"/>
              </a:solidFill>
              <a:latin typeface="Calibri"/>
              <a:cs typeface="Calibri"/>
            </a:endParaRPr>
          </a:p>
          <a:p>
            <a:pPr marL="12700" marR="5080">
              <a:lnSpc>
                <a:spcPct val="100000"/>
              </a:lnSpc>
              <a:spcBef>
                <a:spcPts val="5"/>
              </a:spcBef>
            </a:pPr>
            <a:r>
              <a:rPr sz="1800" spc="-10" dirty="0">
                <a:solidFill>
                  <a:schemeClr val="tx1"/>
                </a:solidFill>
                <a:latin typeface="Calibri"/>
                <a:cs typeface="Calibri"/>
              </a:rPr>
              <a:t>Any </a:t>
            </a:r>
            <a:r>
              <a:rPr sz="1800" dirty="0">
                <a:solidFill>
                  <a:schemeClr val="tx1"/>
                </a:solidFill>
                <a:latin typeface="Calibri"/>
                <a:cs typeface="Calibri"/>
              </a:rPr>
              <a:t>Number </a:t>
            </a:r>
            <a:r>
              <a:rPr sz="1800" spc="-10" dirty="0">
                <a:solidFill>
                  <a:schemeClr val="tx1"/>
                </a:solidFill>
                <a:latin typeface="Calibri"/>
                <a:cs typeface="Calibri"/>
              </a:rPr>
              <a:t>greater </a:t>
            </a:r>
            <a:r>
              <a:rPr sz="1800" dirty="0">
                <a:solidFill>
                  <a:schemeClr val="tx1"/>
                </a:solidFill>
                <a:latin typeface="Calibri"/>
                <a:cs typeface="Calibri"/>
              </a:rPr>
              <a:t>than 10 </a:t>
            </a:r>
            <a:r>
              <a:rPr sz="1800" spc="-10" dirty="0">
                <a:solidFill>
                  <a:schemeClr val="tx1"/>
                </a:solidFill>
                <a:latin typeface="Calibri"/>
                <a:cs typeface="Calibri"/>
              </a:rPr>
              <a:t>entered </a:t>
            </a:r>
            <a:r>
              <a:rPr sz="1800" spc="-5" dirty="0">
                <a:solidFill>
                  <a:schemeClr val="tx1"/>
                </a:solidFill>
                <a:latin typeface="Calibri"/>
                <a:cs typeface="Calibri"/>
              </a:rPr>
              <a:t>in </a:t>
            </a:r>
            <a:r>
              <a:rPr sz="1800" dirty="0">
                <a:solidFill>
                  <a:schemeClr val="tx1"/>
                </a:solidFill>
                <a:latin typeface="Calibri"/>
                <a:cs typeface="Calibri"/>
              </a:rPr>
              <a:t>the </a:t>
            </a:r>
            <a:r>
              <a:rPr sz="1800" spc="-395" dirty="0">
                <a:solidFill>
                  <a:schemeClr val="tx1"/>
                </a:solidFill>
                <a:latin typeface="Calibri"/>
                <a:cs typeface="Calibri"/>
              </a:rPr>
              <a:t> </a:t>
            </a:r>
            <a:r>
              <a:rPr sz="1800" spc="-10" dirty="0">
                <a:solidFill>
                  <a:schemeClr val="tx1"/>
                </a:solidFill>
                <a:latin typeface="Calibri"/>
                <a:cs typeface="Calibri"/>
              </a:rPr>
              <a:t>Order Pizza </a:t>
            </a:r>
            <a:r>
              <a:rPr sz="1800" spc="-5" dirty="0">
                <a:solidFill>
                  <a:schemeClr val="tx1"/>
                </a:solidFill>
                <a:latin typeface="Calibri"/>
                <a:cs typeface="Calibri"/>
              </a:rPr>
              <a:t>field</a:t>
            </a:r>
            <a:r>
              <a:rPr sz="1800" b="1" spc="-5" dirty="0">
                <a:solidFill>
                  <a:schemeClr val="tx1"/>
                </a:solidFill>
                <a:latin typeface="Calibri"/>
                <a:cs typeface="Calibri"/>
              </a:rPr>
              <a:t>(let </a:t>
            </a:r>
            <a:r>
              <a:rPr sz="1800" b="1" spc="-15" dirty="0">
                <a:solidFill>
                  <a:schemeClr val="tx1"/>
                </a:solidFill>
                <a:latin typeface="Calibri"/>
                <a:cs typeface="Calibri"/>
              </a:rPr>
              <a:t>say </a:t>
            </a:r>
            <a:r>
              <a:rPr sz="1800" b="1" dirty="0">
                <a:solidFill>
                  <a:schemeClr val="tx1"/>
                </a:solidFill>
                <a:latin typeface="Calibri"/>
                <a:cs typeface="Calibri"/>
              </a:rPr>
              <a:t>11) is </a:t>
            </a:r>
            <a:r>
              <a:rPr sz="1800" b="1" spc="-5" dirty="0">
                <a:solidFill>
                  <a:schemeClr val="tx1"/>
                </a:solidFill>
                <a:latin typeface="Calibri"/>
                <a:cs typeface="Calibri"/>
              </a:rPr>
              <a:t>considered </a:t>
            </a:r>
            <a:r>
              <a:rPr sz="1800" b="1" dirty="0">
                <a:solidFill>
                  <a:schemeClr val="tx1"/>
                </a:solidFill>
                <a:latin typeface="Calibri"/>
                <a:cs typeface="Calibri"/>
              </a:rPr>
              <a:t> </a:t>
            </a:r>
            <a:r>
              <a:rPr sz="1800" b="1" spc="-10" dirty="0">
                <a:solidFill>
                  <a:schemeClr val="tx1"/>
                </a:solidFill>
                <a:latin typeface="Calibri"/>
                <a:cs typeface="Calibri"/>
              </a:rPr>
              <a:t>invalid</a:t>
            </a:r>
            <a:r>
              <a:rPr sz="1800" spc="-10" dirty="0">
                <a:solidFill>
                  <a:schemeClr val="tx1"/>
                </a:solidFill>
                <a:latin typeface="Calibri"/>
                <a:cs typeface="Calibri"/>
              </a:rPr>
              <a:t>.</a:t>
            </a:r>
            <a:endParaRPr sz="1800" dirty="0">
              <a:solidFill>
                <a:schemeClr val="tx1"/>
              </a:solidFill>
              <a:latin typeface="Calibri"/>
              <a:cs typeface="Calibri"/>
            </a:endParaRPr>
          </a:p>
          <a:p>
            <a:pPr marL="12700">
              <a:lnSpc>
                <a:spcPct val="100000"/>
              </a:lnSpc>
            </a:pPr>
            <a:r>
              <a:rPr sz="1800" spc="-10" dirty="0">
                <a:solidFill>
                  <a:schemeClr val="tx1"/>
                </a:solidFill>
                <a:latin typeface="Calibri"/>
                <a:cs typeface="Calibri"/>
              </a:rPr>
              <a:t>Any </a:t>
            </a:r>
            <a:r>
              <a:rPr sz="1800" dirty="0">
                <a:solidFill>
                  <a:schemeClr val="tx1"/>
                </a:solidFill>
                <a:latin typeface="Calibri"/>
                <a:cs typeface="Calibri"/>
              </a:rPr>
              <a:t>Number</a:t>
            </a:r>
            <a:r>
              <a:rPr sz="1800" spc="-5" dirty="0">
                <a:solidFill>
                  <a:schemeClr val="tx1"/>
                </a:solidFill>
                <a:latin typeface="Calibri"/>
                <a:cs typeface="Calibri"/>
              </a:rPr>
              <a:t> less </a:t>
            </a:r>
            <a:r>
              <a:rPr sz="1800" dirty="0">
                <a:solidFill>
                  <a:schemeClr val="tx1"/>
                </a:solidFill>
                <a:latin typeface="Calibri"/>
                <a:cs typeface="Calibri"/>
              </a:rPr>
              <a:t>than </a:t>
            </a:r>
            <a:r>
              <a:rPr sz="1800" b="1" dirty="0">
                <a:solidFill>
                  <a:schemeClr val="tx1"/>
                </a:solidFill>
                <a:latin typeface="Calibri"/>
                <a:cs typeface="Calibri"/>
              </a:rPr>
              <a:t>1 </a:t>
            </a:r>
            <a:r>
              <a:rPr sz="1800" b="1" spc="-5" dirty="0">
                <a:solidFill>
                  <a:schemeClr val="tx1"/>
                </a:solidFill>
                <a:latin typeface="Calibri"/>
                <a:cs typeface="Calibri"/>
              </a:rPr>
              <a:t>that</a:t>
            </a:r>
            <a:r>
              <a:rPr sz="1800" b="1" spc="-15" dirty="0">
                <a:solidFill>
                  <a:schemeClr val="tx1"/>
                </a:solidFill>
                <a:latin typeface="Calibri"/>
                <a:cs typeface="Calibri"/>
              </a:rPr>
              <a:t> </a:t>
            </a:r>
            <a:r>
              <a:rPr sz="1800" b="1" dirty="0">
                <a:solidFill>
                  <a:schemeClr val="tx1"/>
                </a:solidFill>
                <a:latin typeface="Calibri"/>
                <a:cs typeface="Calibri"/>
              </a:rPr>
              <a:t>is</a:t>
            </a:r>
            <a:r>
              <a:rPr sz="1800" b="1" spc="-15" dirty="0">
                <a:solidFill>
                  <a:schemeClr val="tx1"/>
                </a:solidFill>
                <a:latin typeface="Calibri"/>
                <a:cs typeface="Calibri"/>
              </a:rPr>
              <a:t> </a:t>
            </a:r>
            <a:r>
              <a:rPr sz="1800" b="1" dirty="0">
                <a:solidFill>
                  <a:schemeClr val="tx1"/>
                </a:solidFill>
                <a:latin typeface="Calibri"/>
                <a:cs typeface="Calibri"/>
              </a:rPr>
              <a:t>0</a:t>
            </a:r>
            <a:r>
              <a:rPr sz="1800" b="1" spc="5" dirty="0">
                <a:solidFill>
                  <a:schemeClr val="tx1"/>
                </a:solidFill>
                <a:latin typeface="Calibri"/>
                <a:cs typeface="Calibri"/>
              </a:rPr>
              <a:t> </a:t>
            </a:r>
            <a:r>
              <a:rPr sz="1800" b="1" dirty="0">
                <a:solidFill>
                  <a:schemeClr val="tx1"/>
                </a:solidFill>
                <a:latin typeface="Calibri"/>
                <a:cs typeface="Calibri"/>
              </a:rPr>
              <a:t>or</a:t>
            </a:r>
            <a:r>
              <a:rPr sz="1800" b="1" spc="-25" dirty="0">
                <a:solidFill>
                  <a:schemeClr val="tx1"/>
                </a:solidFill>
                <a:latin typeface="Calibri"/>
                <a:cs typeface="Calibri"/>
              </a:rPr>
              <a:t> </a:t>
            </a:r>
            <a:r>
              <a:rPr sz="1800" b="1" spc="-20" dirty="0">
                <a:solidFill>
                  <a:schemeClr val="tx1"/>
                </a:solidFill>
                <a:latin typeface="Calibri"/>
                <a:cs typeface="Calibri"/>
              </a:rPr>
              <a:t>below,</a:t>
            </a:r>
            <a:endParaRPr sz="1800" dirty="0">
              <a:solidFill>
                <a:schemeClr val="tx1"/>
              </a:solidFill>
              <a:latin typeface="Calibri"/>
              <a:cs typeface="Calibri"/>
            </a:endParaRPr>
          </a:p>
          <a:p>
            <a:pPr marL="12700">
              <a:lnSpc>
                <a:spcPct val="100000"/>
              </a:lnSpc>
            </a:pPr>
            <a:r>
              <a:rPr sz="1800" b="1" dirty="0">
                <a:solidFill>
                  <a:schemeClr val="tx1"/>
                </a:solidFill>
                <a:latin typeface="Calibri"/>
                <a:cs typeface="Calibri"/>
              </a:rPr>
              <a:t>then</a:t>
            </a:r>
            <a:r>
              <a:rPr sz="1800" b="1" spc="-35" dirty="0">
                <a:solidFill>
                  <a:schemeClr val="tx1"/>
                </a:solidFill>
                <a:latin typeface="Calibri"/>
                <a:cs typeface="Calibri"/>
              </a:rPr>
              <a:t> </a:t>
            </a:r>
            <a:r>
              <a:rPr sz="1800" b="1" dirty="0">
                <a:solidFill>
                  <a:schemeClr val="tx1"/>
                </a:solidFill>
                <a:latin typeface="Calibri"/>
                <a:cs typeface="Calibri"/>
              </a:rPr>
              <a:t>it</a:t>
            </a:r>
            <a:r>
              <a:rPr sz="1800" b="1" spc="-15" dirty="0">
                <a:solidFill>
                  <a:schemeClr val="tx1"/>
                </a:solidFill>
                <a:latin typeface="Calibri"/>
                <a:cs typeface="Calibri"/>
              </a:rPr>
              <a:t> </a:t>
            </a:r>
            <a:r>
              <a:rPr sz="1800" b="1" dirty="0">
                <a:solidFill>
                  <a:schemeClr val="tx1"/>
                </a:solidFill>
                <a:latin typeface="Calibri"/>
                <a:cs typeface="Calibri"/>
              </a:rPr>
              <a:t>is</a:t>
            </a:r>
            <a:r>
              <a:rPr sz="1800" b="1" spc="-25" dirty="0">
                <a:solidFill>
                  <a:schemeClr val="tx1"/>
                </a:solidFill>
                <a:latin typeface="Calibri"/>
                <a:cs typeface="Calibri"/>
              </a:rPr>
              <a:t> </a:t>
            </a:r>
            <a:r>
              <a:rPr sz="1800" b="1" spc="-5" dirty="0">
                <a:solidFill>
                  <a:schemeClr val="tx1"/>
                </a:solidFill>
                <a:latin typeface="Calibri"/>
                <a:cs typeface="Calibri"/>
              </a:rPr>
              <a:t>considered</a:t>
            </a:r>
            <a:r>
              <a:rPr sz="1800" b="1" spc="-55" dirty="0">
                <a:solidFill>
                  <a:schemeClr val="tx1"/>
                </a:solidFill>
                <a:latin typeface="Calibri"/>
                <a:cs typeface="Calibri"/>
              </a:rPr>
              <a:t> </a:t>
            </a:r>
            <a:r>
              <a:rPr sz="1800" b="1" spc="-5" dirty="0">
                <a:solidFill>
                  <a:schemeClr val="tx1"/>
                </a:solidFill>
                <a:latin typeface="Calibri"/>
                <a:cs typeface="Calibri"/>
              </a:rPr>
              <a:t>invalid</a:t>
            </a:r>
            <a:r>
              <a:rPr sz="1800" spc="-5" dirty="0">
                <a:solidFill>
                  <a:schemeClr val="tx1"/>
                </a:solidFill>
                <a:latin typeface="Calibri"/>
                <a:cs typeface="Calibri"/>
              </a:rPr>
              <a:t>.</a:t>
            </a:r>
            <a:endParaRPr sz="1800" dirty="0">
              <a:solidFill>
                <a:schemeClr val="tx1"/>
              </a:solidFill>
              <a:latin typeface="Calibri"/>
              <a:cs typeface="Calibri"/>
            </a:endParaRPr>
          </a:p>
          <a:p>
            <a:pPr marL="12700" marR="455930">
              <a:lnSpc>
                <a:spcPct val="100000"/>
              </a:lnSpc>
            </a:pPr>
            <a:r>
              <a:rPr sz="1800" spc="-10" dirty="0">
                <a:solidFill>
                  <a:schemeClr val="tx1"/>
                </a:solidFill>
                <a:latin typeface="Calibri"/>
                <a:cs typeface="Calibri"/>
              </a:rPr>
              <a:t>Numbers</a:t>
            </a:r>
            <a:r>
              <a:rPr sz="1800" spc="-5" dirty="0">
                <a:solidFill>
                  <a:schemeClr val="tx1"/>
                </a:solidFill>
                <a:latin typeface="Calibri"/>
                <a:cs typeface="Calibri"/>
              </a:rPr>
              <a:t> </a:t>
            </a:r>
            <a:r>
              <a:rPr sz="1800" dirty="0">
                <a:solidFill>
                  <a:schemeClr val="tx1"/>
                </a:solidFill>
                <a:latin typeface="Calibri"/>
                <a:cs typeface="Calibri"/>
              </a:rPr>
              <a:t>1</a:t>
            </a:r>
            <a:r>
              <a:rPr sz="1800" spc="5" dirty="0">
                <a:solidFill>
                  <a:schemeClr val="tx1"/>
                </a:solidFill>
                <a:latin typeface="Calibri"/>
                <a:cs typeface="Calibri"/>
              </a:rPr>
              <a:t> </a:t>
            </a:r>
            <a:r>
              <a:rPr sz="1800" spc="-10" dirty="0">
                <a:solidFill>
                  <a:schemeClr val="tx1"/>
                </a:solidFill>
                <a:latin typeface="Calibri"/>
                <a:cs typeface="Calibri"/>
              </a:rPr>
              <a:t>to </a:t>
            </a:r>
            <a:r>
              <a:rPr sz="1800" dirty="0">
                <a:solidFill>
                  <a:schemeClr val="tx1"/>
                </a:solidFill>
                <a:latin typeface="Calibri"/>
                <a:cs typeface="Calibri"/>
              </a:rPr>
              <a:t>10 </a:t>
            </a:r>
            <a:r>
              <a:rPr sz="1800" spc="-10" dirty="0">
                <a:solidFill>
                  <a:schemeClr val="tx1"/>
                </a:solidFill>
                <a:latin typeface="Calibri"/>
                <a:cs typeface="Calibri"/>
              </a:rPr>
              <a:t>are</a:t>
            </a:r>
            <a:r>
              <a:rPr sz="1800" spc="10" dirty="0">
                <a:solidFill>
                  <a:schemeClr val="tx1"/>
                </a:solidFill>
                <a:latin typeface="Calibri"/>
                <a:cs typeface="Calibri"/>
              </a:rPr>
              <a:t> </a:t>
            </a:r>
            <a:r>
              <a:rPr sz="1800" spc="-10" dirty="0">
                <a:solidFill>
                  <a:schemeClr val="tx1"/>
                </a:solidFill>
                <a:latin typeface="Calibri"/>
                <a:cs typeface="Calibri"/>
              </a:rPr>
              <a:t>considered</a:t>
            </a:r>
            <a:r>
              <a:rPr sz="1800" spc="10" dirty="0">
                <a:solidFill>
                  <a:schemeClr val="tx1"/>
                </a:solidFill>
                <a:latin typeface="Calibri"/>
                <a:cs typeface="Calibri"/>
              </a:rPr>
              <a:t> </a:t>
            </a:r>
            <a:r>
              <a:rPr sz="1800" spc="-10" dirty="0">
                <a:solidFill>
                  <a:schemeClr val="tx1"/>
                </a:solidFill>
                <a:latin typeface="Calibri"/>
                <a:cs typeface="Calibri"/>
              </a:rPr>
              <a:t>valid </a:t>
            </a:r>
            <a:r>
              <a:rPr sz="1800" spc="-5" dirty="0">
                <a:solidFill>
                  <a:schemeClr val="tx1"/>
                </a:solidFill>
                <a:latin typeface="Calibri"/>
                <a:cs typeface="Calibri"/>
              </a:rPr>
              <a:t> </a:t>
            </a:r>
            <a:r>
              <a:rPr sz="1800" spc="-10" dirty="0">
                <a:solidFill>
                  <a:schemeClr val="tx1"/>
                </a:solidFill>
                <a:latin typeface="Calibri"/>
                <a:cs typeface="Calibri"/>
              </a:rPr>
              <a:t>Any</a:t>
            </a:r>
            <a:r>
              <a:rPr sz="1800" spc="-15" dirty="0">
                <a:solidFill>
                  <a:schemeClr val="tx1"/>
                </a:solidFill>
                <a:latin typeface="Calibri"/>
                <a:cs typeface="Calibri"/>
              </a:rPr>
              <a:t> </a:t>
            </a:r>
            <a:r>
              <a:rPr sz="1800" b="1" dirty="0">
                <a:solidFill>
                  <a:schemeClr val="tx1"/>
                </a:solidFill>
                <a:latin typeface="Calibri"/>
                <a:cs typeface="Calibri"/>
              </a:rPr>
              <a:t>3</a:t>
            </a:r>
            <a:r>
              <a:rPr sz="1800" b="1" spc="-15" dirty="0">
                <a:solidFill>
                  <a:schemeClr val="tx1"/>
                </a:solidFill>
                <a:latin typeface="Calibri"/>
                <a:cs typeface="Calibri"/>
              </a:rPr>
              <a:t> </a:t>
            </a:r>
            <a:r>
              <a:rPr sz="1800" b="1" dirty="0">
                <a:solidFill>
                  <a:schemeClr val="tx1"/>
                </a:solidFill>
                <a:latin typeface="Calibri"/>
                <a:cs typeface="Calibri"/>
              </a:rPr>
              <a:t>Digit</a:t>
            </a:r>
            <a:r>
              <a:rPr sz="1800" b="1" spc="-20" dirty="0">
                <a:solidFill>
                  <a:schemeClr val="tx1"/>
                </a:solidFill>
                <a:latin typeface="Calibri"/>
                <a:cs typeface="Calibri"/>
              </a:rPr>
              <a:t> </a:t>
            </a:r>
            <a:r>
              <a:rPr sz="1800" b="1" dirty="0">
                <a:solidFill>
                  <a:schemeClr val="tx1"/>
                </a:solidFill>
                <a:latin typeface="Calibri"/>
                <a:cs typeface="Calibri"/>
              </a:rPr>
              <a:t>Number</a:t>
            </a:r>
            <a:r>
              <a:rPr sz="1800" b="1" spc="-40" dirty="0">
                <a:solidFill>
                  <a:schemeClr val="tx1"/>
                </a:solidFill>
                <a:latin typeface="Calibri"/>
                <a:cs typeface="Calibri"/>
              </a:rPr>
              <a:t> </a:t>
            </a:r>
            <a:r>
              <a:rPr sz="1800" b="1" spc="-15" dirty="0">
                <a:solidFill>
                  <a:schemeClr val="tx1"/>
                </a:solidFill>
                <a:latin typeface="Calibri"/>
                <a:cs typeface="Calibri"/>
              </a:rPr>
              <a:t>say</a:t>
            </a:r>
            <a:r>
              <a:rPr sz="1800" b="1" spc="-10" dirty="0">
                <a:solidFill>
                  <a:schemeClr val="tx1"/>
                </a:solidFill>
                <a:latin typeface="Calibri"/>
                <a:cs typeface="Calibri"/>
              </a:rPr>
              <a:t> </a:t>
            </a:r>
            <a:r>
              <a:rPr sz="1800" b="1" dirty="0">
                <a:solidFill>
                  <a:schemeClr val="tx1"/>
                </a:solidFill>
                <a:latin typeface="Calibri"/>
                <a:cs typeface="Calibri"/>
              </a:rPr>
              <a:t>-100</a:t>
            </a:r>
            <a:r>
              <a:rPr sz="1800" b="1" spc="-10" dirty="0">
                <a:solidFill>
                  <a:schemeClr val="tx1"/>
                </a:solidFill>
                <a:latin typeface="Calibri"/>
                <a:cs typeface="Calibri"/>
              </a:rPr>
              <a:t> </a:t>
            </a:r>
            <a:r>
              <a:rPr sz="1800" spc="-5" dirty="0">
                <a:solidFill>
                  <a:schemeClr val="tx1"/>
                </a:solidFill>
                <a:latin typeface="Calibri"/>
                <a:cs typeface="Calibri"/>
              </a:rPr>
              <a:t>is</a:t>
            </a:r>
            <a:r>
              <a:rPr sz="1800" spc="-15" dirty="0">
                <a:solidFill>
                  <a:schemeClr val="tx1"/>
                </a:solidFill>
                <a:latin typeface="Calibri"/>
                <a:cs typeface="Calibri"/>
              </a:rPr>
              <a:t> </a:t>
            </a:r>
            <a:r>
              <a:rPr sz="1800" spc="-10" dirty="0">
                <a:solidFill>
                  <a:schemeClr val="tx1"/>
                </a:solidFill>
                <a:latin typeface="Calibri"/>
                <a:cs typeface="Calibri"/>
              </a:rPr>
              <a:t>invalid.</a:t>
            </a:r>
            <a:endParaRPr sz="1800" dirty="0">
              <a:solidFill>
                <a:schemeClr val="tx1"/>
              </a:solidFill>
              <a:latin typeface="Calibri"/>
              <a:cs typeface="Calibri"/>
            </a:endParaRPr>
          </a:p>
        </p:txBody>
      </p:sp>
    </p:spTree>
    <p:extLst>
      <p:ext uri="{BB962C8B-B14F-4D97-AF65-F5344CB8AC3E}">
        <p14:creationId xmlns:p14="http://schemas.microsoft.com/office/powerpoint/2010/main" val="40674382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Equivalence and Boundary </a:t>
            </a:r>
            <a:r>
              <a:rPr lang="en-US" dirty="0" smtClean="0"/>
              <a:t>Value</a:t>
            </a:r>
            <a:endParaRPr lang="en-US" dirty="0"/>
          </a:p>
        </p:txBody>
      </p:sp>
      <p:grpSp>
        <p:nvGrpSpPr>
          <p:cNvPr id="7" name="object 3"/>
          <p:cNvGrpSpPr/>
          <p:nvPr/>
        </p:nvGrpSpPr>
        <p:grpSpPr>
          <a:xfrm>
            <a:off x="1676400" y="2057400"/>
            <a:ext cx="5581015" cy="4660900"/>
            <a:chOff x="3214116" y="1647444"/>
            <a:chExt cx="5581015" cy="4660900"/>
          </a:xfrm>
        </p:grpSpPr>
        <p:pic>
          <p:nvPicPr>
            <p:cNvPr id="8" name="object 4"/>
            <p:cNvPicPr/>
            <p:nvPr/>
          </p:nvPicPr>
          <p:blipFill>
            <a:blip r:embed="rId2" cstate="print"/>
            <a:stretch>
              <a:fillRect/>
            </a:stretch>
          </p:blipFill>
          <p:spPr>
            <a:xfrm>
              <a:off x="3214116" y="1647444"/>
              <a:ext cx="5580887" cy="2513075"/>
            </a:xfrm>
            <a:prstGeom prst="rect">
              <a:avLst/>
            </a:prstGeom>
          </p:spPr>
        </p:pic>
        <p:pic>
          <p:nvPicPr>
            <p:cNvPr id="9" name="object 5"/>
            <p:cNvPicPr/>
            <p:nvPr/>
          </p:nvPicPr>
          <p:blipFill>
            <a:blip r:embed="rId3" cstate="print"/>
            <a:stretch>
              <a:fillRect/>
            </a:stretch>
          </p:blipFill>
          <p:spPr>
            <a:xfrm>
              <a:off x="3265932" y="4070604"/>
              <a:ext cx="5477256" cy="2237232"/>
            </a:xfrm>
            <a:prstGeom prst="rect">
              <a:avLst/>
            </a:prstGeom>
          </p:spPr>
        </p:pic>
      </p:grpSp>
    </p:spTree>
    <p:extLst>
      <p:ext uri="{BB962C8B-B14F-4D97-AF65-F5344CB8AC3E}">
        <p14:creationId xmlns:p14="http://schemas.microsoft.com/office/powerpoint/2010/main" val="25088579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pPr eaLnBrk="1" hangingPunct="1"/>
            <a:r>
              <a:rPr lang="en-US" dirty="0" smtClean="0"/>
              <a:t/>
            </a:r>
            <a:br>
              <a:rPr lang="en-US" dirty="0" smtClean="0"/>
            </a:br>
            <a:r>
              <a:rPr lang="en-US" dirty="0" smtClean="0"/>
              <a:t>Levels of Testing</a:t>
            </a:r>
            <a:endParaRPr lang="en-US" sz="2800" dirty="0" smtClean="0"/>
          </a:p>
        </p:txBody>
      </p:sp>
      <p:sp>
        <p:nvSpPr>
          <p:cNvPr id="11267" name="Rectangle 3"/>
          <p:cNvSpPr>
            <a:spLocks noGrp="1" noChangeArrowheads="1"/>
          </p:cNvSpPr>
          <p:nvPr>
            <p:ph idx="1"/>
          </p:nvPr>
        </p:nvSpPr>
        <p:spPr/>
        <p:txBody>
          <a:bodyPr/>
          <a:lstStyle/>
          <a:p>
            <a:pPr eaLnBrk="1" hangingPunct="1"/>
            <a:r>
              <a:rPr lang="en-US" dirty="0" smtClean="0"/>
              <a:t>Module testing, component testing, or unit testing</a:t>
            </a:r>
          </a:p>
          <a:p>
            <a:pPr eaLnBrk="1" hangingPunct="1"/>
            <a:r>
              <a:rPr lang="en-US" dirty="0" smtClean="0"/>
              <a:t>Integration testing</a:t>
            </a:r>
          </a:p>
          <a:p>
            <a:pPr eaLnBrk="1" hangingPunct="1"/>
            <a:r>
              <a:rPr lang="en-US" dirty="0" smtClean="0"/>
              <a:t>System Testing</a:t>
            </a:r>
          </a:p>
          <a:p>
            <a:pPr lvl="1" eaLnBrk="1" hangingPunct="1"/>
            <a:r>
              <a:rPr lang="en-US" dirty="0" smtClean="0"/>
              <a:t>Function testing</a:t>
            </a:r>
          </a:p>
          <a:p>
            <a:pPr lvl="1" eaLnBrk="1" hangingPunct="1"/>
            <a:r>
              <a:rPr lang="en-US" dirty="0" smtClean="0"/>
              <a:t>Performance testing</a:t>
            </a:r>
          </a:p>
          <a:p>
            <a:pPr eaLnBrk="1" hangingPunct="1"/>
            <a:r>
              <a:rPr lang="en-US" dirty="0" smtClean="0"/>
              <a:t>Acceptance testing</a:t>
            </a:r>
          </a:p>
          <a:p>
            <a:pPr eaLnBrk="1" hangingPunct="1"/>
            <a:r>
              <a:rPr lang="en-US" dirty="0" smtClean="0"/>
              <a:t>Installation testing</a:t>
            </a:r>
          </a:p>
        </p:txBody>
      </p:sp>
    </p:spTree>
    <p:extLst>
      <p:ext uri="{BB962C8B-B14F-4D97-AF65-F5344CB8AC3E}">
        <p14:creationId xmlns:p14="http://schemas.microsoft.com/office/powerpoint/2010/main" val="3207543090"/>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fontScale="90000"/>
          </a:bodyPr>
          <a:lstStyle/>
          <a:p>
            <a:pPr eaLnBrk="1" hangingPunct="1"/>
            <a:r>
              <a:rPr lang="en-US" dirty="0" smtClean="0"/>
              <a:t>Levels of Testing</a:t>
            </a:r>
            <a:br>
              <a:rPr lang="en-US" dirty="0" smtClean="0"/>
            </a:br>
            <a:r>
              <a:rPr lang="en-US" sz="2800" dirty="0" smtClean="0"/>
              <a:t>Testing Organization Illustrated</a:t>
            </a:r>
          </a:p>
        </p:txBody>
      </p:sp>
      <p:pic>
        <p:nvPicPr>
          <p:cNvPr id="12292" name="Picture 4" descr="Slide3"/>
          <p:cNvPicPr>
            <a:picLocks noChangeAspect="1" noChangeArrowheads="1"/>
          </p:cNvPicPr>
          <p:nvPr/>
        </p:nvPicPr>
        <p:blipFill>
          <a:blip r:embed="rId3" cstate="print"/>
          <a:srcRect/>
          <a:stretch>
            <a:fillRect/>
          </a:stretch>
        </p:blipFill>
        <p:spPr bwMode="auto">
          <a:xfrm>
            <a:off x="1066800" y="1905000"/>
            <a:ext cx="7315200" cy="4787900"/>
          </a:xfrm>
          <a:prstGeom prst="rect">
            <a:avLst/>
          </a:prstGeom>
          <a:noFill/>
          <a:ln w="9525">
            <a:noFill/>
            <a:miter lim="800000"/>
            <a:headEnd/>
            <a:tailEnd/>
          </a:ln>
        </p:spPr>
      </p:pic>
    </p:spTree>
    <p:extLst>
      <p:ext uri="{BB962C8B-B14F-4D97-AF65-F5344CB8AC3E}">
        <p14:creationId xmlns:p14="http://schemas.microsoft.com/office/powerpoint/2010/main" val="4293510820"/>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smtClean="0"/>
              <a:t>Software Testing Tools</a:t>
            </a:r>
          </a:p>
        </p:txBody>
      </p:sp>
      <p:sp>
        <p:nvSpPr>
          <p:cNvPr id="3" name="Content Placeholder 2"/>
          <p:cNvSpPr>
            <a:spLocks noGrp="1"/>
          </p:cNvSpPr>
          <p:nvPr>
            <p:ph idx="1"/>
          </p:nvPr>
        </p:nvSpPr>
        <p:spPr/>
        <p:txBody>
          <a:bodyPr>
            <a:normAutofit/>
          </a:bodyPr>
          <a:lstStyle/>
          <a:p>
            <a:pPr>
              <a:defRPr/>
            </a:pPr>
            <a:r>
              <a:rPr lang="en-US" dirty="0" smtClean="0"/>
              <a:t>Automated Testing Tools</a:t>
            </a:r>
          </a:p>
          <a:p>
            <a:pPr lvl="1">
              <a:defRPr/>
            </a:pPr>
            <a:r>
              <a:rPr lang="en-US" dirty="0" smtClean="0"/>
              <a:t>Selenium</a:t>
            </a:r>
            <a:r>
              <a:rPr lang="en-US" smtClean="0"/>
              <a:t>, QTP, SilkTest, WinRunner</a:t>
            </a:r>
            <a:r>
              <a:rPr lang="en-US" dirty="0" smtClean="0"/>
              <a:t>, </a:t>
            </a:r>
            <a:r>
              <a:rPr lang="en-US" dirty="0" err="1" smtClean="0"/>
              <a:t>LoadRunner</a:t>
            </a:r>
            <a:r>
              <a:rPr lang="en-US" dirty="0" smtClean="0"/>
              <a:t>, </a:t>
            </a:r>
            <a:r>
              <a:rPr lang="en-US" dirty="0" err="1"/>
              <a:t>Jmeter</a:t>
            </a:r>
            <a:endParaRPr lang="en-US" dirty="0" smtClean="0"/>
          </a:p>
          <a:p>
            <a:pPr>
              <a:defRPr/>
            </a:pPr>
            <a:r>
              <a:rPr lang="en-US" dirty="0" smtClean="0"/>
              <a:t>Testing Management Tools</a:t>
            </a:r>
          </a:p>
          <a:p>
            <a:pPr lvl="1">
              <a:defRPr/>
            </a:pPr>
            <a:r>
              <a:rPr lang="en-US" dirty="0" err="1"/>
              <a:t>TestManager</a:t>
            </a:r>
            <a:r>
              <a:rPr lang="en-US" dirty="0" smtClean="0"/>
              <a:t>, </a:t>
            </a:r>
            <a:r>
              <a:rPr lang="en-US" dirty="0" err="1"/>
              <a:t>TestDirector</a:t>
            </a:r>
            <a:r>
              <a:rPr lang="en-US" dirty="0" smtClean="0"/>
              <a:t> </a:t>
            </a:r>
          </a:p>
          <a:p>
            <a:pPr>
              <a:defRPr/>
            </a:pPr>
            <a:r>
              <a:rPr lang="en-US" dirty="0" smtClean="0"/>
              <a:t>Bug Tracking/Configuration Management Tools</a:t>
            </a:r>
          </a:p>
          <a:p>
            <a:pPr lvl="1">
              <a:defRPr/>
            </a:pPr>
            <a:r>
              <a:rPr lang="en-US" dirty="0" err="1" smtClean="0"/>
              <a:t>Bugzilla</a:t>
            </a:r>
            <a:r>
              <a:rPr lang="en-US" dirty="0" smtClean="0"/>
              <a:t>, Jitterbug, </a:t>
            </a:r>
            <a:r>
              <a:rPr lang="en-US"/>
              <a:t>SilkRadar</a:t>
            </a:r>
            <a:endParaRPr lang="en-US" dirty="0" smtClean="0"/>
          </a:p>
        </p:txBody>
      </p:sp>
    </p:spTree>
    <p:extLst>
      <p:ext uri="{BB962C8B-B14F-4D97-AF65-F5344CB8AC3E}">
        <p14:creationId xmlns:p14="http://schemas.microsoft.com/office/powerpoint/2010/main" val="16087105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381000" y="457200"/>
            <a:ext cx="7772400" cy="1143000"/>
          </a:xfrm>
        </p:spPr>
        <p:txBody>
          <a:bodyPr lIns="92075" tIns="46038" rIns="92075" bIns="46038">
            <a:normAutofit/>
          </a:bodyPr>
          <a:lstStyle/>
          <a:p>
            <a:pPr eaLnBrk="1" hangingPunct="1"/>
            <a:r>
              <a:rPr lang="en-US" dirty="0" smtClean="0"/>
              <a:t>When to Stop Testing</a:t>
            </a:r>
          </a:p>
        </p:txBody>
      </p:sp>
      <p:sp>
        <p:nvSpPr>
          <p:cNvPr id="43011" name="Rectangle 3"/>
          <p:cNvSpPr>
            <a:spLocks noGrp="1" noChangeArrowheads="1"/>
          </p:cNvSpPr>
          <p:nvPr>
            <p:ph idx="1"/>
          </p:nvPr>
        </p:nvSpPr>
        <p:spPr>
          <a:xfrm>
            <a:off x="304800" y="1524000"/>
            <a:ext cx="7772400" cy="4648200"/>
          </a:xfrm>
        </p:spPr>
        <p:txBody>
          <a:bodyPr lIns="92075" tIns="46038" rIns="92075" bIns="46038"/>
          <a:lstStyle/>
          <a:p>
            <a:pPr eaLnBrk="1" hangingPunct="1"/>
            <a:r>
              <a:rPr lang="en-US" sz="3200" dirty="0" smtClean="0"/>
              <a:t>No time left</a:t>
            </a:r>
          </a:p>
          <a:p>
            <a:pPr eaLnBrk="1" hangingPunct="1"/>
            <a:r>
              <a:rPr lang="en-US" sz="3200" dirty="0" smtClean="0"/>
              <a:t>No money left</a:t>
            </a:r>
          </a:p>
          <a:p>
            <a:pPr eaLnBrk="1" hangingPunct="1"/>
            <a:r>
              <a:rPr lang="en-US" sz="3200" dirty="0" smtClean="0"/>
              <a:t>Statistical Criteria</a:t>
            </a:r>
          </a:p>
          <a:p>
            <a:pPr lvl="1" eaLnBrk="1" hangingPunct="1"/>
            <a:r>
              <a:rPr lang="en-US" dirty="0" smtClean="0"/>
              <a:t>Number of defects found per week becomes lower than a set threshold</a:t>
            </a:r>
          </a:p>
          <a:p>
            <a:pPr eaLnBrk="1" hangingPunct="1"/>
            <a:endParaRPr lang="en-US" sz="3200" dirty="0" smtClean="0"/>
          </a:p>
          <a:p>
            <a:pPr eaLnBrk="1" hangingPunct="1"/>
            <a:endParaRPr lang="en-US" sz="3200" dirty="0" smtClean="0"/>
          </a:p>
          <a:p>
            <a:pPr eaLnBrk="1" hangingPunct="1"/>
            <a:endParaRPr lang="en-US" sz="3200" dirty="0" smtClean="0"/>
          </a:p>
          <a:p>
            <a:pPr eaLnBrk="1" hangingPunct="1"/>
            <a:endParaRPr lang="en-US" sz="3200" dirty="0" smtClean="0"/>
          </a:p>
          <a:p>
            <a:pPr eaLnBrk="1" hangingPunct="1"/>
            <a:endParaRPr lang="en-US" sz="3200" dirty="0" smtClean="0"/>
          </a:p>
          <a:p>
            <a:pPr lvl="2" eaLnBrk="1" hangingPunct="1">
              <a:buFont typeface="Lucida Sans Unicode" pitchFamily="34" charset="0"/>
              <a:buNone/>
            </a:pPr>
            <a:endParaRPr lang="en-US" sz="2600" dirty="0" smtClean="0"/>
          </a:p>
        </p:txBody>
      </p:sp>
    </p:spTree>
    <p:extLst>
      <p:ext uri="{BB962C8B-B14F-4D97-AF65-F5344CB8AC3E}">
        <p14:creationId xmlns:p14="http://schemas.microsoft.com/office/powerpoint/2010/main" val="3691089274"/>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UCF Slides</a:t>
            </a:r>
          </a:p>
          <a:p>
            <a:r>
              <a:rPr lang="en-US" dirty="0" smtClean="0"/>
              <a:t>Software Testing, A Craftsman’s Approach by Jorgensen</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26189</TotalTime>
  <Words>818</Words>
  <Application>Microsoft Office PowerPoint</Application>
  <PresentationFormat>On-screen Show (4:3)</PresentationFormat>
  <Paragraphs>200</Paragraphs>
  <Slides>22</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Arial MT</vt:lpstr>
      <vt:lpstr>Calibri</vt:lpstr>
      <vt:lpstr>Constantia</vt:lpstr>
      <vt:lpstr>Lucida Sans Unicode</vt:lpstr>
      <vt:lpstr>Times New Roman</vt:lpstr>
      <vt:lpstr>Wingdings 2</vt:lpstr>
      <vt:lpstr>Flow</vt:lpstr>
      <vt:lpstr>Software Testing </vt:lpstr>
      <vt:lpstr>Software Faults and Failures Why Does Software Fail?</vt:lpstr>
      <vt:lpstr>Software Faults and Failures Why Does Software Fail?</vt:lpstr>
      <vt:lpstr>Objective of Testing</vt:lpstr>
      <vt:lpstr>Elements of a Test Case</vt:lpstr>
      <vt:lpstr>Types of Faults</vt:lpstr>
      <vt:lpstr>Software Faults and Failures Typical Algorithmic Faults</vt:lpstr>
      <vt:lpstr>Different Level of Failure Severity</vt:lpstr>
      <vt:lpstr>Testing Issues Who Performs the Test?</vt:lpstr>
      <vt:lpstr>Testing Issues Views of the Test Objects</vt:lpstr>
      <vt:lpstr>Test Cases for Triangle Problem </vt:lpstr>
      <vt:lpstr>Whitebox Testing Control Flow Graph</vt:lpstr>
      <vt:lpstr>Boundary Value Analysis</vt:lpstr>
      <vt:lpstr>Example</vt:lpstr>
      <vt:lpstr>Example</vt:lpstr>
      <vt:lpstr>Equivalence and Boundary Value</vt:lpstr>
      <vt:lpstr>Equivalence and Boundary Value</vt:lpstr>
      <vt:lpstr> Levels of Testing</vt:lpstr>
      <vt:lpstr>Levels of Testing Testing Organization Illustrated</vt:lpstr>
      <vt:lpstr>Software Testing Tools</vt:lpstr>
      <vt:lpstr>When to Stop Testing</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HS</dc:creator>
  <cp:lastModifiedBy>Ansa Liaqat</cp:lastModifiedBy>
  <cp:revision>156</cp:revision>
  <dcterms:modified xsi:type="dcterms:W3CDTF">2026-04-16T13:15:05Z</dcterms:modified>
</cp:coreProperties>
</file>