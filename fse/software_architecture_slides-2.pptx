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6" r:id="rId9"/>
    <p:sldId id="277" r:id="rId10"/>
    <p:sldId id="278" r:id="rId11"/>
    <p:sldId id="263" r:id="rId12"/>
    <p:sldId id="264" r:id="rId13"/>
    <p:sldId id="265" r:id="rId14"/>
    <p:sldId id="279" r:id="rId15"/>
    <p:sldId id="280" r:id="rId16"/>
    <p:sldId id="266" r:id="rId17"/>
    <p:sldId id="267" r:id="rId18"/>
    <p:sldId id="268" r:id="rId19"/>
    <p:sldId id="281" r:id="rId20"/>
    <p:sldId id="282" r:id="rId21"/>
    <p:sldId id="269" r:id="rId22"/>
    <p:sldId id="270" r:id="rId23"/>
    <p:sldId id="271" r:id="rId24"/>
    <p:sldId id="283" r:id="rId25"/>
    <p:sldId id="284" r:id="rId26"/>
    <p:sldId id="272" r:id="rId27"/>
    <p:sldId id="273" r:id="rId28"/>
    <p:sldId id="274" r:id="rId29"/>
    <p:sldId id="275"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8406"/>
            <a:ext cx="8229600" cy="1143000"/>
          </a:xfrm>
        </p:spPr>
        <p:txBody>
          <a:bodyPr/>
          <a:lstStyle/>
          <a:p>
            <a:r>
              <a:t>Software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Software Architecture?</a:t>
            </a:r>
          </a:p>
        </p:txBody>
      </p:sp>
      <p:sp>
        <p:nvSpPr>
          <p:cNvPr id="3" name="Content Placeholder 2"/>
          <p:cNvSpPr>
            <a:spLocks noGrp="1"/>
          </p:cNvSpPr>
          <p:nvPr>
            <p:ph idx="1"/>
          </p:nvPr>
        </p:nvSpPr>
        <p:spPr/>
        <p:txBody>
          <a:bodyPr/>
          <a:lstStyle/>
          <a:p>
            <a:r>
              <a:rPr dirty="0"/>
              <a:t>High-level structure of a system</a:t>
            </a:r>
          </a:p>
          <a:p>
            <a:r>
              <a:rPr dirty="0"/>
              <a:t>Components and their interactions</a:t>
            </a:r>
          </a:p>
          <a:p>
            <a:r>
              <a:rPr dirty="0"/>
              <a:t>Blueprint of software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Analogy</a:t>
            </a:r>
          </a:p>
        </p:txBody>
      </p:sp>
      <p:sp>
        <p:nvSpPr>
          <p:cNvPr id="3" name="Content Placeholder 2"/>
          <p:cNvSpPr>
            <a:spLocks noGrp="1"/>
          </p:cNvSpPr>
          <p:nvPr>
            <p:ph idx="1"/>
          </p:nvPr>
        </p:nvSpPr>
        <p:spPr/>
        <p:txBody>
          <a:bodyPr/>
          <a:lstStyle/>
          <a:p>
            <a:r>
              <a:t>Like a house blueprint</a:t>
            </a:r>
          </a:p>
          <a:p>
            <a:r>
              <a:t>Rooms = components</a:t>
            </a:r>
          </a:p>
          <a:p>
            <a:r>
              <a:t>Doors = communication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Architecture Matters</a:t>
            </a:r>
          </a:p>
        </p:txBody>
      </p:sp>
      <p:sp>
        <p:nvSpPr>
          <p:cNvPr id="3" name="Content Placeholder 2"/>
          <p:cNvSpPr>
            <a:spLocks noGrp="1"/>
          </p:cNvSpPr>
          <p:nvPr>
            <p:ph idx="1"/>
          </p:nvPr>
        </p:nvSpPr>
        <p:spPr/>
        <p:txBody>
          <a:bodyPr/>
          <a:lstStyle/>
          <a:p>
            <a:r>
              <a:t>Manages complexity</a:t>
            </a:r>
          </a:p>
          <a:p>
            <a:r>
              <a:t>Improves scalability</a:t>
            </a:r>
          </a:p>
          <a:p>
            <a:r>
              <a:t>Enhances maintainability</a:t>
            </a:r>
          </a:p>
          <a:p>
            <a:r>
              <a:t>Supports teamwork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Concepts</a:t>
            </a:r>
          </a:p>
        </p:txBody>
      </p:sp>
      <p:sp>
        <p:nvSpPr>
          <p:cNvPr id="3" name="Content Placeholder 2"/>
          <p:cNvSpPr>
            <a:spLocks noGrp="1"/>
          </p:cNvSpPr>
          <p:nvPr>
            <p:ph idx="1"/>
          </p:nvPr>
        </p:nvSpPr>
        <p:spPr/>
        <p:txBody>
          <a:bodyPr/>
          <a:lstStyle/>
          <a:p>
            <a:r>
              <a:t>Components</a:t>
            </a:r>
          </a:p>
          <a:p>
            <a:r>
              <a:t>Connectors</a:t>
            </a:r>
          </a:p>
          <a:p>
            <a:r>
              <a:t>Data 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Layered Architecture</a:t>
            </a:r>
          </a:p>
        </p:txBody>
      </p:sp>
      <p:sp>
        <p:nvSpPr>
          <p:cNvPr id="3" name="Content Placeholder 2"/>
          <p:cNvSpPr>
            <a:spLocks noGrp="1"/>
          </p:cNvSpPr>
          <p:nvPr>
            <p:ph idx="1"/>
          </p:nvPr>
        </p:nvSpPr>
        <p:spPr/>
        <p:txBody>
          <a:bodyPr/>
          <a:lstStyle/>
          <a:p>
            <a:r>
              <a:t>System divided into layers</a:t>
            </a:r>
          </a:p>
          <a:p>
            <a:r>
              <a:t>Each layer has a specific role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Layered Architecture Example</a:t>
            </a:r>
          </a:p>
        </p:txBody>
      </p:sp>
      <p:sp>
        <p:nvSpPr>
          <p:cNvPr id="3" name="Content Placeholder 2"/>
          <p:cNvSpPr>
            <a:spLocks noGrp="1"/>
          </p:cNvSpPr>
          <p:nvPr>
            <p:ph idx="1"/>
          </p:nvPr>
        </p:nvSpPr>
        <p:spPr/>
        <p:txBody>
          <a:bodyPr/>
          <a:lstStyle/>
          <a:p>
            <a:r>
              <a:t>UI → Business Logic → Data Access → Database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Layered architecture pattern</a:t>
            </a:r>
            <a:r>
              <a:rPr lang="en-GB" dirty="0" smtClean="0"/>
              <a:t> </a:t>
            </a:r>
            <a:endParaRPr lang="en-US" dirty="0"/>
          </a:p>
        </p:txBody>
      </p:sp>
      <p:graphicFrame>
        <p:nvGraphicFramePr>
          <p:cNvPr id="4" name="Content Placeholder 3"/>
          <p:cNvGraphicFramePr>
            <a:graphicFrameLocks noGrp="1"/>
          </p:cNvGraphicFramePr>
          <p:nvPr>
            <p:ph idx="1"/>
          </p:nvPr>
        </p:nvGraphicFramePr>
        <p:xfrm>
          <a:off x="1024689" y="1621197"/>
          <a:ext cx="7190386" cy="4638040"/>
        </p:xfrm>
        <a:graphic>
          <a:graphicData uri="http://schemas.openxmlformats.org/drawingml/2006/table">
            <a:tbl>
              <a:tblPr firstRow="1" bandRow="1">
                <a:tableStyleId>{5C22544A-7EE6-4342-B048-85BDC9FD1C3A}</a:tableStyleId>
              </a:tblPr>
              <a:tblGrid>
                <a:gridCol w="1961618"/>
                <a:gridCol w="5228768"/>
              </a:tblGrid>
              <a:tr h="370840">
                <a:tc>
                  <a:txBody>
                    <a:bodyPr/>
                    <a:lstStyle/>
                    <a:p>
                      <a:pPr algn="just">
                        <a:spcAft>
                          <a:spcPts val="0"/>
                        </a:spcAft>
                        <a:tabLst>
                          <a:tab pos="342900" algn="l"/>
                          <a:tab pos="685800" algn="l"/>
                          <a:tab pos="1028700" algn="l"/>
                        </a:tabLst>
                      </a:pPr>
                      <a:r>
                        <a:rPr lang="en-GB" sz="1400" b="1" dirty="0" smtClean="0">
                          <a:solidFill>
                            <a:srgbClr val="000000"/>
                          </a:solidFill>
                          <a:latin typeface="Helvetica"/>
                          <a:ea typeface="Times New Roman"/>
                          <a:cs typeface="Helvetica"/>
                        </a:rPr>
                        <a:t>Name</a:t>
                      </a:r>
                      <a:endParaRPr lang="en-GB" sz="1400" b="1"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Layered </a:t>
                      </a:r>
                      <a:r>
                        <a:rPr lang="en-GB" sz="1400" b="1" dirty="0" smtClean="0">
                          <a:solidFill>
                            <a:srgbClr val="000000"/>
                          </a:solidFill>
                          <a:latin typeface="Helvetica"/>
                          <a:ea typeface="Times New Roman"/>
                          <a:cs typeface="Helvetica"/>
                        </a:rPr>
                        <a:t>architecture</a:t>
                      </a:r>
                      <a:endParaRPr lang="en-GB" sz="1400" b="1" dirty="0">
                        <a:solidFill>
                          <a:srgbClr val="000000"/>
                        </a:solidFill>
                        <a:latin typeface="Helvetica"/>
                        <a:ea typeface="Times New Roman"/>
                        <a:cs typeface="Helvetica"/>
                      </a:endParaRPr>
                    </a:p>
                  </a:txBody>
                  <a:tcPr marL="68580" marR="68580" marT="0" marB="0"/>
                </a:tc>
              </a:tr>
              <a:tr h="370840">
                <a:tc>
                  <a:txBody>
                    <a:bodyPr/>
                    <a:lstStyle/>
                    <a:p>
                      <a:pPr algn="just">
                        <a:spcAft>
                          <a:spcPts val="0"/>
                        </a:spcAft>
                        <a:tabLst>
                          <a:tab pos="342900" algn="l"/>
                          <a:tab pos="685800" algn="l"/>
                          <a:tab pos="1028700" algn="l"/>
                        </a:tabLst>
                      </a:pPr>
                      <a:r>
                        <a:rPr lang="en-GB" sz="1400" b="1" dirty="0" smtClean="0">
                          <a:solidFill>
                            <a:srgbClr val="000000"/>
                          </a:solidFill>
                          <a:latin typeface="Helvetica"/>
                          <a:ea typeface="Times New Roman"/>
                          <a:cs typeface="Helvetica"/>
                        </a:rPr>
                        <a:t>Description</a:t>
                      </a:r>
                      <a:endParaRPr lang="en-GB" sz="1400" b="1"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 See Figure 6.6.</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layered model of a system for sharing copyright documents held in different libraries, as shown in Figure 6.7.</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multi-level security.</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replacement of entire layers so long as the interface is maintained. Redundant facilities (e.g., authentication) can be provided in each layer to increase the dependability of the system.</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4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Performance can be a problem because of multiple levels of interpretation of a service request as it is processed at each layer</a:t>
                      </a:r>
                      <a:r>
                        <a:rPr lang="en-GB" sz="1400" dirty="0" smtClean="0">
                          <a:solidFill>
                            <a:srgbClr val="000000"/>
                          </a:solidFill>
                          <a:latin typeface="Helvetica"/>
                          <a:ea typeface="Times New Roman"/>
                          <a:cs typeface="Helvetica"/>
                        </a:rPr>
                        <a:t>.</a:t>
                      </a:r>
                      <a:endParaRPr lang="en-GB" sz="1400" dirty="0">
                        <a:solidFill>
                          <a:srgbClr val="000000"/>
                        </a:solidFill>
                        <a:latin typeface="Helvetica"/>
                        <a:ea typeface="Times New Roman"/>
                        <a:cs typeface="Helvetica"/>
                      </a:endParaRPr>
                    </a:p>
                  </a:txBody>
                  <a:tcPr marL="68580" marR="68580" marT="0" marB="0"/>
                </a:tc>
              </a:tr>
            </a:tbl>
          </a:graphicData>
        </a:graphic>
      </p:graphicFrame>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8</a:t>
            </a:fld>
            <a:endParaRPr lang="en-US"/>
          </a:p>
        </p:txBody>
      </p:sp>
      <p:sp>
        <p:nvSpPr>
          <p:cNvPr id="3" name="Date Placeholder 2"/>
          <p:cNvSpPr>
            <a:spLocks noGrp="1"/>
          </p:cNvSpPr>
          <p:nvPr>
            <p:ph type="dt" sz="half" idx="10"/>
          </p:nvPr>
        </p:nvSpPr>
        <p:spPr/>
        <p:txBody>
          <a:bodyPr/>
          <a:lstStyle/>
          <a:p>
            <a:fld id="{7579E7B3-2680-844A-ABFE-0A9126E84481}" type="datetime1">
              <a:rPr lang="en-GB" smtClean="0"/>
              <a:t>13/04/2026</a:t>
            </a:fld>
            <a:endParaRPr lang="en-US"/>
          </a:p>
        </p:txBody>
      </p:sp>
    </p:spTree>
    <p:extLst>
      <p:ext uri="{BB962C8B-B14F-4D97-AF65-F5344CB8AC3E}">
        <p14:creationId xmlns:p14="http://schemas.microsoft.com/office/powerpoint/2010/main" val="12227351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generic layered architecture</a:t>
            </a:r>
            <a:r>
              <a:rPr lang="en-GB" dirty="0" smtClean="0"/>
              <a:t> </a:t>
            </a:r>
            <a:endParaRPr lang="en-US" dirty="0"/>
          </a:p>
        </p:txBody>
      </p:sp>
      <p:pic>
        <p:nvPicPr>
          <p:cNvPr id="4" name="Content Placeholder 3" descr="6.6 LayeredArch.eps"/>
          <p:cNvPicPr>
            <a:picLocks noGrp="1" noChangeAspect="1"/>
          </p:cNvPicPr>
          <p:nvPr>
            <p:ph idx="1"/>
          </p:nvPr>
        </p:nvPicPr>
        <p:blipFill>
          <a:blip r:embed="rId2"/>
          <a:srcRect l="-16082" r="-16082"/>
          <a:stretch>
            <a:fillRect/>
          </a:stretch>
        </p:blipFill>
        <p:spPr>
          <a:xfrm>
            <a:off x="740945" y="1600200"/>
            <a:ext cx="7271456" cy="3999021"/>
          </a:xfrm>
        </p:spPr>
      </p:pic>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9</a:t>
            </a:fld>
            <a:endParaRPr lang="en-US"/>
          </a:p>
        </p:txBody>
      </p:sp>
      <p:sp>
        <p:nvSpPr>
          <p:cNvPr id="3" name="Date Placeholder 2"/>
          <p:cNvSpPr>
            <a:spLocks noGrp="1"/>
          </p:cNvSpPr>
          <p:nvPr>
            <p:ph type="dt" sz="half" idx="10"/>
          </p:nvPr>
        </p:nvSpPr>
        <p:spPr/>
        <p:txBody>
          <a:bodyPr/>
          <a:lstStyle/>
          <a:p>
            <a:fld id="{F199DED5-5D11-144B-BCA9-DD1AE6B9EA54}" type="datetime1">
              <a:rPr lang="en-GB" smtClean="0"/>
              <a:t>13/04/2026</a:t>
            </a:fld>
            <a:endParaRPr lang="en-US"/>
          </a:p>
        </p:txBody>
      </p:sp>
    </p:spTree>
    <p:extLst>
      <p:ext uri="{BB962C8B-B14F-4D97-AF65-F5344CB8AC3E}">
        <p14:creationId xmlns:p14="http://schemas.microsoft.com/office/powerpoint/2010/main" val="6612153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architecture of the iLearn system</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10</a:t>
            </a:fld>
            <a:endParaRPr lang="en-US"/>
          </a:p>
        </p:txBody>
      </p:sp>
      <p:pic>
        <p:nvPicPr>
          <p:cNvPr id="7" name="Picture 6" descr="6.9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036" y="1585960"/>
            <a:ext cx="5781175" cy="4810291"/>
          </a:xfrm>
          <a:prstGeom prst="rect">
            <a:avLst/>
          </a:prstGeom>
        </p:spPr>
      </p:pic>
      <p:sp>
        <p:nvSpPr>
          <p:cNvPr id="3" name="Date Placeholder 2"/>
          <p:cNvSpPr>
            <a:spLocks noGrp="1"/>
          </p:cNvSpPr>
          <p:nvPr>
            <p:ph type="dt" sz="half" idx="10"/>
          </p:nvPr>
        </p:nvSpPr>
        <p:spPr/>
        <p:txBody>
          <a:bodyPr/>
          <a:lstStyle/>
          <a:p>
            <a:fld id="{B18BBAB0-88FA-894B-BC18-3819C4D50B1C}" type="datetime1">
              <a:rPr lang="en-GB" smtClean="0"/>
              <a:t>13/04/2026</a:t>
            </a:fld>
            <a:endParaRPr lang="en-US"/>
          </a:p>
        </p:txBody>
      </p:sp>
    </p:spTree>
    <p:extLst>
      <p:ext uri="{BB962C8B-B14F-4D97-AF65-F5344CB8AC3E}">
        <p14:creationId xmlns:p14="http://schemas.microsoft.com/office/powerpoint/2010/main" val="5581227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Layered Advantages</a:t>
            </a:r>
          </a:p>
        </p:txBody>
      </p:sp>
      <p:sp>
        <p:nvSpPr>
          <p:cNvPr id="3" name="Content Placeholder 2"/>
          <p:cNvSpPr>
            <a:spLocks noGrp="1"/>
          </p:cNvSpPr>
          <p:nvPr>
            <p:ph idx="1"/>
          </p:nvPr>
        </p:nvSpPr>
        <p:spPr/>
        <p:txBody>
          <a:bodyPr/>
          <a:lstStyle/>
          <a:p>
            <a:r>
              <a:t>Easy to understand</a:t>
            </a:r>
          </a:p>
          <a:p>
            <a:r>
              <a:t>Maintainable</a:t>
            </a:r>
          </a:p>
          <a:p>
            <a:r>
              <a:t>Reusable layers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Layered Disadvantages</a:t>
            </a:r>
          </a:p>
        </p:txBody>
      </p:sp>
      <p:sp>
        <p:nvSpPr>
          <p:cNvPr id="3" name="Content Placeholder 2"/>
          <p:cNvSpPr>
            <a:spLocks noGrp="1"/>
          </p:cNvSpPr>
          <p:nvPr>
            <p:ph idx="1"/>
          </p:nvPr>
        </p:nvSpPr>
        <p:spPr/>
        <p:txBody>
          <a:bodyPr/>
          <a:lstStyle/>
          <a:p>
            <a:r>
              <a:t>Performance overhead</a:t>
            </a:r>
          </a:p>
          <a:p>
            <a:r>
              <a:t>Changes affect multiple layers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Repository Architecture</a:t>
            </a:r>
          </a:p>
        </p:txBody>
      </p:sp>
      <p:sp>
        <p:nvSpPr>
          <p:cNvPr id="3" name="Content Placeholder 2"/>
          <p:cNvSpPr>
            <a:spLocks noGrp="1"/>
          </p:cNvSpPr>
          <p:nvPr>
            <p:ph idx="1"/>
          </p:nvPr>
        </p:nvSpPr>
        <p:spPr/>
        <p:txBody>
          <a:bodyPr/>
          <a:lstStyle/>
          <a:p>
            <a:r>
              <a:t>Central data storage</a:t>
            </a:r>
          </a:p>
          <a:p>
            <a:r>
              <a:t>All components access shared repository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Repository pattern</a:t>
            </a:r>
            <a:r>
              <a:rPr lang="en-GB" dirty="0" smtClean="0"/>
              <a:t> </a:t>
            </a:r>
            <a:endParaRPr lang="en-US" dirty="0"/>
          </a:p>
        </p:txBody>
      </p:sp>
      <p:graphicFrame>
        <p:nvGraphicFramePr>
          <p:cNvPr id="4" name="Content Placeholder 3"/>
          <p:cNvGraphicFramePr>
            <a:graphicFrameLocks noGrp="1"/>
          </p:cNvGraphicFramePr>
          <p:nvPr>
            <p:ph idx="1"/>
          </p:nvPr>
        </p:nvGraphicFramePr>
        <p:xfrm>
          <a:off x="1213851" y="1417638"/>
          <a:ext cx="6595874" cy="5064760"/>
        </p:xfrm>
        <a:graphic>
          <a:graphicData uri="http://schemas.openxmlformats.org/drawingml/2006/table">
            <a:tbl>
              <a:tblPr firstRow="1" bandRow="1">
                <a:tableStyleId>{5C22544A-7EE6-4342-B048-85BDC9FD1C3A}</a:tableStyleId>
              </a:tblPr>
              <a:tblGrid>
                <a:gridCol w="1550354"/>
                <a:gridCol w="5045520"/>
              </a:tblGrid>
              <a:tr h="370840">
                <a:tc>
                  <a:txBody>
                    <a:bodyPr/>
                    <a:lstStyle/>
                    <a:p>
                      <a:pPr algn="just">
                        <a:spcAft>
                          <a:spcPts val="0"/>
                        </a:spcAft>
                        <a:tabLst>
                          <a:tab pos="342900" algn="l"/>
                          <a:tab pos="685800" algn="l"/>
                          <a:tab pos="1028700" algn="l"/>
                        </a:tabLst>
                      </a:pPr>
                      <a:r>
                        <a:rPr lang="en-GB" sz="1400" b="1" dirty="0" smtClean="0">
                          <a:solidFill>
                            <a:srgbClr val="000000"/>
                          </a:solidFill>
                          <a:latin typeface="Helvetica"/>
                          <a:ea typeface="Times New Roman"/>
                          <a:cs typeface="Helvetica"/>
                        </a:rPr>
                        <a:t>Name</a:t>
                      </a:r>
                      <a:endParaRPr lang="en-GB" sz="1400" b="1"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a:t>
                      </a:r>
                      <a:r>
                        <a:rPr lang="en-GB" sz="1400" b="1" dirty="0" smtClean="0">
                          <a:solidFill>
                            <a:srgbClr val="000000"/>
                          </a:solidFill>
                          <a:latin typeface="Helvetica"/>
                          <a:ea typeface="Times New Roman"/>
                          <a:cs typeface="Helvetica"/>
                        </a:rPr>
                        <a:t> </a:t>
                      </a:r>
                      <a:endParaRPr lang="en-GB" sz="1400" b="1" dirty="0">
                        <a:solidFill>
                          <a:srgbClr val="000000"/>
                        </a:solidFill>
                        <a:latin typeface="Helvetica"/>
                        <a:ea typeface="Times New Roman"/>
                        <a:cs typeface="Helvetica"/>
                      </a:endParaRPr>
                    </a:p>
                  </a:txBody>
                  <a:tcPr marL="68580" marR="68580" marT="0" marB="0"/>
                </a:tc>
              </a:tr>
              <a:tr h="370840">
                <a:tc>
                  <a:txBody>
                    <a:bodyPr/>
                    <a:lstStyle/>
                    <a:p>
                      <a:pPr algn="just">
                        <a:spcAft>
                          <a:spcPts val="0"/>
                        </a:spcAft>
                        <a:tabLst>
                          <a:tab pos="342900" algn="l"/>
                          <a:tab pos="685800" algn="l"/>
                          <a:tab pos="1028700" algn="l"/>
                        </a:tabLst>
                      </a:pPr>
                      <a:r>
                        <a:rPr lang="en-GB" sz="1400" b="1" dirty="0" smtClean="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6.9 is an example of an IDE where the components use a repository of system design information. Each software tool generates information which is then available for use by other tools.</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You should use this pattern when you have a system in which large volumes of information are generated that has to be stored for a long time. You may also use it in data-driven systems where the inclusion of data in the repository triggers an action or tool.</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Components can be independent—they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repository is a single point of failure so problems in the repository affect the whole system. May be inefficiencies in organizing all communication through the repository. Distributing the repository across several computers may be difficult</a:t>
                      </a:r>
                      <a:r>
                        <a:rPr lang="en-GB" sz="1400" dirty="0" smtClean="0">
                          <a:solidFill>
                            <a:srgbClr val="000000"/>
                          </a:solidFill>
                          <a:latin typeface="Helvetica"/>
                          <a:ea typeface="Times New Roman"/>
                          <a:cs typeface="Helvetica"/>
                        </a:rPr>
                        <a:t>.</a:t>
                      </a:r>
                      <a:endParaRPr lang="en-GB" sz="1400" dirty="0">
                        <a:solidFill>
                          <a:srgbClr val="000000"/>
                        </a:solidFill>
                        <a:latin typeface="Helvetica"/>
                        <a:ea typeface="Times New Roman"/>
                        <a:cs typeface="Helvetica"/>
                      </a:endParaRPr>
                    </a:p>
                  </a:txBody>
                  <a:tcPr marL="68580" marR="68580" marT="0" marB="0"/>
                </a:tc>
              </a:tr>
            </a:tbl>
          </a:graphicData>
        </a:graphic>
      </p:graphicFrame>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14</a:t>
            </a:fld>
            <a:endParaRPr lang="en-US"/>
          </a:p>
        </p:txBody>
      </p:sp>
      <p:sp>
        <p:nvSpPr>
          <p:cNvPr id="3" name="Date Placeholder 2"/>
          <p:cNvSpPr>
            <a:spLocks noGrp="1"/>
          </p:cNvSpPr>
          <p:nvPr>
            <p:ph type="dt" sz="half" idx="10"/>
          </p:nvPr>
        </p:nvSpPr>
        <p:spPr/>
        <p:txBody>
          <a:bodyPr/>
          <a:lstStyle/>
          <a:p>
            <a:fld id="{2F0DA552-248F-164B-9C52-F8071E93B4E4}" type="datetime1">
              <a:rPr lang="en-GB" smtClean="0"/>
              <a:t>13/04/2026</a:t>
            </a:fld>
            <a:endParaRPr lang="en-US"/>
          </a:p>
        </p:txBody>
      </p:sp>
    </p:spTree>
    <p:extLst>
      <p:ext uri="{BB962C8B-B14F-4D97-AF65-F5344CB8AC3E}">
        <p14:creationId xmlns:p14="http://schemas.microsoft.com/office/powerpoint/2010/main" val="31038055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repository architecture for an IDE</a:t>
            </a:r>
            <a:r>
              <a:rPr lang="en-GB" dirty="0" smtClean="0"/>
              <a:t> </a:t>
            </a:r>
            <a:endParaRPr lang="en-US" dirty="0"/>
          </a:p>
        </p:txBody>
      </p:sp>
      <p:pic>
        <p:nvPicPr>
          <p:cNvPr id="4" name="Content Placeholder 3" descr="6.9 RepositoryIDE.eps"/>
          <p:cNvPicPr>
            <a:picLocks noGrp="1" noChangeAspect="1"/>
          </p:cNvPicPr>
          <p:nvPr>
            <p:ph idx="1"/>
          </p:nvPr>
        </p:nvPicPr>
        <p:blipFill>
          <a:blip r:embed="rId2"/>
          <a:srcRect t="-12287" b="-12287"/>
          <a:stretch>
            <a:fillRect/>
          </a:stretch>
        </p:blipFill>
        <p:spPr>
          <a:xfrm>
            <a:off x="754456" y="1600200"/>
            <a:ext cx="7244433" cy="3984159"/>
          </a:xfrm>
        </p:spPr>
      </p:pic>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15</a:t>
            </a:fld>
            <a:endParaRPr lang="en-US"/>
          </a:p>
        </p:txBody>
      </p:sp>
      <p:sp>
        <p:nvSpPr>
          <p:cNvPr id="3" name="Date Placeholder 2"/>
          <p:cNvSpPr>
            <a:spLocks noGrp="1"/>
          </p:cNvSpPr>
          <p:nvPr>
            <p:ph type="dt" sz="half" idx="10"/>
          </p:nvPr>
        </p:nvSpPr>
        <p:spPr/>
        <p:txBody>
          <a:bodyPr/>
          <a:lstStyle/>
          <a:p>
            <a:fld id="{BA16D6FC-FDE3-7142-8191-38F6A5A2805F}" type="datetime1">
              <a:rPr lang="en-GB" smtClean="0"/>
              <a:t>13/04/2026</a:t>
            </a:fld>
            <a:endParaRPr lang="en-US"/>
          </a:p>
        </p:txBody>
      </p:sp>
    </p:spTree>
    <p:extLst>
      <p:ext uri="{BB962C8B-B14F-4D97-AF65-F5344CB8AC3E}">
        <p14:creationId xmlns:p14="http://schemas.microsoft.com/office/powerpoint/2010/main" val="20127639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Repository Advantages</a:t>
            </a:r>
          </a:p>
        </p:txBody>
      </p:sp>
      <p:sp>
        <p:nvSpPr>
          <p:cNvPr id="3" name="Content Placeholder 2"/>
          <p:cNvSpPr>
            <a:spLocks noGrp="1"/>
          </p:cNvSpPr>
          <p:nvPr>
            <p:ph idx="1"/>
          </p:nvPr>
        </p:nvSpPr>
        <p:spPr/>
        <p:txBody>
          <a:bodyPr/>
          <a:lstStyle/>
          <a:p>
            <a:r>
              <a:t>Data consistency</a:t>
            </a:r>
          </a:p>
          <a:p>
            <a:r>
              <a:t>Central control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Repository Disadvantages</a:t>
            </a:r>
          </a:p>
        </p:txBody>
      </p:sp>
      <p:sp>
        <p:nvSpPr>
          <p:cNvPr id="3" name="Content Placeholder 2"/>
          <p:cNvSpPr>
            <a:spLocks noGrp="1"/>
          </p:cNvSpPr>
          <p:nvPr>
            <p:ph idx="1"/>
          </p:nvPr>
        </p:nvSpPr>
        <p:spPr/>
        <p:txBody>
          <a:bodyPr/>
          <a:lstStyle/>
          <a:p>
            <a:r>
              <a:t>Single point of failure</a:t>
            </a:r>
          </a:p>
          <a:p>
            <a:r>
              <a:t>Performance bottleneck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Client-Server Architecture</a:t>
            </a:r>
          </a:p>
        </p:txBody>
      </p:sp>
      <p:sp>
        <p:nvSpPr>
          <p:cNvPr id="3" name="Content Placeholder 2"/>
          <p:cNvSpPr>
            <a:spLocks noGrp="1"/>
          </p:cNvSpPr>
          <p:nvPr>
            <p:ph idx="1"/>
          </p:nvPr>
        </p:nvSpPr>
        <p:spPr/>
        <p:txBody>
          <a:bodyPr/>
          <a:lstStyle/>
          <a:p>
            <a:r>
              <a:t>Clients request services</a:t>
            </a:r>
          </a:p>
          <a:p>
            <a:r>
              <a:t>Server provides services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Client–server pattern</a:t>
            </a:r>
            <a:r>
              <a:rPr lang="en-GB" dirty="0" smtClean="0"/>
              <a:t> </a:t>
            </a:r>
            <a:endParaRPr lang="en-US" dirty="0"/>
          </a:p>
        </p:txBody>
      </p:sp>
      <p:graphicFrame>
        <p:nvGraphicFramePr>
          <p:cNvPr id="4" name="Content Placeholder 3"/>
          <p:cNvGraphicFramePr>
            <a:graphicFrameLocks noGrp="1"/>
          </p:cNvGraphicFramePr>
          <p:nvPr>
            <p:ph idx="1"/>
          </p:nvPr>
        </p:nvGraphicFramePr>
        <p:xfrm>
          <a:off x="930107" y="1600200"/>
          <a:ext cx="7298479" cy="4211320"/>
        </p:xfrm>
        <a:graphic>
          <a:graphicData uri="http://schemas.openxmlformats.org/drawingml/2006/table">
            <a:tbl>
              <a:tblPr firstRow="1" bandRow="1">
                <a:tableStyleId>{5C22544A-7EE6-4342-B048-85BDC9FD1C3A}</a:tableStyleId>
              </a:tblPr>
              <a:tblGrid>
                <a:gridCol w="1847313"/>
                <a:gridCol w="5451166"/>
              </a:tblGrid>
              <a:tr h="370840">
                <a:tc>
                  <a:txBody>
                    <a:bodyPr/>
                    <a:lstStyle/>
                    <a:p>
                      <a:pPr algn="just">
                        <a:spcAft>
                          <a:spcPts val="0"/>
                        </a:spcAft>
                        <a:tabLst>
                          <a:tab pos="342900" algn="l"/>
                          <a:tab pos="685800" algn="l"/>
                          <a:tab pos="1028700" algn="l"/>
                        </a:tabLst>
                      </a:pPr>
                      <a:r>
                        <a:rPr lang="en-GB" sz="1400" b="1" dirty="0" smtClean="0">
                          <a:solidFill>
                            <a:srgbClr val="000000"/>
                          </a:solidFill>
                          <a:latin typeface="Helvetica"/>
                          <a:ea typeface="Times New Roman"/>
                          <a:cs typeface="Helvetica"/>
                        </a:rPr>
                        <a:t>Name</a:t>
                      </a:r>
                      <a:endParaRPr lang="en-GB" sz="1400" b="1"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a:t>
                      </a:r>
                      <a:r>
                        <a:rPr lang="en-GB" sz="1400" b="1" dirty="0" smtClean="0">
                          <a:solidFill>
                            <a:srgbClr val="000000"/>
                          </a:solidFill>
                          <a:latin typeface="Helvetica"/>
                          <a:ea typeface="Times New Roman"/>
                          <a:cs typeface="Helvetica"/>
                        </a:rPr>
                        <a:t>server</a:t>
                      </a:r>
                      <a:endParaRPr lang="en-GB" sz="1400" b="1" dirty="0">
                        <a:solidFill>
                          <a:srgbClr val="000000"/>
                        </a:solidFill>
                        <a:latin typeface="Helvetica"/>
                        <a:ea typeface="Times New Roman"/>
                        <a:cs typeface="Helvetica"/>
                      </a:endParaRPr>
                    </a:p>
                  </a:txBody>
                  <a:tcPr marL="68580" marR="68580" marT="0" marB="0"/>
                </a:tc>
              </a:tr>
              <a:tr h="339165">
                <a:tc>
                  <a:txBody>
                    <a:bodyPr/>
                    <a:lstStyle/>
                    <a:p>
                      <a:pPr algn="just">
                        <a:spcAft>
                          <a:spcPts val="0"/>
                        </a:spcAft>
                        <a:tabLst>
                          <a:tab pos="342900" algn="l"/>
                          <a:tab pos="685800" algn="l"/>
                          <a:tab pos="1028700" algn="l"/>
                        </a:tabLst>
                      </a:pPr>
                      <a:r>
                        <a:rPr lang="en-GB" sz="1400" b="1" dirty="0" smtClean="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6.11 is an example of a film and video/DVD library organized as a client–server system.</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principal advantage of this model is that servers can be distributed across a network. General functionality (e.g., a printing service) can be available to all clients and does not need to be implemented by all services. </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r>
                        <a:rPr lang="en-GB" sz="1400" dirty="0" smtClean="0">
                          <a:solidFill>
                            <a:srgbClr val="000000"/>
                          </a:solidFill>
                          <a:latin typeface="Helvetica"/>
                          <a:ea typeface="Times New Roman"/>
                          <a:cs typeface="Helvetica"/>
                        </a:rPr>
                        <a:t>.</a:t>
                      </a:r>
                      <a:endParaRPr lang="en-GB" sz="1400" dirty="0">
                        <a:solidFill>
                          <a:srgbClr val="000000"/>
                        </a:solidFill>
                        <a:latin typeface="Helvetica"/>
                        <a:ea typeface="Times New Roman"/>
                        <a:cs typeface="Helvetica"/>
                      </a:endParaRPr>
                    </a:p>
                  </a:txBody>
                  <a:tcPr marL="68580" marR="68580" marT="0" marB="0"/>
                </a:tc>
              </a:tr>
            </a:tbl>
          </a:graphicData>
        </a:graphic>
      </p:graphicFrame>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19</a:t>
            </a:fld>
            <a:endParaRPr lang="en-US"/>
          </a:p>
        </p:txBody>
      </p:sp>
      <p:sp>
        <p:nvSpPr>
          <p:cNvPr id="3" name="Date Placeholder 2"/>
          <p:cNvSpPr>
            <a:spLocks noGrp="1"/>
          </p:cNvSpPr>
          <p:nvPr>
            <p:ph type="dt" sz="half" idx="10"/>
          </p:nvPr>
        </p:nvSpPr>
        <p:spPr/>
        <p:txBody>
          <a:bodyPr/>
          <a:lstStyle/>
          <a:p>
            <a:fld id="{6CEB8A52-A1A0-CD45-9058-76CEABC2AB9A}" type="datetime1">
              <a:rPr lang="en-GB" smtClean="0"/>
              <a:t>13/04/2026</a:t>
            </a:fld>
            <a:endParaRPr lang="en-US"/>
          </a:p>
        </p:txBody>
      </p:sp>
    </p:spTree>
    <p:extLst>
      <p:ext uri="{BB962C8B-B14F-4D97-AF65-F5344CB8AC3E}">
        <p14:creationId xmlns:p14="http://schemas.microsoft.com/office/powerpoint/2010/main" val="10424359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client–server architecture for a film library</a:t>
            </a:r>
            <a:r>
              <a:rPr lang="en-GB" dirty="0" smtClean="0"/>
              <a:t> </a:t>
            </a:r>
            <a:endParaRPr lang="en-US" dirty="0"/>
          </a:p>
        </p:txBody>
      </p:sp>
      <p:pic>
        <p:nvPicPr>
          <p:cNvPr id="4" name="Content Placeholder 3" descr="6.11 ClientServerFilmPhoto.eps"/>
          <p:cNvPicPr>
            <a:picLocks noGrp="1" noChangeAspect="1"/>
          </p:cNvPicPr>
          <p:nvPr>
            <p:ph idx="1"/>
          </p:nvPr>
        </p:nvPicPr>
        <p:blipFill>
          <a:blip r:embed="rId2"/>
          <a:srcRect l="-1062" r="-1062"/>
          <a:stretch>
            <a:fillRect/>
          </a:stretch>
        </p:blipFill>
        <p:spPr>
          <a:xfrm>
            <a:off x="822014" y="1775831"/>
            <a:ext cx="7203898" cy="3961866"/>
          </a:xfrm>
        </p:spPr>
      </p:pic>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20</a:t>
            </a:fld>
            <a:endParaRPr lang="en-US"/>
          </a:p>
        </p:txBody>
      </p:sp>
      <p:sp>
        <p:nvSpPr>
          <p:cNvPr id="3" name="Date Placeholder 2"/>
          <p:cNvSpPr>
            <a:spLocks noGrp="1"/>
          </p:cNvSpPr>
          <p:nvPr>
            <p:ph type="dt" sz="half" idx="10"/>
          </p:nvPr>
        </p:nvSpPr>
        <p:spPr/>
        <p:txBody>
          <a:bodyPr/>
          <a:lstStyle/>
          <a:p>
            <a:fld id="{140C2F96-6324-C64B-BAFD-9AF7A9B7480C}" type="datetime1">
              <a:rPr lang="en-GB" smtClean="0"/>
              <a:t>13/04/2026</a:t>
            </a:fld>
            <a:endParaRPr lang="en-US"/>
          </a:p>
        </p:txBody>
      </p:sp>
    </p:spTree>
    <p:extLst>
      <p:ext uri="{BB962C8B-B14F-4D97-AF65-F5344CB8AC3E}">
        <p14:creationId xmlns:p14="http://schemas.microsoft.com/office/powerpoint/2010/main" val="29544752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Client-Server Advantages</a:t>
            </a:r>
          </a:p>
        </p:txBody>
      </p:sp>
      <p:sp>
        <p:nvSpPr>
          <p:cNvPr id="3" name="Content Placeholder 2"/>
          <p:cNvSpPr>
            <a:spLocks noGrp="1"/>
          </p:cNvSpPr>
          <p:nvPr>
            <p:ph idx="1"/>
          </p:nvPr>
        </p:nvSpPr>
        <p:spPr/>
        <p:txBody>
          <a:bodyPr/>
          <a:lstStyle/>
          <a:p>
            <a:r>
              <a:t>Centralized control</a:t>
            </a:r>
          </a:p>
          <a:p>
            <a:r>
              <a:t>Scalable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Client-Server Disadvantages</a:t>
            </a:r>
          </a:p>
        </p:txBody>
      </p:sp>
      <p:sp>
        <p:nvSpPr>
          <p:cNvPr id="3" name="Content Placeholder 2"/>
          <p:cNvSpPr>
            <a:spLocks noGrp="1"/>
          </p:cNvSpPr>
          <p:nvPr>
            <p:ph idx="1"/>
          </p:nvPr>
        </p:nvSpPr>
        <p:spPr/>
        <p:txBody>
          <a:bodyPr/>
          <a:lstStyle/>
          <a:p>
            <a:r>
              <a:rPr dirty="0"/>
              <a:t>Server dependency</a:t>
            </a:r>
          </a:p>
          <a:p>
            <a:r>
              <a:rPr dirty="0"/>
              <a:t>Network issues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 and Filter Architecture</a:t>
            </a:r>
          </a:p>
        </p:txBody>
      </p:sp>
      <p:sp>
        <p:nvSpPr>
          <p:cNvPr id="3" name="Content Placeholder 2"/>
          <p:cNvSpPr>
            <a:spLocks noGrp="1"/>
          </p:cNvSpPr>
          <p:nvPr>
            <p:ph idx="1"/>
          </p:nvPr>
        </p:nvSpPr>
        <p:spPr/>
        <p:txBody>
          <a:bodyPr/>
          <a:lstStyle/>
          <a:p>
            <a:r>
              <a:t>Data flows through filters</a:t>
            </a:r>
          </a:p>
          <a:p>
            <a:r>
              <a:t>Each filter processes data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pipe and filter pattern</a:t>
            </a:r>
            <a:r>
              <a:rPr lang="en-GB" dirty="0" smtClean="0"/>
              <a:t> </a:t>
            </a:r>
            <a:endParaRPr lang="en-US" dirty="0"/>
          </a:p>
        </p:txBody>
      </p:sp>
      <p:graphicFrame>
        <p:nvGraphicFramePr>
          <p:cNvPr id="4" name="Content Placeholder 3"/>
          <p:cNvGraphicFramePr>
            <a:graphicFrameLocks noGrp="1"/>
          </p:cNvGraphicFramePr>
          <p:nvPr>
            <p:ph idx="1"/>
          </p:nvPr>
        </p:nvGraphicFramePr>
        <p:xfrm>
          <a:off x="822014" y="1600200"/>
          <a:ext cx="7190386" cy="4211320"/>
        </p:xfrm>
        <a:graphic>
          <a:graphicData uri="http://schemas.openxmlformats.org/drawingml/2006/table">
            <a:tbl>
              <a:tblPr firstRow="1" bandRow="1">
                <a:tableStyleId>{5C22544A-7EE6-4342-B048-85BDC9FD1C3A}</a:tableStyleId>
              </a:tblPr>
              <a:tblGrid>
                <a:gridCol w="1477596"/>
                <a:gridCol w="5712790"/>
              </a:tblGrid>
              <a:tr h="370840">
                <a:tc>
                  <a:txBody>
                    <a:bodyPr/>
                    <a:lstStyle/>
                    <a:p>
                      <a:pPr algn="just">
                        <a:spcAft>
                          <a:spcPts val="0"/>
                        </a:spcAft>
                        <a:tabLst>
                          <a:tab pos="342900" algn="l"/>
                          <a:tab pos="685800" algn="l"/>
                          <a:tab pos="1028700" algn="l"/>
                        </a:tabLst>
                      </a:pPr>
                      <a:r>
                        <a:rPr lang="en-GB" sz="1400" b="1" dirty="0" smtClean="0">
                          <a:solidFill>
                            <a:srgbClr val="000000"/>
                          </a:solidFill>
                          <a:latin typeface="Helvetica"/>
                          <a:ea typeface="Times New Roman"/>
                          <a:cs typeface="Helvetica"/>
                        </a:rPr>
                        <a:t>Name</a:t>
                      </a:r>
                      <a:endParaRPr lang="en-GB" sz="1400" b="1"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Pipe and </a:t>
                      </a:r>
                      <a:r>
                        <a:rPr lang="en-GB" sz="1400" b="1" dirty="0" smtClean="0">
                          <a:solidFill>
                            <a:srgbClr val="000000"/>
                          </a:solidFill>
                          <a:latin typeface="Helvetica"/>
                          <a:ea typeface="Times New Roman"/>
                          <a:cs typeface="Helvetica"/>
                        </a:rPr>
                        <a:t>filter</a:t>
                      </a:r>
                      <a:endParaRPr lang="en-GB" sz="1400" b="1" dirty="0">
                        <a:solidFill>
                          <a:srgbClr val="000000"/>
                        </a:solidFill>
                        <a:latin typeface="Helvetica"/>
                        <a:ea typeface="Times New Roman"/>
                        <a:cs typeface="Helvetica"/>
                      </a:endParaRPr>
                    </a:p>
                  </a:txBody>
                  <a:tcPr marL="68580" marR="68580" marT="0" marB="0"/>
                </a:tc>
              </a:tr>
              <a:tr h="370840">
                <a:tc>
                  <a:txBody>
                    <a:bodyPr/>
                    <a:lstStyle/>
                    <a:p>
                      <a:pPr algn="just">
                        <a:spcAft>
                          <a:spcPts val="0"/>
                        </a:spcAft>
                        <a:tabLst>
                          <a:tab pos="342900" algn="l"/>
                          <a:tab pos="685800" algn="l"/>
                          <a:tab pos="1028700" algn="l"/>
                        </a:tabLst>
                      </a:pPr>
                      <a:r>
                        <a:rPr lang="en-GB" sz="1400" b="1" dirty="0" smtClean="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Figure 6.13 is an example of a pipe and filter system used for processing invoices.</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format for data transfer has to be agreed upon between communicating transformations. Each transformation must parse its input and </a:t>
                      </a:r>
                      <a:r>
                        <a:rPr lang="en-GB" sz="1400" dirty="0" err="1">
                          <a:solidFill>
                            <a:srgbClr val="000000"/>
                          </a:solidFill>
                          <a:latin typeface="Helvetica"/>
                          <a:ea typeface="Times New Roman"/>
                          <a:cs typeface="Helvetica"/>
                        </a:rPr>
                        <a:t>unparse</a:t>
                      </a:r>
                      <a:r>
                        <a:rPr lang="en-GB" sz="1400" dirty="0">
                          <a:solidFill>
                            <a:srgbClr val="000000"/>
                          </a:solidFill>
                          <a:latin typeface="Helvetica"/>
                          <a:ea typeface="Times New Roman"/>
                          <a:cs typeface="Helvetica"/>
                        </a:rPr>
                        <a:t> its output to the agreed form. This increases system overhead and may mean that it is impossible to reuse functional transformations that use incompatible data structures</a:t>
                      </a:r>
                      <a:r>
                        <a:rPr lang="en-GB" sz="1400" dirty="0" smtClean="0">
                          <a:solidFill>
                            <a:srgbClr val="000000"/>
                          </a:solidFill>
                          <a:latin typeface="Helvetica"/>
                          <a:ea typeface="Times New Roman"/>
                          <a:cs typeface="Helvetica"/>
                        </a:rPr>
                        <a:t>.</a:t>
                      </a:r>
                      <a:endParaRPr lang="en-GB" sz="1400" dirty="0">
                        <a:solidFill>
                          <a:srgbClr val="000000"/>
                        </a:solidFill>
                        <a:latin typeface="Helvetica"/>
                        <a:ea typeface="Times New Roman"/>
                        <a:cs typeface="Helvetica"/>
                      </a:endParaRPr>
                    </a:p>
                  </a:txBody>
                  <a:tcPr marL="68580" marR="68580" marT="0" marB="0"/>
                </a:tc>
              </a:tr>
            </a:tbl>
          </a:graphicData>
        </a:graphic>
      </p:graphicFrame>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24</a:t>
            </a:fld>
            <a:endParaRPr lang="en-US"/>
          </a:p>
        </p:txBody>
      </p:sp>
      <p:sp>
        <p:nvSpPr>
          <p:cNvPr id="3" name="Date Placeholder 2"/>
          <p:cNvSpPr>
            <a:spLocks noGrp="1"/>
          </p:cNvSpPr>
          <p:nvPr>
            <p:ph type="dt" sz="half" idx="10"/>
          </p:nvPr>
        </p:nvSpPr>
        <p:spPr/>
        <p:txBody>
          <a:bodyPr/>
          <a:lstStyle/>
          <a:p>
            <a:fld id="{8B561061-8569-EB40-A3F5-E57A7C2E5BFA}" type="datetime1">
              <a:rPr lang="en-GB" smtClean="0"/>
              <a:t>13/04/2026</a:t>
            </a:fld>
            <a:endParaRPr lang="en-US"/>
          </a:p>
        </p:txBody>
      </p:sp>
    </p:spTree>
    <p:extLst>
      <p:ext uri="{BB962C8B-B14F-4D97-AF65-F5344CB8AC3E}">
        <p14:creationId xmlns:p14="http://schemas.microsoft.com/office/powerpoint/2010/main" val="29429015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 example of the pipe and filter architecture used in a payments system</a:t>
            </a:r>
            <a:r>
              <a:rPr lang="en-GB" dirty="0" smtClean="0"/>
              <a:t> </a:t>
            </a:r>
            <a:endParaRPr lang="en-US" dirty="0"/>
          </a:p>
        </p:txBody>
      </p:sp>
      <p:pic>
        <p:nvPicPr>
          <p:cNvPr id="4" name="Content Placeholder 3" descr="6.13 InvoiceProc.eps"/>
          <p:cNvPicPr>
            <a:picLocks noGrp="1" noChangeAspect="1"/>
          </p:cNvPicPr>
          <p:nvPr>
            <p:ph idx="1"/>
          </p:nvPr>
        </p:nvPicPr>
        <p:blipFill>
          <a:blip r:embed="rId2"/>
          <a:srcRect l="24024" r="24024"/>
          <a:stretch>
            <a:fillRect/>
          </a:stretch>
        </p:blipFill>
        <p:spPr>
          <a:xfrm>
            <a:off x="1311622" y="1790701"/>
            <a:ext cx="7040807" cy="3872172"/>
          </a:xfrm>
        </p:spPr>
      </p:pic>
      <p:sp>
        <p:nvSpPr>
          <p:cNvPr id="6" name="Footer Placeholder 5"/>
          <p:cNvSpPr>
            <a:spLocks noGrp="1"/>
          </p:cNvSpPr>
          <p:nvPr>
            <p:ph type="ftr" sz="quarter" idx="11"/>
          </p:nvPr>
        </p:nvSpPr>
        <p:spPr/>
        <p:txBody>
          <a:bodyPr/>
          <a:lstStyle/>
          <a:p>
            <a:r>
              <a:rPr lang="en-US" smtClean="0"/>
              <a:t>Chapter 6 Architectural Design</a:t>
            </a:r>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25</a:t>
            </a:fld>
            <a:endParaRPr lang="en-US"/>
          </a:p>
        </p:txBody>
      </p:sp>
      <p:sp>
        <p:nvSpPr>
          <p:cNvPr id="3" name="Date Placeholder 2"/>
          <p:cNvSpPr>
            <a:spLocks noGrp="1"/>
          </p:cNvSpPr>
          <p:nvPr>
            <p:ph type="dt" sz="half" idx="10"/>
          </p:nvPr>
        </p:nvSpPr>
        <p:spPr/>
        <p:txBody>
          <a:bodyPr/>
          <a:lstStyle/>
          <a:p>
            <a:fld id="{7F1D9BB6-03AB-0043-BF6C-06967B402B40}" type="datetime1">
              <a:rPr lang="en-GB" smtClean="0"/>
              <a:t>13/04/2026</a:t>
            </a:fld>
            <a:endParaRPr lang="en-US"/>
          </a:p>
        </p:txBody>
      </p:sp>
    </p:spTree>
    <p:extLst>
      <p:ext uri="{BB962C8B-B14F-4D97-AF65-F5344CB8AC3E}">
        <p14:creationId xmlns:p14="http://schemas.microsoft.com/office/powerpoint/2010/main" val="17239715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 and Filter Advantages</a:t>
            </a:r>
          </a:p>
        </p:txBody>
      </p:sp>
      <p:sp>
        <p:nvSpPr>
          <p:cNvPr id="3" name="Content Placeholder 2"/>
          <p:cNvSpPr>
            <a:spLocks noGrp="1"/>
          </p:cNvSpPr>
          <p:nvPr>
            <p:ph idx="1"/>
          </p:nvPr>
        </p:nvSpPr>
        <p:spPr/>
        <p:txBody>
          <a:bodyPr/>
          <a:lstStyle/>
          <a:p>
            <a:r>
              <a:t>Modular</a:t>
            </a:r>
          </a:p>
          <a:p>
            <a:r>
              <a:t>Reusable</a:t>
            </a:r>
          </a:p>
          <a:p>
            <a:r>
              <a:t>Supports parallelism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 and Filter Disadvantages</a:t>
            </a:r>
          </a:p>
        </p:txBody>
      </p:sp>
      <p:sp>
        <p:nvSpPr>
          <p:cNvPr id="3" name="Content Placeholder 2"/>
          <p:cNvSpPr>
            <a:spLocks noGrp="1"/>
          </p:cNvSpPr>
          <p:nvPr>
            <p:ph idx="1"/>
          </p:nvPr>
        </p:nvSpPr>
        <p:spPr/>
        <p:txBody>
          <a:bodyPr/>
          <a:lstStyle/>
          <a:p>
            <a:r>
              <a:t>Difficult debugging</a:t>
            </a:r>
          </a:p>
          <a:p>
            <a:r>
              <a:t>Not suitable for interactive systems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Comparison</a:t>
            </a:r>
          </a:p>
        </p:txBody>
      </p:sp>
      <p:sp>
        <p:nvSpPr>
          <p:cNvPr id="3" name="Content Placeholder 2"/>
          <p:cNvSpPr>
            <a:spLocks noGrp="1"/>
          </p:cNvSpPr>
          <p:nvPr>
            <p:ph idx="1"/>
          </p:nvPr>
        </p:nvSpPr>
        <p:spPr/>
        <p:txBody>
          <a:bodyPr/>
          <a:lstStyle/>
          <a:p>
            <a:r>
              <a:t>Layered: simple, but slower</a:t>
            </a:r>
          </a:p>
          <a:p>
            <a:r>
              <a:t>Repository: consistent, but risky</a:t>
            </a:r>
          </a:p>
          <a:p>
            <a:r>
              <a:t>Client-Server: scalable, but dependent</a:t>
            </a:r>
          </a:p>
          <a:p>
            <a:r>
              <a:t>Pipe-Filter: modular, but complex</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Choose architecture based on system needs</a:t>
            </a:r>
          </a:p>
          <a:p>
            <a:r>
              <a:t>No single best 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127</TotalTime>
  <Words>1087</Words>
  <Application>Microsoft Office PowerPoint</Application>
  <PresentationFormat>On-screen Show (4:3)</PresentationFormat>
  <Paragraphs>150</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Helvetica</vt:lpstr>
      <vt:lpstr>Times New Roman</vt:lpstr>
      <vt:lpstr>Office Theme</vt:lpstr>
      <vt:lpstr>Software Architecture</vt:lpstr>
      <vt:lpstr>What is Software Architecture?</vt:lpstr>
      <vt:lpstr>Analogy</vt:lpstr>
      <vt:lpstr>Why Architecture Matters</vt:lpstr>
      <vt:lpstr>Basic Concepts</vt:lpstr>
      <vt:lpstr>Layered Architecture</vt:lpstr>
      <vt:lpstr>Layered Architecture Example</vt:lpstr>
      <vt:lpstr>The Layered architecture pattern </vt:lpstr>
      <vt:lpstr>A generic layered architecture </vt:lpstr>
      <vt:lpstr>The architecture of the iLearn system </vt:lpstr>
      <vt:lpstr>Layered Advantages</vt:lpstr>
      <vt:lpstr>Layered Disadvantages</vt:lpstr>
      <vt:lpstr>Repository Architecture</vt:lpstr>
      <vt:lpstr>The Repository pattern </vt:lpstr>
      <vt:lpstr>A repository architecture for an IDE </vt:lpstr>
      <vt:lpstr>Repository Advantages</vt:lpstr>
      <vt:lpstr>Repository Disadvantages</vt:lpstr>
      <vt:lpstr>Client-Server Architecture</vt:lpstr>
      <vt:lpstr>The Client–server pattern </vt:lpstr>
      <vt:lpstr>A client–server architecture for a film library </vt:lpstr>
      <vt:lpstr>Client-Server Advantages</vt:lpstr>
      <vt:lpstr>Client-Server Disadvantages</vt:lpstr>
      <vt:lpstr>Pipe and Filter Architecture</vt:lpstr>
      <vt:lpstr>The pipe and filter pattern </vt:lpstr>
      <vt:lpstr>An example of the pipe and filter architecture used in a payments system </vt:lpstr>
      <vt:lpstr>Pipe and Filter Advantages</vt:lpstr>
      <vt:lpstr>Pipe and Filter Disadvantages</vt:lpstr>
      <vt:lpstr>Comparison</vt:lpstr>
      <vt:lpstr>Conclusion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Architecture</dc:title>
  <dc:subject/>
  <dc:creator/>
  <cp:keywords/>
  <dc:description>generated using python-pptx</dc:description>
  <cp:lastModifiedBy>Ansa Liaqat</cp:lastModifiedBy>
  <cp:revision>5</cp:revision>
  <dcterms:created xsi:type="dcterms:W3CDTF">2013-01-27T09:14:16Z</dcterms:created>
  <dcterms:modified xsi:type="dcterms:W3CDTF">2026-04-13T11:35:15Z</dcterms:modified>
  <cp:category/>
</cp:coreProperties>
</file>