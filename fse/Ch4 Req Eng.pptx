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85"/>
  </p:notesMasterIdLst>
  <p:handoutMasterIdLst>
    <p:handoutMasterId r:id="rId86"/>
  </p:handoutMasterIdLst>
  <p:sldIdLst>
    <p:sldId id="256" r:id="rId2"/>
    <p:sldId id="276" r:id="rId3"/>
    <p:sldId id="277" r:id="rId4"/>
    <p:sldId id="278" r:id="rId5"/>
    <p:sldId id="279" r:id="rId6"/>
    <p:sldId id="280" r:id="rId7"/>
    <p:sldId id="257" r:id="rId8"/>
    <p:sldId id="258" r:id="rId9"/>
    <p:sldId id="378" r:id="rId10"/>
    <p:sldId id="379" r:id="rId11"/>
    <p:sldId id="380" r:id="rId12"/>
    <p:sldId id="381" r:id="rId13"/>
    <p:sldId id="351" r:id="rId14"/>
    <p:sldId id="281" r:id="rId15"/>
    <p:sldId id="282" r:id="rId16"/>
    <p:sldId id="283" r:id="rId17"/>
    <p:sldId id="285" r:id="rId18"/>
    <p:sldId id="286" r:id="rId19"/>
    <p:sldId id="287" r:id="rId20"/>
    <p:sldId id="259" r:id="rId21"/>
    <p:sldId id="310" r:id="rId22"/>
    <p:sldId id="288" r:id="rId23"/>
    <p:sldId id="260" r:id="rId24"/>
    <p:sldId id="289" r:id="rId25"/>
    <p:sldId id="311" r:id="rId26"/>
    <p:sldId id="261" r:id="rId27"/>
    <p:sldId id="353" r:id="rId28"/>
    <p:sldId id="302" r:id="rId29"/>
    <p:sldId id="269" r:id="rId30"/>
    <p:sldId id="382" r:id="rId31"/>
    <p:sldId id="303" r:id="rId32"/>
    <p:sldId id="357" r:id="rId33"/>
    <p:sldId id="333" r:id="rId34"/>
    <p:sldId id="304" r:id="rId35"/>
    <p:sldId id="270" r:id="rId36"/>
    <p:sldId id="340" r:id="rId37"/>
    <p:sldId id="335" r:id="rId38"/>
    <p:sldId id="336" r:id="rId39"/>
    <p:sldId id="345" r:id="rId40"/>
    <p:sldId id="383" r:id="rId41"/>
    <p:sldId id="384" r:id="rId42"/>
    <p:sldId id="385" r:id="rId43"/>
    <p:sldId id="386" r:id="rId44"/>
    <p:sldId id="387" r:id="rId45"/>
    <p:sldId id="358" r:id="rId46"/>
    <p:sldId id="365" r:id="rId47"/>
    <p:sldId id="366" r:id="rId48"/>
    <p:sldId id="367" r:id="rId49"/>
    <p:sldId id="368" r:id="rId50"/>
    <p:sldId id="369" r:id="rId51"/>
    <p:sldId id="370" r:id="rId52"/>
    <p:sldId id="371" r:id="rId53"/>
    <p:sldId id="372" r:id="rId54"/>
    <p:sldId id="373" r:id="rId55"/>
    <p:sldId id="374" r:id="rId56"/>
    <p:sldId id="375" r:id="rId57"/>
    <p:sldId id="376" r:id="rId58"/>
    <p:sldId id="377" r:id="rId59"/>
    <p:sldId id="388" r:id="rId60"/>
    <p:sldId id="389" r:id="rId61"/>
    <p:sldId id="390" r:id="rId62"/>
    <p:sldId id="391" r:id="rId63"/>
    <p:sldId id="392" r:id="rId64"/>
    <p:sldId id="393" r:id="rId65"/>
    <p:sldId id="394" r:id="rId66"/>
    <p:sldId id="356" r:id="rId67"/>
    <p:sldId id="295" r:id="rId68"/>
    <p:sldId id="296" r:id="rId69"/>
    <p:sldId id="297" r:id="rId70"/>
    <p:sldId id="298" r:id="rId71"/>
    <p:sldId id="299" r:id="rId72"/>
    <p:sldId id="355" r:id="rId73"/>
    <p:sldId id="347" r:id="rId74"/>
    <p:sldId id="348" r:id="rId75"/>
    <p:sldId id="274" r:id="rId76"/>
    <p:sldId id="399" r:id="rId77"/>
    <p:sldId id="349" r:id="rId78"/>
    <p:sldId id="350" r:id="rId79"/>
    <p:sldId id="275" r:id="rId80"/>
    <p:sldId id="352" r:id="rId81"/>
    <p:sldId id="354" r:id="rId82"/>
    <p:sldId id="400" r:id="rId83"/>
    <p:sldId id="309" r:id="rId84"/>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3/27/2026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3/27/2026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Requirements engineering processes</a:t>
            </a:r>
          </a:p>
          <a:p>
            <a:r>
              <a:rPr lang="en-US" dirty="0" smtClean="0"/>
              <a:t>Requirements elicitation</a:t>
            </a:r>
            <a:endParaRPr lang="en-GB" dirty="0" smtClean="0"/>
          </a:p>
          <a:p>
            <a:r>
              <a:rPr lang="en-US" dirty="0" smtClean="0"/>
              <a:t>Requirements </a:t>
            </a:r>
            <a:r>
              <a:rPr lang="en-GB" dirty="0" smtClean="0"/>
              <a:t>specification</a:t>
            </a:r>
          </a:p>
          <a:p>
            <a:r>
              <a:rPr lang="en-US" dirty="0" smtClean="0"/>
              <a:t>Requirements validation</a:t>
            </a:r>
            <a:endParaRPr lang="en-GB" dirty="0" smtClean="0"/>
          </a:p>
          <a:p>
            <a:r>
              <a:rPr lang="en-US" dirty="0" smtClean="0"/>
              <a:t>Requirements change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a:t>
            </a:r>
            <a:r>
              <a:rPr lang="en-GB" dirty="0" err="1" smtClean="0"/>
              <a:t>acustomer</a:t>
            </a:r>
            <a:r>
              <a:rPr lang="en-GB" dirty="0" smtClean="0"/>
              <a:t> </a:t>
            </a:r>
            <a:r>
              <a:rPr lang="en-GB" dirty="0"/>
              <a:t>requires from a system and the constraints under which it operates and is developed.</a:t>
            </a:r>
          </a:p>
          <a:p>
            <a:r>
              <a:rPr lang="en-GB" dirty="0"/>
              <a:t>The </a:t>
            </a:r>
            <a:r>
              <a:rPr lang="en-GB" dirty="0" smtClean="0"/>
              <a:t>system requirements are </a:t>
            </a:r>
            <a:r>
              <a:rPr lang="en-GB" dirty="0"/>
              <a:t>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of different types of requirements specification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stakeholders</a:t>
            </a:r>
            <a:endParaRPr lang="en-US" dirty="0"/>
          </a:p>
        </p:txBody>
      </p:sp>
      <p:sp>
        <p:nvSpPr>
          <p:cNvPr id="3" name="Content Placeholder 2"/>
          <p:cNvSpPr>
            <a:spLocks noGrp="1"/>
          </p:cNvSpPr>
          <p:nvPr>
            <p:ph idx="1"/>
          </p:nvPr>
        </p:nvSpPr>
        <p:spPr/>
        <p:txBody>
          <a:bodyPr/>
          <a:lstStyle/>
          <a:p>
            <a:r>
              <a:rPr lang="en-US" dirty="0" smtClean="0"/>
              <a:t>Any person or organization who is affected by the system in some way and so who has a legitimate interest</a:t>
            </a:r>
          </a:p>
          <a:p>
            <a:r>
              <a:rPr lang="en-US" dirty="0" smtClean="0"/>
              <a:t>Stakeholder types</a:t>
            </a:r>
          </a:p>
          <a:p>
            <a:pPr lvl="1"/>
            <a:r>
              <a:rPr lang="en-US" dirty="0" smtClean="0"/>
              <a:t>End users</a:t>
            </a:r>
          </a:p>
          <a:p>
            <a:pPr lvl="1"/>
            <a:r>
              <a:rPr lang="en-US" dirty="0" smtClean="0"/>
              <a:t>System managers</a:t>
            </a:r>
          </a:p>
          <a:p>
            <a:pPr lvl="1"/>
            <a:r>
              <a:rPr lang="en-US" dirty="0" smtClean="0"/>
              <a:t>System owners</a:t>
            </a:r>
          </a:p>
          <a:p>
            <a:pPr lvl="1"/>
            <a:r>
              <a:rPr lang="en-US" dirty="0" smtClean="0"/>
              <a:t>External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who coordinate the consultations with doctors and administer some treatments.</a:t>
            </a:r>
            <a:endParaRPr lang="en-GB" dirty="0" smtClean="0"/>
          </a:p>
          <a:p>
            <a:r>
              <a:rPr lang="en-US" dirty="0" smtClean="0"/>
              <a:t>Medical receptionists</a:t>
            </a:r>
            <a:r>
              <a:rPr lang="en-US" i="1" dirty="0" smtClean="0"/>
              <a:t> </a:t>
            </a:r>
            <a:r>
              <a:rPr lang="en-US" dirty="0" smtClean="0"/>
              <a:t>who manage patients’ appointments.</a:t>
            </a:r>
            <a:endParaRPr lang="en-GB" dirty="0" smtClean="0"/>
          </a:p>
          <a:p>
            <a:r>
              <a:rPr lang="en-US" dirty="0" smtClean="0"/>
              <a:t>IT 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A medical ethics manager who must ensure that the system meets current ethical guidelines for patient care.</a:t>
            </a:r>
            <a:endParaRPr lang="en-GB" dirty="0" smtClean="0"/>
          </a:p>
          <a:p>
            <a:r>
              <a:rPr lang="en-US" dirty="0" smtClean="0"/>
              <a:t>Health care managers</a:t>
            </a:r>
            <a:r>
              <a:rPr lang="en-US" i="1" dirty="0" smtClean="0"/>
              <a:t> </a:t>
            </a:r>
            <a:r>
              <a:rPr lang="en-US" dirty="0" smtClean="0"/>
              <a:t>who obtain management information from the system.</a:t>
            </a:r>
            <a:endParaRPr lang="en-GB" dirty="0" smtClean="0"/>
          </a:p>
          <a:p>
            <a:r>
              <a:rPr lang="en-US" dirty="0" smtClean="0"/>
              <a:t>Medical records staff</a:t>
            </a:r>
            <a:r>
              <a:rPr lang="en-US" i="1" dirty="0" smtClean="0"/>
              <a:t> </a:t>
            </a:r>
            <a:r>
              <a:rPr lang="en-US" dirty="0" smtClean="0"/>
              <a:t>who are responsible for ensuring that system information can be maintained and preserved, and that record keeping procedures have been properly implemented.</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detailed system requirements is a waste of time as requirements change so quickly.</a:t>
            </a:r>
          </a:p>
          <a:p>
            <a:r>
              <a:rPr lang="en-US" dirty="0" smtClean="0"/>
              <a:t>The requirements document is therefore always out of date.</a:t>
            </a:r>
          </a:p>
          <a:p>
            <a:r>
              <a:rPr lang="en-US" dirty="0" smtClean="0"/>
              <a:t>Agile methods usually use incremental requirements engineering and may express requirements as ‘user stories’ (discussed in Chapter 3).</a:t>
            </a:r>
          </a:p>
          <a:p>
            <a:r>
              <a:rPr lang="en-US" dirty="0" smtClean="0"/>
              <a:t>This is practical for business systems but problematic for systems that require pre-delivery analysis (e.g. critical systems) or systems developed by several teams.</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Functional and non-functional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Mentcare system: functional requirements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system shall generate each day, for each clinic, a list of patients who are expected to attend appointments that day. </a:t>
            </a:r>
            <a:endParaRPr lang="en-GB" dirty="0" smtClean="0"/>
          </a:p>
          <a:p>
            <a:r>
              <a:rPr lang="en-US" dirty="0" smtClean="0"/>
              <a:t>Each staff member using the system shall be uniquely identified by his or her 8-digit employee number.</a:t>
            </a:r>
            <a:r>
              <a:rPr lang="en-GB" dirty="0" smtClean="0"/>
              <a:t>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a:t>
            </a:r>
            <a:r>
              <a:rPr lang="en-GB" dirty="0" smtClean="0"/>
              <a:t>functional requirements </a:t>
            </a:r>
            <a:r>
              <a:rPr lang="en-GB" dirty="0"/>
              <a:t>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a:t>
            </a:r>
            <a:r>
              <a:rPr lang="en-GB" sz="2400" dirty="0" smtClean="0"/>
              <a:t>because of system and environmental complexity, it </a:t>
            </a:r>
            <a:r>
              <a:rPr lang="en-GB" sz="2400" dirty="0"/>
              <a:t>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of nonfunctional requirements in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Mentcare system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Mentcare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engineering processes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spiral view of the requirements engineering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pic>
        <p:nvPicPr>
          <p:cNvPr id="4" name="Picture 3" descr="4.12 ReqEngSpiral.eps"/>
          <p:cNvPicPr>
            <a:picLocks noChangeAspect="1"/>
          </p:cNvPicPr>
          <p:nvPr/>
        </p:nvPicPr>
        <p:blipFill>
          <a:blip r:embed="rId2"/>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4864"/>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69010017"/>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a:t>
            </a:r>
            <a:r>
              <a:rPr lang="en-GB" dirty="0" smtClean="0"/>
              <a:t>elicitation</a:t>
            </a:r>
            <a:endParaRPr lang="en-GB" dirty="0"/>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open-minded, avoid pre-conceived ideas about the requirements and are willing to listen to stakeholders. </a:t>
            </a:r>
            <a:endParaRPr lang="en-GB" dirty="0" smtClean="0"/>
          </a:p>
          <a:p>
            <a:pPr lvl="1"/>
            <a:r>
              <a:rPr lang="en-US" dirty="0" smtClean="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r>
              <a:rPr lang="en-US" sz="2400" dirty="0" smtClean="0"/>
              <a:t>.</a:t>
            </a:r>
          </a:p>
          <a:p>
            <a:pPr>
              <a:lnSpc>
                <a:spcPct val="90000"/>
              </a:lnSpc>
            </a:pPr>
            <a:r>
              <a:rPr lang="en-US" dirty="0" smtClean="0"/>
              <a:t>Interviewers need to be open-minded without pre-conceived ideas of what the system should do</a:t>
            </a:r>
          </a:p>
          <a:p>
            <a:pPr>
              <a:lnSpc>
                <a:spcPct val="90000"/>
              </a:lnSpc>
            </a:pPr>
            <a:r>
              <a:rPr lang="en-US" sz="2400" dirty="0" smtClean="0"/>
              <a:t>You need to prompt the use to talk about the system by suggesting requirements rather than simply asking them what they want.</a:t>
            </a:r>
            <a:endParaRPr lang="en-US" sz="2400"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interviews</a:t>
            </a:r>
            <a:endParaRPr lang="en-US" dirty="0"/>
          </a:p>
        </p:txBody>
      </p:sp>
      <p:sp>
        <p:nvSpPr>
          <p:cNvPr id="3" name="Content Placeholder 2"/>
          <p:cNvSpPr>
            <a:spLocks noGrp="1"/>
          </p:cNvSpPr>
          <p:nvPr>
            <p:ph idx="1"/>
          </p:nvPr>
        </p:nvSpPr>
        <p:spPr/>
        <p:txBody>
          <a:bodyPr/>
          <a:lstStyle/>
          <a:p>
            <a:pPr>
              <a:lnSpc>
                <a:spcPct val="90000"/>
              </a:lnSpc>
            </a:pPr>
            <a:r>
              <a:rPr lang="en-US" dirty="0" smtClean="0"/>
              <a:t>Application specialists may use language to describe their work that isn’t easy for the requirements engineer to understand.</a:t>
            </a:r>
          </a:p>
          <a:p>
            <a:pPr>
              <a:lnSpc>
                <a:spcPct val="90000"/>
              </a:lnSpc>
            </a:pPr>
            <a:r>
              <a:rPr lang="en-US" dirty="0" smtClean="0"/>
              <a:t>Interviews </a:t>
            </a:r>
            <a:r>
              <a:rPr lang="en-US" dirty="0"/>
              <a:t>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89149296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371123536"/>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and prototyping for requirements analysis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pic>
        <p:nvPicPr>
          <p:cNvPr id="4" name="Picture 3" descr="4.16 Ethno-prototyping.eps"/>
          <p:cNvPicPr>
            <a:picLocks noChangeAspect="1"/>
          </p:cNvPicPr>
          <p:nvPr/>
        </p:nvPicPr>
        <p:blipFill>
          <a:blip r:embed="rId2"/>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specification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a:t>
            </a:r>
            <a:r>
              <a:rPr lang="en-US" dirty="0" err="1" smtClean="0"/>
              <a:t>donw</a:t>
            </a:r>
            <a:r>
              <a:rPr lang="en-US" dirty="0" smtClean="0"/>
              <a:t> 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of writing a system requirements specification </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requirements for the insulin pump software system</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Tree>
    <p:extLst>
      <p:ext uri="{BB962C8B-B14F-4D97-AF65-F5344CB8AC3E}">
        <p14:creationId xmlns:p14="http://schemas.microsoft.com/office/powerpoint/2010/main" val="2423206850"/>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036" name="Document" r:id="rId3" imgW="5943600" imgH="3314700" progId="Word.Document.12">
                  <p:embed/>
                </p:oleObj>
              </mc:Choice>
              <mc:Fallback>
                <p:oleObj name="Document" r:id="rId3" imgW="5943600" imgH="331470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132108" name="Document" r:id="rId3" imgW="5943600" imgH="4445000" progId="Word.Document.12">
                  <p:embed/>
                </p:oleObj>
              </mc:Choice>
              <mc:Fallback>
                <p:oleObj name="Document" r:id="rId3" imgW="5943600" imgH="444500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specification of computation for an insulin pump</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r>
              <a:rPr lang="en-GB" dirty="0"/>
              <a:t>Use-cases are a </a:t>
            </a:r>
            <a:r>
              <a:rPr lang="en-GB" dirty="0" smtClean="0"/>
              <a:t>kind of scenario that are included in </a:t>
            </a:r>
            <a:r>
              <a:rPr lang="en-GB" dirty="0"/>
              <a:t>the </a:t>
            </a:r>
            <a:r>
              <a:rPr lang="en-GB" dirty="0" smtClean="0"/>
              <a:t>UML. </a:t>
            </a:r>
          </a:p>
          <a:p>
            <a:r>
              <a:rPr lang="en-GB" dirty="0" smtClean="0"/>
              <a:t>Use cases identify </a:t>
            </a:r>
            <a:r>
              <a:rPr lang="en-GB" dirty="0"/>
              <a:t>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smtClean="0"/>
              <a:t>UML sequence </a:t>
            </a:r>
            <a:r>
              <a:rPr lang="en-GB" dirty="0"/>
              <a:t>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cases for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4491601"/>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of a requirements 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structure of a requirements</a:t>
            </a:r>
            <a:r>
              <a:rPr lang="en-US" b="1" dirty="0" smtClean="0"/>
              <a:t> </a:t>
            </a:r>
            <a:r>
              <a:rPr lang="en-US" dirty="0" smtClean="0"/>
              <a:t>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smtClean="0"/>
              <a:t>Requirements validation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a:t>
            </a:r>
            <a:r>
              <a:rPr lang="en-GB" sz="2400" dirty="0" smtClean="0">
                <a:solidFill>
                  <a:srgbClr val="000000"/>
                </a:solidFill>
              </a:rPr>
              <a:t> Does </a:t>
            </a:r>
            <a:r>
              <a:rPr lang="en-GB" sz="2400" dirty="0">
                <a:solidFill>
                  <a:srgbClr val="000000"/>
                </a:solidFill>
              </a:rPr>
              <a:t>the system provide the functions which best support the customer’s needs?</a:t>
            </a:r>
          </a:p>
          <a:p>
            <a:r>
              <a:rPr lang="en-GB" sz="2400" dirty="0">
                <a:solidFill>
                  <a:srgbClr val="000000"/>
                </a:solidFill>
              </a:rPr>
              <a:t>Consistency</a:t>
            </a:r>
            <a:r>
              <a:rPr lang="en-GB" sz="2400" dirty="0" smtClean="0">
                <a:solidFill>
                  <a:srgbClr val="000000"/>
                </a:solidFill>
              </a:rPr>
              <a:t>. </a:t>
            </a:r>
            <a:r>
              <a:rPr lang="en-GB" sz="2400" dirty="0">
                <a:solidFill>
                  <a:srgbClr val="000000"/>
                </a:solidFill>
              </a:rPr>
              <a:t>Are there any requirements conflicts?</a:t>
            </a:r>
          </a:p>
          <a:p>
            <a:r>
              <a:rPr lang="en-GB" sz="2400" dirty="0" smtClean="0">
                <a:solidFill>
                  <a:srgbClr val="000000"/>
                </a:solidFill>
              </a:rPr>
              <a:t>Completeness. Are </a:t>
            </a:r>
            <a:r>
              <a:rPr lang="en-GB" sz="2400" dirty="0">
                <a:solidFill>
                  <a:srgbClr val="000000"/>
                </a:solidFill>
              </a:rPr>
              <a:t>all functions required by the customer included?</a:t>
            </a:r>
          </a:p>
          <a:p>
            <a:r>
              <a:rPr lang="en-GB" sz="2400" dirty="0" smtClean="0">
                <a:solidFill>
                  <a:srgbClr val="000000"/>
                </a:solidFill>
              </a:rPr>
              <a:t>Realism. Can </a:t>
            </a:r>
            <a:r>
              <a:rPr lang="en-GB" sz="2400" dirty="0">
                <a:solidFill>
                  <a:srgbClr val="000000"/>
                </a:solidFill>
              </a:rPr>
              <a:t>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change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 </a:t>
            </a:r>
          </a:p>
          <a:p>
            <a:pPr lvl="1"/>
            <a:r>
              <a:rPr lang="en-US" dirty="0" smtClean="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people who pay for a system and the users of that system are rarely the same people. </a:t>
            </a:r>
          </a:p>
          <a:p>
            <a:pPr lvl="1"/>
            <a:r>
              <a:rPr lang="en-US" dirty="0" smtClean="0"/>
              <a:t>System 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 </a:t>
            </a:r>
          </a:p>
          <a:p>
            <a:pPr lvl="1"/>
            <a:r>
              <a:rPr lang="en-US" dirty="0" smtClean="0"/>
              <a:t>The 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evolution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chemeClr val="tx1"/>
                </a:solidFill>
              </a:rPr>
              <a:t>Requirements identificati</a:t>
            </a:r>
            <a:r>
              <a:rPr lang="en-US" i="1" dirty="0" smtClean="0">
                <a:solidFill>
                  <a:srgbClr val="000000"/>
                </a:solidFill>
              </a:rPr>
              <a:t>on</a:t>
            </a:r>
            <a:r>
              <a:rPr lang="en-US" dirty="0" smtClean="0">
                <a:solidFill>
                  <a:srgbClr val="FF0000"/>
                </a:solidFill>
              </a:rPr>
              <a:t> </a:t>
            </a:r>
            <a:r>
              <a:rPr lang="en-US" dirty="0" smtClean="0"/>
              <a:t>Each requirement must be uniquely identified so that it can be cross-referenced with other requirements. </a:t>
            </a:r>
            <a:endParaRPr lang="en-GB" dirty="0" smtClean="0"/>
          </a:p>
          <a:p>
            <a:pPr lvl="1"/>
            <a:r>
              <a:rPr lang="en-US" i="1" dirty="0" smtClean="0">
                <a:solidFill>
                  <a:srgbClr val="000000"/>
                </a:solidFill>
              </a:rPr>
              <a:t>A change management process</a:t>
            </a:r>
            <a:r>
              <a:rPr lang="en-US" dirty="0" smtClean="0">
                <a:solidFill>
                  <a:srgbClr val="00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000000"/>
                </a:solidFill>
              </a:rPr>
              <a:t>Traceability policies</a:t>
            </a:r>
            <a:r>
              <a:rPr lang="en-US" dirty="0" smtClean="0">
                <a:solidFill>
                  <a:srgbClr val="000000"/>
                </a:solidFill>
              </a:rPr>
              <a:t> </a:t>
            </a:r>
            <a:r>
              <a:rPr lang="en-US" dirty="0" smtClean="0"/>
              <a:t>These policies define the relationships between each requirement and between the requirements and the system design that should be recorded. </a:t>
            </a:r>
            <a:endParaRPr lang="en-GB" dirty="0" smtClean="0"/>
          </a:p>
          <a:p>
            <a:pPr lvl="1"/>
            <a:r>
              <a:rPr lang="en-US" i="1" dirty="0" smtClean="0">
                <a:solidFill>
                  <a:srgbClr val="000000"/>
                </a:solidFill>
              </a:rPr>
              <a:t>Tool support</a:t>
            </a:r>
            <a:r>
              <a:rPr lang="en-US" dirty="0" smtClean="0">
                <a:solidFill>
                  <a:srgbClr val="000000"/>
                </a:solidFill>
              </a:rPr>
              <a:t> </a:t>
            </a:r>
            <a:r>
              <a:rPr lang="en-US" dirty="0" smtClean="0"/>
              <a:t>Tools 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solidFill>
                  <a:srgbClr val="000000"/>
                </a:solidFill>
              </a:rPr>
              <a:t>Deciding if a requirements change should be accepted</a:t>
            </a:r>
          </a:p>
          <a:p>
            <a:pPr lvl="1"/>
            <a:r>
              <a:rPr lang="en-US" i="1" dirty="0" smtClean="0">
                <a:solidFill>
                  <a:srgbClr val="000000"/>
                </a:solidFill>
              </a:rPr>
              <a:t>Problem analysis and change specification</a:t>
            </a:r>
            <a:r>
              <a:rPr lang="en-US" dirty="0" smtClean="0">
                <a:solidFill>
                  <a:srgbClr val="000000"/>
                </a:solidFill>
              </a:rPr>
              <a:t> </a:t>
            </a:r>
          </a:p>
          <a:p>
            <a:pPr lvl="2"/>
            <a:r>
              <a:rPr lang="en-US" dirty="0" smtClean="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smtClean="0">
              <a:solidFill>
                <a:srgbClr val="000000"/>
              </a:solidFill>
            </a:endParaRPr>
          </a:p>
          <a:p>
            <a:pPr lvl="1"/>
            <a:r>
              <a:rPr lang="en-US" i="1" dirty="0" smtClean="0">
                <a:solidFill>
                  <a:srgbClr val="000000"/>
                </a:solidFill>
              </a:rPr>
              <a:t>Change analysis and costing</a:t>
            </a:r>
            <a:r>
              <a:rPr lang="en-US" dirty="0" smtClean="0">
                <a:solidFill>
                  <a:srgbClr val="000000"/>
                </a:solidFill>
              </a:rPr>
              <a:t> </a:t>
            </a:r>
          </a:p>
          <a:p>
            <a:pPr lvl="2"/>
            <a:r>
              <a:rPr lang="en-US" dirty="0" smtClean="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smtClean="0">
              <a:solidFill>
                <a:srgbClr val="000000"/>
              </a:solidFill>
            </a:endParaRPr>
          </a:p>
          <a:p>
            <a:pPr lvl="1"/>
            <a:r>
              <a:rPr lang="en-US" dirty="0" smtClean="0">
                <a:solidFill>
                  <a:srgbClr val="000000"/>
                </a:solidFill>
              </a:rPr>
              <a:t>Change implementation </a:t>
            </a:r>
          </a:p>
          <a:p>
            <a:pPr lvl="2"/>
            <a:r>
              <a:rPr lang="en-US" dirty="0" smtClean="0">
                <a:solidFill>
                  <a:srgbClr val="000000"/>
                </a:solidFill>
              </a:rPr>
              <a:t>The requirements document and, where necessary, the system design and implementation, are modified. Ideally, the document should be organized so that changes can be easily implemented.</a:t>
            </a:r>
            <a:endParaRPr 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change management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 </a:t>
            </a:r>
          </a:p>
          <a:p>
            <a:r>
              <a:rPr lang="en-US" dirty="0" smtClean="0"/>
              <a:t>They often relate to the emergent properties of the system and therefore apply to the system as a whole.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The requirements engineering process is an iterative process that includes requirements elicitation, specification and validation.</a:t>
            </a:r>
            <a:endParaRPr lang="en-GB" dirty="0" smtClean="0"/>
          </a:p>
          <a:p>
            <a:r>
              <a:rPr lang="en-US" dirty="0" smtClean="0"/>
              <a:t>Requirements elicitation is an iterative process that can be represented as a spiral of activities – requirements discovery, requirements classification and organization, requirements negotiation and requirements documentation.</a:t>
            </a:r>
            <a:r>
              <a:rPr lang="en-GB" dirty="0" smtClean="0"/>
              <a:t> </a:t>
            </a:r>
          </a:p>
          <a:p>
            <a:r>
              <a:rPr lang="en-US" dirty="0"/>
              <a:t>You can use a range of techniques for requirements elicitation including </a:t>
            </a:r>
            <a:r>
              <a:rPr lang="en-US" dirty="0" smtClean="0"/>
              <a:t>interviews and ethnography. User stories and scenarios may be used to facilitate discussions.</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specification is the process of formally documenting the user and system requirements and creating a software requirements document.</a:t>
            </a:r>
          </a:p>
          <a:p>
            <a:r>
              <a:rPr lang="en-US" dirty="0" smtClean="0"/>
              <a:t>The </a:t>
            </a:r>
            <a:r>
              <a:rPr lang="en-US" dirty="0"/>
              <a:t>software requirements document is an agreed statement of the system requirements. It should be organized so that both system customers and software developers can use it.</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4426</TotalTime>
  <Words>5172</Words>
  <Application>Microsoft Office PowerPoint</Application>
  <PresentationFormat>On-screen Show (4:3)</PresentationFormat>
  <Paragraphs>661</Paragraphs>
  <Slides>83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83</vt:i4>
      </vt:variant>
    </vt:vector>
  </HeadingPairs>
  <TitlesOfParts>
    <vt:vector size="91" baseType="lpstr">
      <vt:lpstr>ＭＳ Ｐゴシック</vt:lpstr>
      <vt:lpstr>Arial</vt:lpstr>
      <vt:lpstr>Calibri</vt:lpstr>
      <vt:lpstr>Times New Roman</vt:lpstr>
      <vt:lpstr>Wingdings</vt:lpstr>
      <vt:lpstr>Zapf Dingbats</vt:lpstr>
      <vt:lpstr>SE10 slides</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Goals and requirements</vt:lpstr>
      <vt:lpstr>Usability requirements</vt:lpstr>
      <vt:lpstr>Metrics for specifying nonfunctional requirements</vt:lpstr>
      <vt:lpstr>Requirements engineering processes</vt:lpstr>
      <vt:lpstr>Requirements engineering processes</vt:lpstr>
      <vt:lpstr>A spiral view of the requirements engineering process </vt:lpstr>
      <vt:lpstr>Requirements elicitation</vt:lpstr>
      <vt:lpstr>Requirements elicitation and analysis</vt:lpstr>
      <vt:lpstr>Requirements elicitation</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Ethnography</vt:lpstr>
      <vt:lpstr>Scope of ethnography</vt:lpstr>
      <vt:lpstr>Focused ethnography</vt:lpstr>
      <vt:lpstr>Ethnography and prototyping for requirements analysis </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Ansa Liaqat</cp:lastModifiedBy>
  <cp:revision>32</cp:revision>
  <cp:lastPrinted>2010-01-11T10:54:43Z</cp:lastPrinted>
  <dcterms:created xsi:type="dcterms:W3CDTF">2010-01-08T19:43:52Z</dcterms:created>
  <dcterms:modified xsi:type="dcterms:W3CDTF">2026-03-27T10:14:30Z</dcterms:modified>
</cp:coreProperties>
</file>