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75" r:id="rId4"/>
    <p:sldId id="258" r:id="rId5"/>
    <p:sldId id="272" r:id="rId6"/>
    <p:sldId id="273" r:id="rId7"/>
    <p:sldId id="261" r:id="rId8"/>
    <p:sldId id="262" r:id="rId9"/>
    <p:sldId id="277" r:id="rId10"/>
    <p:sldId id="263" r:id="rId11"/>
    <p:sldId id="264" r:id="rId12"/>
    <p:sldId id="266" r:id="rId13"/>
    <p:sldId id="265" r:id="rId14"/>
    <p:sldId id="267" r:id="rId15"/>
    <p:sldId id="268" r:id="rId16"/>
    <p:sldId id="269" r:id="rId17"/>
    <p:sldId id="270" r:id="rId18"/>
    <p:sldId id="271"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C06A48F6-357D-49B6-AE10-5645C9104FB5}" type="datetimeFigureOut">
              <a:rPr lang="en-US" smtClean="0"/>
              <a:pPr/>
              <a:t>4/20/2026</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EDC3F6CB-7630-45B2-9504-94B1D04DC69F}"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C06A48F6-357D-49B6-AE10-5645C9104FB5}"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C3F6CB-7630-45B2-9504-94B1D04DC69F}"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C06A48F6-357D-49B6-AE10-5645C9104FB5}" type="datetimeFigureOut">
              <a:rPr lang="en-US" smtClean="0"/>
              <a:pPr/>
              <a:t>4/20/2026</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EDC3F6CB-7630-45B2-9504-94B1D04DC69F}"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C06A48F6-357D-49B6-AE10-5645C9104FB5}"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C3F6CB-7630-45B2-9504-94B1D04DC69F}"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C06A48F6-357D-49B6-AE10-5645C9104FB5}" type="datetimeFigureOut">
              <a:rPr lang="en-US" smtClean="0"/>
              <a:pPr/>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DC3F6CB-7630-45B2-9504-94B1D04DC69F}"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C06A48F6-357D-49B6-AE10-5645C9104FB5}" type="datetimeFigureOut">
              <a:rPr lang="en-US" smtClean="0"/>
              <a:pPr/>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DC3F6CB-7630-45B2-9504-94B1D04DC69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06A48F6-357D-49B6-AE10-5645C9104FB5}" type="datetimeFigureOut">
              <a:rPr lang="en-US" smtClean="0"/>
              <a:pPr/>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DC3F6CB-7630-45B2-9504-94B1D04DC69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C06A48F6-357D-49B6-AE10-5645C9104FB5}"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C3F6CB-7630-45B2-9504-94B1D04DC69F}"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C06A48F6-357D-49B6-AE10-5645C9104FB5}" type="datetimeFigureOut">
              <a:rPr lang="en-US" smtClean="0"/>
              <a:pPr/>
              <a:t>4/20/2026</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EDC3F6CB-7630-45B2-9504-94B1D04DC69F}"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06A48F6-357D-49B6-AE10-5645C9104FB5}"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C3F6CB-7630-45B2-9504-94B1D04DC69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06A48F6-357D-49B6-AE10-5645C9104FB5}"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C3F6CB-7630-45B2-9504-94B1D04DC69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C06A48F6-357D-49B6-AE10-5645C9104FB5}" type="datetimeFigureOut">
              <a:rPr lang="en-US" smtClean="0"/>
              <a:pPr/>
              <a:t>4/20/2026</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EDC3F6CB-7630-45B2-9504-94B1D04DC69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smtClean="0"/>
              <a:t>Decision Tables</a:t>
            </a:r>
            <a:endParaRPr lang="en-US" dirty="0"/>
          </a:p>
        </p:txBody>
      </p:sp>
      <p:sp>
        <p:nvSpPr>
          <p:cNvPr id="2" name="Title 1"/>
          <p:cNvSpPr>
            <a:spLocks noGrp="1"/>
          </p:cNvSpPr>
          <p:nvPr>
            <p:ph type="ctrTitle"/>
          </p:nvPr>
        </p:nvSpPr>
        <p:spPr/>
        <p:txBody>
          <a:bodyPr/>
          <a:lstStyle/>
          <a:p>
            <a:r>
              <a:rPr lang="en-US" dirty="0" smtClean="0"/>
              <a:t>Software Testing </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
            </a:r>
            <a:r>
              <a:rPr lang="en-US" b="1" dirty="0" smtClean="0"/>
              <a:t>ecision table</a:t>
            </a:r>
            <a:endParaRPr lang="en-US" dirty="0"/>
          </a:p>
        </p:txBody>
      </p:sp>
      <p:sp>
        <p:nvSpPr>
          <p:cNvPr id="3" name="Content Placeholder 2"/>
          <p:cNvSpPr>
            <a:spLocks noGrp="1"/>
          </p:cNvSpPr>
          <p:nvPr>
            <p:ph sz="quarter" idx="1"/>
          </p:nvPr>
        </p:nvSpPr>
        <p:spPr/>
        <p:txBody>
          <a:bodyPr/>
          <a:lstStyle/>
          <a:p>
            <a:r>
              <a:rPr lang="en-US" dirty="0" smtClean="0"/>
              <a:t>A</a:t>
            </a:r>
            <a:r>
              <a:rPr lang="en-US" b="1" dirty="0"/>
              <a:t> decision table</a:t>
            </a:r>
            <a:r>
              <a:rPr lang="en-US" dirty="0"/>
              <a:t> is a good way to deal with different combination inputs with their associated outputs and also called cause-effect </a:t>
            </a:r>
            <a:r>
              <a:rPr lang="en-US" dirty="0" smtClean="0"/>
              <a:t>table.</a:t>
            </a:r>
          </a:p>
          <a:p>
            <a:endParaRPr lang="en-US" dirty="0"/>
          </a:p>
          <a:p>
            <a:r>
              <a:rPr lang="en-US" dirty="0" smtClean="0"/>
              <a:t>Conditions (inputs, rules)</a:t>
            </a:r>
          </a:p>
          <a:p>
            <a:r>
              <a:rPr lang="en-US" dirty="0" smtClean="0"/>
              <a:t>Actions (what system should do)</a:t>
            </a:r>
          </a:p>
          <a:p>
            <a:endParaRPr lang="en-US" dirty="0"/>
          </a:p>
          <a:p>
            <a:r>
              <a:rPr lang="en-US" dirty="0" smtClean="0"/>
              <a:t>If these condition happen, what should the system do?</a:t>
            </a:r>
            <a:endParaRPr lang="en-US" dirty="0"/>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quarter" idx="1"/>
          </p:nvPr>
        </p:nvSpPr>
        <p:spPr/>
        <p:txBody>
          <a:bodyPr/>
          <a:lstStyle/>
          <a:p>
            <a:pPr marL="0" indent="0">
              <a:buNone/>
            </a:pPr>
            <a:r>
              <a:rPr lang="en-US" dirty="0" smtClean="0"/>
              <a:t>Loan app (approve/ reject)</a:t>
            </a:r>
            <a:endParaRPr lang="en-GB" dirty="0"/>
          </a:p>
          <a:p>
            <a:r>
              <a:rPr lang="en-US" dirty="0" smtClean="0"/>
              <a:t>Age&gt;18</a:t>
            </a:r>
          </a:p>
          <a:p>
            <a:r>
              <a:rPr lang="en-US" dirty="0" smtClean="0"/>
              <a:t>Income&gt;50k</a:t>
            </a:r>
          </a:p>
          <a:p>
            <a:r>
              <a:rPr lang="en-US" dirty="0" smtClean="0"/>
              <a:t>No criminal recorder</a:t>
            </a:r>
          </a:p>
          <a:p>
            <a:endParaRPr lang="en-US" dirty="0"/>
          </a:p>
          <a:p>
            <a:endParaRPr lang="en-US" dirty="0"/>
          </a:p>
          <a:p>
            <a:r>
              <a:rPr lang="en-US" dirty="0"/>
              <a:t>3</a:t>
            </a:r>
            <a:r>
              <a:rPr lang="en-US" dirty="0" smtClean="0"/>
              <a:t> =&gt; 2^n = 8</a:t>
            </a:r>
          </a:p>
          <a:p>
            <a:r>
              <a:rPr lang="en-US" dirty="0"/>
              <a:t>8</a:t>
            </a:r>
            <a:endParaRPr lang="en-GB" dirty="0"/>
          </a:p>
        </p:txBody>
      </p:sp>
    </p:spTree>
    <p:extLst>
      <p:ext uri="{BB962C8B-B14F-4D97-AF65-F5344CB8AC3E}">
        <p14:creationId xmlns:p14="http://schemas.microsoft.com/office/powerpoint/2010/main" val="284544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Decision table</a:t>
            </a:r>
            <a:endParaRPr lang="en-US" dirty="0"/>
          </a:p>
        </p:txBody>
      </p:sp>
      <p:sp>
        <p:nvSpPr>
          <p:cNvPr id="3" name="Content Placeholder 2"/>
          <p:cNvSpPr>
            <a:spLocks noGrp="1"/>
          </p:cNvSpPr>
          <p:nvPr>
            <p:ph sz="quarter" idx="1"/>
          </p:nvPr>
        </p:nvSpPr>
        <p:spPr/>
        <p:txBody>
          <a:bodyPr/>
          <a:lstStyle/>
          <a:p>
            <a:r>
              <a:rPr lang="en-US" b="1" dirty="0"/>
              <a:t>Decision table testing is black box test design technique to determine the test </a:t>
            </a:r>
            <a:r>
              <a:rPr lang="en-US" b="1" dirty="0" smtClean="0"/>
              <a:t>scenarios</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60990"/>
            <a:ext cx="7772400" cy="1143000"/>
          </a:xfrm>
        </p:spPr>
        <p:txBody>
          <a:bodyPr/>
          <a:lstStyle/>
          <a:p>
            <a:r>
              <a:rPr lang="en-US" b="1" dirty="0"/>
              <a:t>Decision table</a:t>
            </a:r>
            <a:endParaRPr lang="en-GB" dirty="0"/>
          </a:p>
        </p:txBody>
      </p:sp>
      <p:sp>
        <p:nvSpPr>
          <p:cNvPr id="4" name="Rectangle 1"/>
          <p:cNvSpPr>
            <a:spLocks noGrp="1" noChangeArrowheads="1"/>
          </p:cNvSpPr>
          <p:nvPr>
            <p:ph sz="quarter" idx="1"/>
          </p:nvPr>
        </p:nvSpPr>
        <p:spPr bwMode="auto">
          <a:xfrm>
            <a:off x="883692" y="1752600"/>
            <a:ext cx="7803107"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Arial" panose="020B0604020202020204" pitchFamily="34" charset="0"/>
              </a:rPr>
              <a:t>Step A (RE phase)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panose="020B0604020202020204" pitchFamily="34" charset="0"/>
              </a:rPr>
              <a:t>“We use decision tables to make sure we</a:t>
            </a:r>
            <a:r>
              <a:rPr kumimoji="0" lang="en-US" sz="2400" b="0" i="0" u="none" strike="noStrike" cap="none" normalizeH="0" dirty="0" smtClean="0">
                <a:ln>
                  <a:noFill/>
                </a:ln>
                <a:solidFill>
                  <a:schemeClr val="tx1"/>
                </a:solidFill>
                <a:effectLst/>
                <a:latin typeface="Arial" panose="020B0604020202020204" pitchFamily="34" charset="0"/>
              </a:rPr>
              <a:t> </a:t>
            </a:r>
            <a:r>
              <a:rPr kumimoji="0" lang="en-US" sz="2400" b="0" i="0" u="none" strike="noStrike" cap="none" normalizeH="0" baseline="0" dirty="0" smtClean="0">
                <a:ln>
                  <a:noFill/>
                </a:ln>
                <a:solidFill>
                  <a:schemeClr val="tx1"/>
                </a:solidFill>
                <a:effectLst/>
                <a:latin typeface="Arial" panose="020B0604020202020204" pitchFamily="34" charset="0"/>
              </a:rPr>
              <a:t>understand all business rules correctly.”</a:t>
            </a:r>
            <a:endParaRPr kumimoji="0" lang="en-US" sz="24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Arial" panose="020B0604020202020204" pitchFamily="34" charset="0"/>
              </a:rPr>
              <a:t>Step B (Testing phase)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panose="020B0604020202020204" pitchFamily="34" charset="0"/>
              </a:rPr>
              <a:t>“We use the same decision table to ensure we test every rule systematically.”</a:t>
            </a:r>
            <a:endParaRPr kumimoji="0" lang="en-US" sz="24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Arial" panose="020B0604020202020204" pitchFamily="34" charset="0"/>
              </a:rPr>
              <a:t>Key message to students: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panose="020B0604020202020204" pitchFamily="34" charset="0"/>
              </a:rPr>
              <a:t>“Requirements define the rules; testing ensures every rule is exercised.”</a:t>
            </a:r>
          </a:p>
        </p:txBody>
      </p:sp>
    </p:spTree>
    <p:extLst>
      <p:ext uri="{BB962C8B-B14F-4D97-AF65-F5344CB8AC3E}">
        <p14:creationId xmlns:p14="http://schemas.microsoft.com/office/powerpoint/2010/main" val="7589014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Big Picture Relationship</a:t>
            </a:r>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101057863"/>
              </p:ext>
            </p:extLst>
          </p:nvPr>
        </p:nvGraphicFramePr>
        <p:xfrm>
          <a:off x="762000" y="1981200"/>
          <a:ext cx="7772400" cy="3169920"/>
        </p:xfrm>
        <a:graphic>
          <a:graphicData uri="http://schemas.openxmlformats.org/drawingml/2006/table">
            <a:tbl>
              <a:tblPr/>
              <a:tblGrid>
                <a:gridCol w="2590800"/>
                <a:gridCol w="2590800"/>
                <a:gridCol w="2590800"/>
              </a:tblGrid>
              <a:tr h="452846">
                <a:tc>
                  <a:txBody>
                    <a:bodyPr/>
                    <a:lstStyle/>
                    <a:p>
                      <a:r>
                        <a:rPr lang="en-GB" dirty="0"/>
                        <a:t>Technique</a:t>
                      </a:r>
                    </a:p>
                  </a:txBody>
                  <a:tcPr anchor="ctr">
                    <a:lnL>
                      <a:noFill/>
                    </a:lnL>
                    <a:lnR>
                      <a:noFill/>
                    </a:lnR>
                    <a:lnT>
                      <a:noFill/>
                    </a:lnT>
                    <a:lnB>
                      <a:noFill/>
                    </a:lnB>
                  </a:tcPr>
                </a:tc>
                <a:tc>
                  <a:txBody>
                    <a:bodyPr/>
                    <a:lstStyle/>
                    <a:p>
                      <a:r>
                        <a:rPr lang="en-GB"/>
                        <a:t>What it models</a:t>
                      </a:r>
                    </a:p>
                  </a:txBody>
                  <a:tcPr anchor="ctr">
                    <a:lnL>
                      <a:noFill/>
                    </a:lnL>
                    <a:lnR>
                      <a:noFill/>
                    </a:lnR>
                    <a:lnT>
                      <a:noFill/>
                    </a:lnT>
                    <a:lnB>
                      <a:noFill/>
                    </a:lnB>
                  </a:tcPr>
                </a:tc>
                <a:tc>
                  <a:txBody>
                    <a:bodyPr/>
                    <a:lstStyle/>
                    <a:p>
                      <a:r>
                        <a:rPr lang="en-GB"/>
                        <a:t>Main idea</a:t>
                      </a:r>
                    </a:p>
                  </a:txBody>
                  <a:tcPr anchor="ctr">
                    <a:lnL>
                      <a:noFill/>
                    </a:lnL>
                    <a:lnR>
                      <a:noFill/>
                    </a:lnR>
                    <a:lnT>
                      <a:noFill/>
                    </a:lnT>
                    <a:lnB>
                      <a:noFill/>
                    </a:lnB>
                  </a:tcPr>
                </a:tc>
              </a:tr>
              <a:tr h="792480">
                <a:tc>
                  <a:txBody>
                    <a:bodyPr/>
                    <a:lstStyle/>
                    <a:p>
                      <a:r>
                        <a:rPr lang="en-GB" dirty="0"/>
                        <a:t>Equivalence Partitioning (EP)</a:t>
                      </a:r>
                    </a:p>
                  </a:txBody>
                  <a:tcPr anchor="ctr">
                    <a:lnL>
                      <a:noFill/>
                    </a:lnL>
                    <a:lnR>
                      <a:noFill/>
                    </a:lnR>
                    <a:lnT>
                      <a:noFill/>
                    </a:lnT>
                    <a:lnB>
                      <a:noFill/>
                    </a:lnB>
                  </a:tcPr>
                </a:tc>
                <a:tc>
                  <a:txBody>
                    <a:bodyPr/>
                    <a:lstStyle/>
                    <a:p>
                      <a:r>
                        <a:rPr lang="en-GB" dirty="0"/>
                        <a:t>Input domains</a:t>
                      </a:r>
                    </a:p>
                  </a:txBody>
                  <a:tcPr anchor="ctr">
                    <a:lnL>
                      <a:noFill/>
                    </a:lnL>
                    <a:lnR>
                      <a:noFill/>
                    </a:lnR>
                    <a:lnT>
                      <a:noFill/>
                    </a:lnT>
                    <a:lnB>
                      <a:noFill/>
                    </a:lnB>
                  </a:tcPr>
                </a:tc>
                <a:tc>
                  <a:txBody>
                    <a:bodyPr/>
                    <a:lstStyle/>
                    <a:p>
                      <a:r>
                        <a:rPr lang="en-US" dirty="0"/>
                        <a:t>Divide inputs into valid/invalid groups</a:t>
                      </a:r>
                    </a:p>
                  </a:txBody>
                  <a:tcPr anchor="ctr">
                    <a:lnL>
                      <a:noFill/>
                    </a:lnL>
                    <a:lnR>
                      <a:noFill/>
                    </a:lnR>
                    <a:lnT>
                      <a:noFill/>
                    </a:lnT>
                    <a:lnB>
                      <a:noFill/>
                    </a:lnB>
                  </a:tcPr>
                </a:tc>
              </a:tr>
              <a:tr h="792480">
                <a:tc>
                  <a:txBody>
                    <a:bodyPr/>
                    <a:lstStyle/>
                    <a:p>
                      <a:r>
                        <a:rPr lang="en-GB" dirty="0"/>
                        <a:t>Boundary Value Analysis (BVA)</a:t>
                      </a:r>
                    </a:p>
                  </a:txBody>
                  <a:tcPr anchor="ctr">
                    <a:lnL>
                      <a:noFill/>
                    </a:lnL>
                    <a:lnR>
                      <a:noFill/>
                    </a:lnR>
                    <a:lnT>
                      <a:noFill/>
                    </a:lnT>
                    <a:lnB>
                      <a:noFill/>
                    </a:lnB>
                  </a:tcPr>
                </a:tc>
                <a:tc>
                  <a:txBody>
                    <a:bodyPr/>
                    <a:lstStyle/>
                    <a:p>
                      <a:r>
                        <a:rPr lang="en-GB" dirty="0"/>
                        <a:t>Input boundaries</a:t>
                      </a:r>
                    </a:p>
                  </a:txBody>
                  <a:tcPr anchor="ctr">
                    <a:lnL>
                      <a:noFill/>
                    </a:lnL>
                    <a:lnR>
                      <a:noFill/>
                    </a:lnR>
                    <a:lnT>
                      <a:noFill/>
                    </a:lnT>
                    <a:lnB>
                      <a:noFill/>
                    </a:lnB>
                  </a:tcPr>
                </a:tc>
                <a:tc>
                  <a:txBody>
                    <a:bodyPr/>
                    <a:lstStyle/>
                    <a:p>
                      <a:r>
                        <a:rPr lang="en-GB" dirty="0"/>
                        <a:t>Test edges of partitions</a:t>
                      </a:r>
                    </a:p>
                  </a:txBody>
                  <a:tcPr anchor="ctr">
                    <a:lnL>
                      <a:noFill/>
                    </a:lnL>
                    <a:lnR>
                      <a:noFill/>
                    </a:lnR>
                    <a:lnT>
                      <a:noFill/>
                    </a:lnT>
                    <a:lnB>
                      <a:noFill/>
                    </a:lnB>
                  </a:tcPr>
                </a:tc>
              </a:tr>
              <a:tr h="1132114">
                <a:tc>
                  <a:txBody>
                    <a:bodyPr/>
                    <a:lstStyle/>
                    <a:p>
                      <a:r>
                        <a:rPr lang="en-GB" dirty="0"/>
                        <a:t>Decision Tables (DT)</a:t>
                      </a:r>
                    </a:p>
                  </a:txBody>
                  <a:tcPr anchor="ctr">
                    <a:lnL>
                      <a:noFill/>
                    </a:lnL>
                    <a:lnR>
                      <a:noFill/>
                    </a:lnR>
                    <a:lnT>
                      <a:noFill/>
                    </a:lnT>
                    <a:lnB>
                      <a:noFill/>
                    </a:lnB>
                  </a:tcPr>
                </a:tc>
                <a:tc>
                  <a:txBody>
                    <a:bodyPr/>
                    <a:lstStyle/>
                    <a:p>
                      <a:r>
                        <a:rPr lang="en-GB" dirty="0"/>
                        <a:t>Condition combinations</a:t>
                      </a:r>
                    </a:p>
                  </a:txBody>
                  <a:tcPr anchor="ctr">
                    <a:lnL>
                      <a:noFill/>
                    </a:lnL>
                    <a:lnR>
                      <a:noFill/>
                    </a:lnR>
                    <a:lnT>
                      <a:noFill/>
                    </a:lnT>
                    <a:lnB>
                      <a:noFill/>
                    </a:lnB>
                  </a:tcPr>
                </a:tc>
                <a:tc>
                  <a:txBody>
                    <a:bodyPr/>
                    <a:lstStyle/>
                    <a:p>
                      <a:r>
                        <a:rPr lang="en-US" dirty="0"/>
                        <a:t>Test logical rules across multiple conditions</a:t>
                      </a:r>
                    </a:p>
                  </a:txBody>
                  <a:tcPr anchor="ctr">
                    <a:lnL>
                      <a:noFill/>
                    </a:lnL>
                    <a:lnR>
                      <a:noFill/>
                    </a:lnR>
                    <a:lnT>
                      <a:noFill/>
                    </a:lnT>
                    <a:lnB>
                      <a:noFill/>
                    </a:lnB>
                  </a:tcPr>
                </a:tc>
              </a:tr>
            </a:tbl>
          </a:graphicData>
        </a:graphic>
      </p:graphicFrame>
      <p:sp>
        <p:nvSpPr>
          <p:cNvPr id="5" name="Rectangle 4"/>
          <p:cNvSpPr/>
          <p:nvPr/>
        </p:nvSpPr>
        <p:spPr>
          <a:xfrm>
            <a:off x="889379" y="5562600"/>
            <a:ext cx="7620000" cy="646331"/>
          </a:xfrm>
          <a:prstGeom prst="rect">
            <a:avLst/>
          </a:prstGeom>
        </p:spPr>
        <p:txBody>
          <a:bodyPr wrap="square">
            <a:spAutoFit/>
          </a:bodyPr>
          <a:lstStyle/>
          <a:p>
            <a:r>
              <a:rPr lang="en-US" dirty="0"/>
              <a:t>EP and BVA focus on </a:t>
            </a:r>
            <a:r>
              <a:rPr lang="en-US" b="1" dirty="0"/>
              <a:t>single input variables</a:t>
            </a:r>
            <a:r>
              <a:rPr lang="en-US" dirty="0"/>
              <a:t>, while decision tables focus on </a:t>
            </a:r>
            <a:r>
              <a:rPr lang="en-US" b="1" dirty="0"/>
              <a:t>multiple interacting conditions</a:t>
            </a:r>
            <a:r>
              <a:rPr lang="en-US" dirty="0"/>
              <a:t>.</a:t>
            </a:r>
            <a:endParaRPr lang="en-GB" dirty="0"/>
          </a:p>
        </p:txBody>
      </p:sp>
    </p:spTree>
    <p:extLst>
      <p:ext uri="{BB962C8B-B14F-4D97-AF65-F5344CB8AC3E}">
        <p14:creationId xmlns:p14="http://schemas.microsoft.com/office/powerpoint/2010/main" val="33769078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Decision table</a:t>
            </a:r>
            <a:endParaRPr lang="en-US" dirty="0"/>
          </a:p>
        </p:txBody>
      </p:sp>
      <p:sp>
        <p:nvSpPr>
          <p:cNvPr id="3" name="Content Placeholder 2"/>
          <p:cNvSpPr>
            <a:spLocks noGrp="1"/>
          </p:cNvSpPr>
          <p:nvPr>
            <p:ph sz="quarter" idx="1"/>
          </p:nvPr>
        </p:nvSpPr>
        <p:spPr/>
        <p:txBody>
          <a:bodyPr/>
          <a:lstStyle/>
          <a:p>
            <a:r>
              <a:rPr lang="en-US" b="1" dirty="0"/>
              <a:t>Example 1:</a:t>
            </a:r>
            <a:r>
              <a:rPr lang="en-US" dirty="0"/>
              <a:t> Decision Base Table for Login Screen</a:t>
            </a:r>
          </a:p>
          <a:p>
            <a:r>
              <a:rPr lang="en-US" dirty="0"/>
              <a:t>Let's create a decision table for a login screen</a:t>
            </a:r>
            <a:r>
              <a:rPr lang="en-US" dirty="0" smtClean="0"/>
              <a:t>.</a:t>
            </a:r>
          </a:p>
          <a:p>
            <a:endParaRPr lang="en-US" dirty="0"/>
          </a:p>
          <a:p>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pic>
        <p:nvPicPr>
          <p:cNvPr id="2050" name="Picture 2"/>
          <p:cNvPicPr>
            <a:picLocks noGrp="1" noChangeAspect="1" noChangeArrowheads="1"/>
          </p:cNvPicPr>
          <p:nvPr>
            <p:ph sz="quarter" idx="1"/>
          </p:nvPr>
        </p:nvPicPr>
        <p:blipFill>
          <a:blip r:embed="rId2"/>
          <a:srcRect/>
          <a:stretch>
            <a:fillRect/>
          </a:stretch>
        </p:blipFill>
        <p:spPr bwMode="auto">
          <a:xfrm>
            <a:off x="1295401" y="2209800"/>
            <a:ext cx="5795962" cy="299640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
            <p:extLst>
              <p:ext uri="{D42A27DB-BD31-4B8C-83A1-F6EECF244321}">
                <p14:modId xmlns:p14="http://schemas.microsoft.com/office/powerpoint/2010/main" val="4165502628"/>
              </p:ext>
            </p:extLst>
          </p:nvPr>
        </p:nvGraphicFramePr>
        <p:xfrm>
          <a:off x="914400" y="1676400"/>
          <a:ext cx="7772400" cy="2387600"/>
        </p:xfrm>
        <a:graphic>
          <a:graphicData uri="http://schemas.openxmlformats.org/drawingml/2006/table">
            <a:tbl>
              <a:tblPr firstRow="1" bandRow="1">
                <a:tableStyleId>{5C22544A-7EE6-4342-B048-85BDC9FD1C3A}</a:tableStyleId>
              </a:tblPr>
              <a:tblGrid>
                <a:gridCol w="1554480"/>
                <a:gridCol w="1554480"/>
                <a:gridCol w="1554480"/>
                <a:gridCol w="1554480"/>
                <a:gridCol w="1554480"/>
              </a:tblGrid>
              <a:tr h="142240">
                <a:tc>
                  <a:txBody>
                    <a:bodyPr/>
                    <a:lstStyle/>
                    <a:p>
                      <a:endParaRPr lang="en-GB" dirty="0"/>
                    </a:p>
                  </a:txBody>
                  <a:tcPr/>
                </a:tc>
                <a:tc>
                  <a:txBody>
                    <a:bodyPr/>
                    <a:lstStyle/>
                    <a:p>
                      <a:r>
                        <a:rPr lang="en-US" dirty="0" smtClean="0"/>
                        <a:t>Rule 1</a:t>
                      </a:r>
                      <a:endParaRPr lang="en-GB" dirty="0"/>
                    </a:p>
                  </a:txBody>
                  <a:tcPr/>
                </a:tc>
                <a:tc>
                  <a:txBody>
                    <a:bodyPr/>
                    <a:lstStyle/>
                    <a:p>
                      <a:r>
                        <a:rPr lang="en-US" dirty="0" smtClean="0"/>
                        <a:t>R2</a:t>
                      </a:r>
                      <a:endParaRPr lang="en-GB" dirty="0"/>
                    </a:p>
                  </a:txBody>
                  <a:tcPr/>
                </a:tc>
                <a:tc>
                  <a:txBody>
                    <a:bodyPr/>
                    <a:lstStyle/>
                    <a:p>
                      <a:r>
                        <a:rPr lang="en-US" dirty="0" smtClean="0"/>
                        <a:t>R3</a:t>
                      </a:r>
                      <a:endParaRPr lang="en-GB" dirty="0"/>
                    </a:p>
                  </a:txBody>
                  <a:tcPr/>
                </a:tc>
                <a:tc>
                  <a:txBody>
                    <a:bodyPr/>
                    <a:lstStyle/>
                    <a:p>
                      <a:r>
                        <a:rPr lang="en-US" dirty="0" smtClean="0"/>
                        <a:t>R4</a:t>
                      </a:r>
                      <a:endParaRPr lang="en-GB" dirty="0"/>
                    </a:p>
                  </a:txBody>
                  <a:tcPr/>
                </a:tc>
              </a:tr>
              <a:tr h="370840">
                <a:tc>
                  <a:txBody>
                    <a:bodyPr/>
                    <a:lstStyle/>
                    <a:p>
                      <a:r>
                        <a:rPr lang="en-US" dirty="0" smtClean="0"/>
                        <a:t>Email</a:t>
                      </a:r>
                      <a:endParaRPr lang="en-GB" dirty="0"/>
                    </a:p>
                  </a:txBody>
                  <a:tcPr/>
                </a:tc>
                <a:tc>
                  <a:txBody>
                    <a:bodyPr/>
                    <a:lstStyle/>
                    <a:p>
                      <a:r>
                        <a:rPr lang="en-US" dirty="0" smtClean="0"/>
                        <a:t>T</a:t>
                      </a:r>
                      <a:endParaRPr lang="en-GB" dirty="0"/>
                    </a:p>
                  </a:txBody>
                  <a:tcPr/>
                </a:tc>
                <a:tc>
                  <a:txBody>
                    <a:bodyPr/>
                    <a:lstStyle/>
                    <a:p>
                      <a:r>
                        <a:rPr lang="en-US" dirty="0" smtClean="0"/>
                        <a:t>T</a:t>
                      </a:r>
                      <a:endParaRPr lang="en-GB" dirty="0"/>
                    </a:p>
                  </a:txBody>
                  <a:tcPr/>
                </a:tc>
                <a:tc>
                  <a:txBody>
                    <a:bodyPr/>
                    <a:lstStyle/>
                    <a:p>
                      <a:r>
                        <a:rPr lang="en-US" dirty="0" smtClean="0"/>
                        <a:t>F</a:t>
                      </a:r>
                      <a:endParaRPr lang="en-GB" dirty="0"/>
                    </a:p>
                  </a:txBody>
                  <a:tcPr/>
                </a:tc>
                <a:tc>
                  <a:txBody>
                    <a:bodyPr/>
                    <a:lstStyle/>
                    <a:p>
                      <a:r>
                        <a:rPr lang="en-US" dirty="0" smtClean="0"/>
                        <a:t>F</a:t>
                      </a:r>
                      <a:endParaRPr lang="en-GB" dirty="0"/>
                    </a:p>
                  </a:txBody>
                  <a:tcPr/>
                </a:tc>
              </a:tr>
              <a:tr h="370840">
                <a:tc>
                  <a:txBody>
                    <a:bodyPr/>
                    <a:lstStyle/>
                    <a:p>
                      <a:r>
                        <a:rPr lang="en-US" dirty="0" smtClean="0"/>
                        <a:t>Password</a:t>
                      </a:r>
                      <a:endParaRPr lang="en-GB" dirty="0"/>
                    </a:p>
                  </a:txBody>
                  <a:tcPr/>
                </a:tc>
                <a:tc>
                  <a:txBody>
                    <a:bodyPr/>
                    <a:lstStyle/>
                    <a:p>
                      <a:r>
                        <a:rPr lang="en-US" dirty="0" smtClean="0"/>
                        <a:t>T</a:t>
                      </a:r>
                      <a:endParaRPr lang="en-GB" dirty="0"/>
                    </a:p>
                  </a:txBody>
                  <a:tcPr/>
                </a:tc>
                <a:tc>
                  <a:txBody>
                    <a:bodyPr/>
                    <a:lstStyle/>
                    <a:p>
                      <a:r>
                        <a:rPr lang="en-US" dirty="0" smtClean="0"/>
                        <a:t>F</a:t>
                      </a:r>
                      <a:endParaRPr lang="en-GB" dirty="0"/>
                    </a:p>
                  </a:txBody>
                  <a:tcPr/>
                </a:tc>
                <a:tc>
                  <a:txBody>
                    <a:bodyPr/>
                    <a:lstStyle/>
                    <a:p>
                      <a:r>
                        <a:rPr lang="en-US" dirty="0" smtClean="0"/>
                        <a:t>T</a:t>
                      </a:r>
                      <a:endParaRPr lang="en-GB" dirty="0"/>
                    </a:p>
                  </a:txBody>
                  <a:tcPr/>
                </a:tc>
                <a:tc>
                  <a:txBody>
                    <a:bodyPr/>
                    <a:lstStyle/>
                    <a:p>
                      <a:r>
                        <a:rPr lang="en-US" dirty="0" smtClean="0"/>
                        <a:t>F</a:t>
                      </a:r>
                      <a:endParaRPr lang="en-GB" dirty="0"/>
                    </a:p>
                  </a:txBody>
                  <a:tcPr/>
                </a:tc>
              </a:tr>
              <a:tr h="370840">
                <a:tc>
                  <a:txBody>
                    <a:bodyPr/>
                    <a:lstStyle/>
                    <a:p>
                      <a:r>
                        <a:rPr lang="en-US" dirty="0" smtClean="0"/>
                        <a:t>Direct to home screen</a:t>
                      </a:r>
                      <a:endParaRPr lang="en-GB" dirty="0"/>
                    </a:p>
                  </a:txBody>
                  <a:tcPr/>
                </a:tc>
                <a:tc>
                  <a:txBody>
                    <a:bodyPr/>
                    <a:lstStyle/>
                    <a:p>
                      <a:r>
                        <a:rPr lang="en-US" dirty="0" smtClean="0"/>
                        <a:t>+</a:t>
                      </a:r>
                      <a:endParaRPr lang="en-GB" dirty="0"/>
                    </a:p>
                  </a:txBody>
                  <a:tcPr/>
                </a:tc>
                <a:tc>
                  <a:txBody>
                    <a:bodyPr/>
                    <a:lstStyle/>
                    <a:p>
                      <a:endParaRPr lang="en-GB" dirty="0"/>
                    </a:p>
                  </a:txBody>
                  <a:tcPr/>
                </a:tc>
                <a:tc>
                  <a:txBody>
                    <a:bodyPr/>
                    <a:lstStyle/>
                    <a:p>
                      <a:endParaRPr lang="en-GB" dirty="0"/>
                    </a:p>
                  </a:txBody>
                  <a:tcPr/>
                </a:tc>
                <a:tc>
                  <a:txBody>
                    <a:bodyPr/>
                    <a:lstStyle/>
                    <a:p>
                      <a:endParaRPr lang="en-GB"/>
                    </a:p>
                  </a:txBody>
                  <a:tcPr/>
                </a:tc>
              </a:tr>
              <a:tr h="370840">
                <a:tc>
                  <a:txBody>
                    <a:bodyPr/>
                    <a:lstStyle/>
                    <a:p>
                      <a:r>
                        <a:rPr lang="en-US" dirty="0" smtClean="0"/>
                        <a:t>Error message</a:t>
                      </a:r>
                      <a:endParaRPr lang="en-GB" dirty="0"/>
                    </a:p>
                  </a:txBody>
                  <a:tcPr/>
                </a:tc>
                <a:tc>
                  <a:txBody>
                    <a:bodyPr/>
                    <a:lstStyle/>
                    <a:p>
                      <a:endParaRPr lang="en-GB"/>
                    </a:p>
                  </a:txBody>
                  <a:tcPr/>
                </a:tc>
                <a:tc>
                  <a:txBody>
                    <a:bodyPr/>
                    <a:lstStyle/>
                    <a:p>
                      <a:r>
                        <a:rPr lang="en-US" dirty="0" smtClean="0"/>
                        <a:t>+</a:t>
                      </a:r>
                      <a:endParaRPr lang="en-GB" dirty="0"/>
                    </a:p>
                  </a:txBody>
                  <a:tcPr/>
                </a:tc>
                <a:tc>
                  <a:txBody>
                    <a:bodyPr/>
                    <a:lstStyle/>
                    <a:p>
                      <a:r>
                        <a:rPr lang="en-US" dirty="0" smtClean="0"/>
                        <a:t>+</a:t>
                      </a:r>
                      <a:endParaRPr lang="en-GB" dirty="0"/>
                    </a:p>
                  </a:txBody>
                  <a:tcPr/>
                </a:tc>
                <a:tc>
                  <a:txBody>
                    <a:bodyPr/>
                    <a:lstStyle/>
                    <a:p>
                      <a:r>
                        <a:rPr lang="en-US" dirty="0" smtClean="0"/>
                        <a:t>+</a:t>
                      </a:r>
                      <a:endParaRPr lang="en-GB" dirty="0"/>
                    </a:p>
                  </a:txBody>
                  <a:tcPr/>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874373111"/>
              </p:ext>
            </p:extLst>
          </p:nvPr>
        </p:nvGraphicFramePr>
        <p:xfrm>
          <a:off x="990600" y="4800600"/>
          <a:ext cx="6096000" cy="1554480"/>
        </p:xfrm>
        <a:graphic>
          <a:graphicData uri="http://schemas.openxmlformats.org/drawingml/2006/table">
            <a:tbl>
              <a:tblPr firstRow="1" bandRow="1">
                <a:tableStyleId>{5C22544A-7EE6-4342-B048-85BDC9FD1C3A}</a:tableStyleId>
              </a:tblPr>
              <a:tblGrid>
                <a:gridCol w="1219200"/>
                <a:gridCol w="1219200"/>
                <a:gridCol w="1524000"/>
                <a:gridCol w="914400"/>
                <a:gridCol w="1219200"/>
              </a:tblGrid>
              <a:tr h="0">
                <a:tc>
                  <a:txBody>
                    <a:bodyPr/>
                    <a:lstStyle/>
                    <a:p>
                      <a:endParaRPr lang="en-GB" dirty="0"/>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dirty="0"/>
                    </a:p>
                  </a:txBody>
                  <a:tcPr/>
                </a:tc>
              </a:tr>
              <a:tr h="370840">
                <a:tc>
                  <a:txBody>
                    <a:bodyPr/>
                    <a:lstStyle/>
                    <a:p>
                      <a:r>
                        <a:rPr lang="en-US" dirty="0" smtClean="0"/>
                        <a:t>TC_001</a:t>
                      </a:r>
                      <a:endParaRPr lang="en-GB" dirty="0"/>
                    </a:p>
                  </a:txBody>
                  <a:tcPr/>
                </a:tc>
                <a:tc>
                  <a:txBody>
                    <a:bodyPr/>
                    <a:lstStyle/>
                    <a:p>
                      <a:r>
                        <a:rPr lang="en-US" dirty="0" smtClean="0"/>
                        <a:t>CHECK</a:t>
                      </a:r>
                      <a:r>
                        <a:rPr lang="en-US" baseline="0" dirty="0" smtClean="0"/>
                        <a:t> THE LOGIN</a:t>
                      </a:r>
                      <a:endParaRPr lang="en-GB" dirty="0"/>
                    </a:p>
                  </a:txBody>
                  <a:tcPr/>
                </a:tc>
                <a:tc>
                  <a:txBody>
                    <a:bodyPr/>
                    <a:lstStyle/>
                    <a:p>
                      <a:r>
                        <a:rPr lang="en-US" dirty="0" smtClean="0"/>
                        <a:t>ABC@GH</a:t>
                      </a:r>
                    </a:p>
                    <a:p>
                      <a:r>
                        <a:rPr lang="en-US" dirty="0" smtClean="0"/>
                        <a:t>QWERTY</a:t>
                      </a:r>
                      <a:endParaRPr lang="en-GB" dirty="0"/>
                    </a:p>
                  </a:txBody>
                  <a:tcPr/>
                </a:tc>
                <a:tc>
                  <a:txBody>
                    <a:bodyPr/>
                    <a:lstStyle/>
                    <a:p>
                      <a:r>
                        <a:rPr lang="en-US" dirty="0" smtClean="0"/>
                        <a:t>Direct to home screen</a:t>
                      </a:r>
                      <a:endParaRPr lang="en-GB" dirty="0"/>
                    </a:p>
                  </a:txBody>
                  <a:tcPr/>
                </a:tc>
                <a:tc>
                  <a:txBody>
                    <a:bodyPr/>
                    <a:lstStyle/>
                    <a:p>
                      <a:endParaRPr lang="en-GB" dirty="0"/>
                    </a:p>
                  </a:txBody>
                  <a:tcPr/>
                </a:tc>
              </a:tr>
            </a:tbl>
          </a:graphicData>
        </a:graphic>
      </p:graphicFrame>
    </p:spTree>
    <p:extLst>
      <p:ext uri="{BB962C8B-B14F-4D97-AF65-F5344CB8AC3E}">
        <p14:creationId xmlns:p14="http://schemas.microsoft.com/office/powerpoint/2010/main" val="36188344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3074" name="Picture 2"/>
          <p:cNvPicPr>
            <a:picLocks noGrp="1" noChangeAspect="1" noChangeArrowheads="1"/>
          </p:cNvPicPr>
          <p:nvPr>
            <p:ph sz="quarter" idx="1"/>
          </p:nvPr>
        </p:nvPicPr>
        <p:blipFill>
          <a:blip r:embed="rId2"/>
          <a:srcRect/>
          <a:stretch>
            <a:fillRect/>
          </a:stretch>
        </p:blipFill>
        <p:spPr bwMode="auto">
          <a:xfrm>
            <a:off x="838200" y="1600200"/>
            <a:ext cx="7143750" cy="1495425"/>
          </a:xfrm>
          <a:prstGeom prst="rect">
            <a:avLst/>
          </a:prstGeom>
          <a:noFill/>
          <a:ln w="9525">
            <a:noFill/>
            <a:miter lim="800000"/>
            <a:headEnd/>
            <a:tailEnd/>
          </a:ln>
          <a:effectLst/>
        </p:spPr>
      </p:pic>
      <p:sp>
        <p:nvSpPr>
          <p:cNvPr id="5" name="Rectangle 4"/>
          <p:cNvSpPr/>
          <p:nvPr/>
        </p:nvSpPr>
        <p:spPr>
          <a:xfrm>
            <a:off x="1066800" y="3962400"/>
            <a:ext cx="4572000" cy="1477328"/>
          </a:xfrm>
          <a:prstGeom prst="rect">
            <a:avLst/>
          </a:prstGeom>
        </p:spPr>
        <p:txBody>
          <a:bodyPr>
            <a:spAutoFit/>
          </a:bodyPr>
          <a:lstStyle/>
          <a:p>
            <a:r>
              <a:rPr lang="en-US" dirty="0"/>
              <a:t>Legend:</a:t>
            </a:r>
          </a:p>
          <a:p>
            <a:r>
              <a:rPr lang="en-US" dirty="0"/>
              <a:t>T – </a:t>
            </a:r>
            <a:r>
              <a:rPr lang="en-US"/>
              <a:t>Correct </a:t>
            </a:r>
            <a:r>
              <a:rPr lang="en-US" smtClean="0"/>
              <a:t>username/password</a:t>
            </a:r>
            <a:endParaRPr lang="en-US" dirty="0"/>
          </a:p>
          <a:p>
            <a:r>
              <a:rPr lang="en-US" dirty="0"/>
              <a:t>F – Wrong username/password</a:t>
            </a:r>
          </a:p>
          <a:p>
            <a:r>
              <a:rPr lang="en-US" dirty="0"/>
              <a:t>E – Error message is displayed</a:t>
            </a:r>
          </a:p>
          <a:p>
            <a:r>
              <a:rPr lang="en-US" dirty="0"/>
              <a:t>H – Home screen is displayed</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2:</a:t>
            </a:r>
            <a:endParaRPr lang="en-US" dirty="0"/>
          </a:p>
        </p:txBody>
      </p:sp>
      <p:sp>
        <p:nvSpPr>
          <p:cNvPr id="3" name="Content Placeholder 2"/>
          <p:cNvSpPr>
            <a:spLocks noGrp="1"/>
          </p:cNvSpPr>
          <p:nvPr>
            <p:ph sz="quarter" idx="1"/>
          </p:nvPr>
        </p:nvSpPr>
        <p:spPr/>
        <p:txBody>
          <a:bodyPr/>
          <a:lstStyle/>
          <a:p>
            <a:r>
              <a:rPr lang="en-US" dirty="0" smtClean="0"/>
              <a:t>Decision </a:t>
            </a:r>
            <a:r>
              <a:rPr lang="en-US" dirty="0"/>
              <a:t>Base Table for Upload </a:t>
            </a:r>
            <a:r>
              <a:rPr lang="en-US" dirty="0" smtClean="0"/>
              <a:t>Screen, Now </a:t>
            </a:r>
            <a:r>
              <a:rPr lang="en-US" dirty="0"/>
              <a:t>consider a dialogue box which will ask the user to upload photo with certain conditions like –</a:t>
            </a:r>
          </a:p>
          <a:p>
            <a:r>
              <a:rPr lang="en-US" dirty="0"/>
              <a:t>You can upload only '.jpg' format image</a:t>
            </a:r>
          </a:p>
          <a:p>
            <a:r>
              <a:rPr lang="en-US" dirty="0"/>
              <a:t>file size less than 32kb</a:t>
            </a:r>
          </a:p>
          <a:p>
            <a:r>
              <a:rPr lang="en-US" dirty="0"/>
              <a:t>resolution 137*177.</a:t>
            </a:r>
          </a:p>
          <a:p>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2:</a:t>
            </a:r>
            <a:endParaRPr lang="en-US" dirty="0"/>
          </a:p>
        </p:txBody>
      </p:sp>
      <p:pic>
        <p:nvPicPr>
          <p:cNvPr id="5123" name="Picture 3"/>
          <p:cNvPicPr>
            <a:picLocks noGrp="1" noChangeAspect="1" noChangeArrowheads="1"/>
          </p:cNvPicPr>
          <p:nvPr>
            <p:ph sz="quarter" idx="1"/>
          </p:nvPr>
        </p:nvPicPr>
        <p:blipFill>
          <a:blip r:embed="rId2"/>
          <a:srcRect/>
          <a:stretch>
            <a:fillRect/>
          </a:stretch>
        </p:blipFill>
        <p:spPr bwMode="auto">
          <a:xfrm>
            <a:off x="685800" y="2438400"/>
            <a:ext cx="7738340" cy="152003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Decision table</a:t>
            </a:r>
            <a:endParaRPr lang="en-US" dirty="0"/>
          </a:p>
        </p:txBody>
      </p:sp>
      <p:pic>
        <p:nvPicPr>
          <p:cNvPr id="4098" name="Picture 2"/>
          <p:cNvPicPr>
            <a:picLocks noGrp="1" noChangeAspect="1" noChangeArrowheads="1"/>
          </p:cNvPicPr>
          <p:nvPr>
            <p:ph sz="quarter" idx="1"/>
          </p:nvPr>
        </p:nvPicPr>
        <p:blipFill>
          <a:blip r:embed="rId2"/>
          <a:stretch>
            <a:fillRect/>
          </a:stretch>
        </p:blipFill>
        <p:spPr bwMode="auto">
          <a:xfrm>
            <a:off x="1143000" y="1981200"/>
            <a:ext cx="6705600" cy="34004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#3</a:t>
            </a:r>
            <a:endParaRPr lang="en-US" dirty="0"/>
          </a:p>
        </p:txBody>
      </p:sp>
      <p:sp>
        <p:nvSpPr>
          <p:cNvPr id="3" name="Content Placeholder 2"/>
          <p:cNvSpPr>
            <a:spLocks noGrp="1"/>
          </p:cNvSpPr>
          <p:nvPr>
            <p:ph sz="quarter" idx="1"/>
          </p:nvPr>
        </p:nvSpPr>
        <p:spPr/>
        <p:txBody>
          <a:bodyPr>
            <a:normAutofit fontScale="92500" lnSpcReduction="20000"/>
          </a:bodyPr>
          <a:lstStyle/>
          <a:p>
            <a:pPr algn="just"/>
            <a:r>
              <a:rPr lang="en-US" dirty="0" smtClean="0"/>
              <a:t>Let us consider the following description of a payment procedure. Consultants working for more than 40 hours per week are paid at their hourly rate for the first 40 hours and at two times their hourly rate for subsequent hours. Consultants working for less than 40 hours per week are paid for the hours worked. at their hourly rates and an absence report is produced. Permanent workers working for less than 40 hours a week are paid their salary and an absence report is produced. Permanent workers working for more and equal to 40 hours a week are paid their salary.</a:t>
            </a:r>
          </a:p>
          <a:p>
            <a:pPr algn="just"/>
            <a:r>
              <a:rPr lang="en-US" dirty="0" smtClean="0"/>
              <a:t> We need to describe the above payment procedure using a decision table and generate test cases from the table.</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Cause and Effects</a:t>
            </a:r>
            <a:endParaRPr lang="en-US" dirty="0"/>
          </a:p>
        </p:txBody>
      </p:sp>
      <p:sp>
        <p:nvSpPr>
          <p:cNvPr id="3" name="Content Placeholder 2"/>
          <p:cNvSpPr>
            <a:spLocks noGrp="1"/>
          </p:cNvSpPr>
          <p:nvPr>
            <p:ph sz="quarter" idx="1"/>
          </p:nvPr>
        </p:nvSpPr>
        <p:spPr/>
        <p:txBody>
          <a:bodyPr>
            <a:normAutofit/>
          </a:bodyPr>
          <a:lstStyle/>
          <a:p>
            <a:r>
              <a:rPr lang="en-US" i="1" dirty="0" smtClean="0"/>
              <a:t>C1: Permanent workers</a:t>
            </a:r>
          </a:p>
          <a:p>
            <a:r>
              <a:rPr lang="en-US" i="1" dirty="0" smtClean="0"/>
              <a:t>C2: Worked &lt; 40 hours</a:t>
            </a:r>
          </a:p>
          <a:p>
            <a:r>
              <a:rPr lang="en-US" i="1" dirty="0" smtClean="0"/>
              <a:t>C3: Worked exactly 40 hours</a:t>
            </a:r>
          </a:p>
          <a:p>
            <a:r>
              <a:rPr lang="en-US" i="1" dirty="0" smtClean="0"/>
              <a:t>C4: Worked &gt; 40 hours</a:t>
            </a:r>
          </a:p>
          <a:p>
            <a:r>
              <a:rPr lang="en-US" i="1" dirty="0" smtClean="0"/>
              <a:t>E1: Pay salary</a:t>
            </a:r>
          </a:p>
          <a:p>
            <a:r>
              <a:rPr lang="en-US" i="1" dirty="0" smtClean="0"/>
              <a:t>E2: Produce an absence report</a:t>
            </a:r>
          </a:p>
          <a:p>
            <a:r>
              <a:rPr lang="en-US" i="1" dirty="0" smtClean="0"/>
              <a:t>E3: Pay hourly rate</a:t>
            </a:r>
          </a:p>
          <a:p>
            <a:r>
              <a:rPr lang="en-US" i="1" dirty="0" smtClean="0"/>
              <a:t>E4: Pay 2 × hourly rate</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60991"/>
            <a:ext cx="7772400" cy="1143000"/>
          </a:xfrm>
        </p:spPr>
        <p:txBody>
          <a:bodyPr/>
          <a:lstStyle/>
          <a:p>
            <a:r>
              <a:rPr lang="en-US" dirty="0" smtClean="0"/>
              <a:t>Decision Table</a:t>
            </a:r>
            <a:endParaRPr lang="en-US" dirty="0"/>
          </a:p>
        </p:txBody>
      </p:sp>
      <p:pic>
        <p:nvPicPr>
          <p:cNvPr id="1026" name="Picture 2"/>
          <p:cNvPicPr>
            <a:picLocks noGrp="1" noChangeAspect="1" noChangeArrowheads="1"/>
          </p:cNvPicPr>
          <p:nvPr>
            <p:ph sz="quarter" idx="1"/>
          </p:nvPr>
        </p:nvPicPr>
        <p:blipFill>
          <a:blip r:embed="rId2"/>
          <a:stretch>
            <a:fillRect/>
          </a:stretch>
        </p:blipFill>
        <p:spPr bwMode="auto">
          <a:xfrm>
            <a:off x="914400" y="2068285"/>
            <a:ext cx="7772400" cy="3331029"/>
          </a:xfrm>
          <a:prstGeom prst="rect">
            <a:avLst/>
          </a:prstGeom>
          <a:noFill/>
          <a:ln w="9525">
            <a:noFill/>
            <a:miter lim="800000"/>
            <a:headEnd/>
            <a:tailEnd/>
          </a:ln>
          <a:effectLst/>
        </p:spPr>
      </p:pic>
      <p:sp>
        <p:nvSpPr>
          <p:cNvPr id="3" name="TextBox 2"/>
          <p:cNvSpPr txBox="1"/>
          <p:nvPr/>
        </p:nvSpPr>
        <p:spPr>
          <a:xfrm>
            <a:off x="2895600" y="4191000"/>
            <a:ext cx="1447800" cy="369332"/>
          </a:xfrm>
          <a:prstGeom prst="rect">
            <a:avLst/>
          </a:prstGeom>
          <a:noFill/>
        </p:spPr>
        <p:txBody>
          <a:bodyPr wrap="square" rtlCol="0">
            <a:spAutoFit/>
          </a:bodyPr>
          <a:lstStyle/>
          <a:p>
            <a:r>
              <a:rPr lang="en-US" dirty="0" smtClean="0"/>
              <a:t>+  +    +   +</a:t>
            </a:r>
            <a:endParaRPr lang="en-GB"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Reduced Table</a:t>
            </a:r>
            <a:endParaRPr lang="en-US" dirty="0"/>
          </a:p>
        </p:txBody>
      </p:sp>
      <p:pic>
        <p:nvPicPr>
          <p:cNvPr id="2050" name="Picture 2"/>
          <p:cNvPicPr>
            <a:picLocks noGrp="1" noChangeAspect="1" noChangeArrowheads="1"/>
          </p:cNvPicPr>
          <p:nvPr>
            <p:ph sz="quarter" idx="1"/>
          </p:nvPr>
        </p:nvPicPr>
        <p:blipFill>
          <a:blip r:embed="rId2"/>
          <a:stretch>
            <a:fillRect/>
          </a:stretch>
        </p:blipFill>
        <p:spPr bwMode="auto">
          <a:xfrm>
            <a:off x="914400" y="1988628"/>
            <a:ext cx="7772400" cy="349034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Table </a:t>
            </a:r>
            <a:r>
              <a:rPr lang="en-US" smtClean="0"/>
              <a:t>With Check Sum</a:t>
            </a:r>
            <a:endParaRPr lang="en-US"/>
          </a:p>
        </p:txBody>
      </p:sp>
      <p:pic>
        <p:nvPicPr>
          <p:cNvPr id="3074" name="Picture 2"/>
          <p:cNvPicPr>
            <a:picLocks noGrp="1" noChangeAspect="1" noChangeArrowheads="1"/>
          </p:cNvPicPr>
          <p:nvPr>
            <p:ph sz="quarter" idx="1"/>
          </p:nvPr>
        </p:nvPicPr>
        <p:blipFill>
          <a:blip r:embed="rId2"/>
          <a:stretch>
            <a:fillRect/>
          </a:stretch>
        </p:blipFill>
        <p:spPr bwMode="auto">
          <a:xfrm>
            <a:off x="914400" y="1731174"/>
            <a:ext cx="7772400" cy="400525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536</TotalTime>
  <Words>471</Words>
  <Application>Microsoft Office PowerPoint</Application>
  <PresentationFormat>On-screen Show (4:3)</PresentationFormat>
  <Paragraphs>98</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Franklin Gothic Book</vt:lpstr>
      <vt:lpstr>Perpetua</vt:lpstr>
      <vt:lpstr>Wingdings 2</vt:lpstr>
      <vt:lpstr>Equity</vt:lpstr>
      <vt:lpstr>Software Testing </vt:lpstr>
      <vt:lpstr>Decision table</vt:lpstr>
      <vt:lpstr>PowerPoint Presentation</vt:lpstr>
      <vt:lpstr>Decision table</vt:lpstr>
      <vt:lpstr>Decision table</vt:lpstr>
      <vt:lpstr>Big Picture Relationship</vt:lpstr>
      <vt:lpstr>Decision table</vt:lpstr>
      <vt:lpstr>Example</vt:lpstr>
      <vt:lpstr>PowerPoint Presentation</vt:lpstr>
      <vt:lpstr>Example</vt:lpstr>
      <vt:lpstr>Example 2:</vt:lpstr>
      <vt:lpstr>Example 2:</vt:lpstr>
      <vt:lpstr>Decision table</vt:lpstr>
      <vt:lpstr>Example #3</vt:lpstr>
      <vt:lpstr>Cause and Effects</vt:lpstr>
      <vt:lpstr>Decision Table</vt:lpstr>
      <vt:lpstr>Reduced Table</vt:lpstr>
      <vt:lpstr>Table With Check Sum</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ishrat.fatima</dc:creator>
  <cp:lastModifiedBy>Ansa Liaqat</cp:lastModifiedBy>
  <cp:revision>24</cp:revision>
  <dcterms:created xsi:type="dcterms:W3CDTF">2018-04-17T06:43:06Z</dcterms:created>
  <dcterms:modified xsi:type="dcterms:W3CDTF">2026-04-20T10:13:11Z</dcterms:modified>
</cp:coreProperties>
</file>