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60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261" r:id="rId16"/>
    <p:sldId id="262" r:id="rId17"/>
    <p:sldId id="335" r:id="rId18"/>
    <p:sldId id="334" r:id="rId19"/>
    <p:sldId id="264" r:id="rId20"/>
    <p:sldId id="265" r:id="rId21"/>
    <p:sldId id="336" r:id="rId22"/>
    <p:sldId id="307" r:id="rId23"/>
    <p:sldId id="337" r:id="rId24"/>
    <p:sldId id="338" r:id="rId25"/>
    <p:sldId id="339" r:id="rId26"/>
    <p:sldId id="340" r:id="rId27"/>
    <p:sldId id="341" r:id="rId28"/>
    <p:sldId id="342" r:id="rId29"/>
    <p:sldId id="315" r:id="rId30"/>
    <p:sldId id="308" r:id="rId31"/>
    <p:sldId id="309" r:id="rId32"/>
    <p:sldId id="310" r:id="rId33"/>
    <p:sldId id="312" r:id="rId34"/>
    <p:sldId id="311" r:id="rId35"/>
    <p:sldId id="313" r:id="rId36"/>
    <p:sldId id="314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4" r:id="rId53"/>
    <p:sldId id="305" r:id="rId54"/>
    <p:sldId id="306" r:id="rId55"/>
    <p:sldId id="316" r:id="rId56"/>
    <p:sldId id="317" r:id="rId57"/>
    <p:sldId id="343" r:id="rId58"/>
    <p:sldId id="318" r:id="rId59"/>
    <p:sldId id="320" r:id="rId60"/>
    <p:sldId id="321" r:id="rId61"/>
    <p:sldId id="322" r:id="rId62"/>
    <p:sldId id="323" r:id="rId6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>
      <p:cViewPr varScale="1">
        <p:scale>
          <a:sx n="70" d="100"/>
          <a:sy n="70" d="100"/>
        </p:scale>
        <p:origin x="13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E9917-2E51-4D94-952B-FC7B124C707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802DD-AE68-422B-87E2-667CE01C8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9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Verification=ensure product is built correctly, validation= ensure product meets user needs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802DD-AE68-422B-87E2-667CE01C85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99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Spiral Model is a risk-driven process model that combines iterative development with systematic risk analysis.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802DD-AE68-422B-87E2-667CE01C857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7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3664" y="1392798"/>
            <a:ext cx="7363998" cy="9006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961" y="1419606"/>
            <a:ext cx="7306309" cy="1905"/>
          </a:xfrm>
          <a:custGeom>
            <a:avLst/>
            <a:gdLst/>
            <a:ahLst/>
            <a:cxnLst/>
            <a:rect l="l" t="t" r="r" b="b"/>
            <a:pathLst>
              <a:path w="7306309" h="1905">
                <a:moveTo>
                  <a:pt x="0" y="0"/>
                </a:moveTo>
                <a:lnTo>
                  <a:pt x="7305802" y="1651"/>
                </a:lnTo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1063" y="213359"/>
            <a:ext cx="923544" cy="1219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4527" y="1382268"/>
            <a:ext cx="8311896" cy="1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57961" y="1418081"/>
            <a:ext cx="8217534" cy="1905"/>
          </a:xfrm>
          <a:custGeom>
            <a:avLst/>
            <a:gdLst/>
            <a:ahLst/>
            <a:cxnLst/>
            <a:rect l="l" t="t" r="r" b="b"/>
            <a:pathLst>
              <a:path w="8217534" h="1905">
                <a:moveTo>
                  <a:pt x="0" y="1650"/>
                </a:moveTo>
                <a:lnTo>
                  <a:pt x="8217027" y="0"/>
                </a:lnTo>
              </a:path>
            </a:pathLst>
          </a:custGeom>
          <a:ln w="2590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642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450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6424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43121" y="6465214"/>
            <a:ext cx="18561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940" y="6465214"/>
            <a:ext cx="7645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662809"/>
            <a:ext cx="4665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-30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55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3790315" cy="292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Topics</a:t>
            </a:r>
            <a:r>
              <a:rPr sz="2400" b="1" spc="-14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covered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Coping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improvement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2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871459" cy="466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structured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 required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Many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but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involve: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do;</a:t>
            </a:r>
            <a:endParaRPr sz="2000">
              <a:latin typeface="Arial MT"/>
              <a:cs typeface="Arial MT"/>
            </a:endParaRPr>
          </a:p>
          <a:p>
            <a:pPr marL="756285" marR="27559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organization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implementing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system;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Validation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does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wants;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–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response</a:t>
            </a:r>
            <a:r>
              <a:rPr sz="2000" spc="-6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needs.</a:t>
            </a:r>
            <a:endParaRPr sz="2000"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abstract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representation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presents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description of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from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some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particular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perspective.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8009890" cy="475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Plan-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driven</a:t>
            </a:r>
            <a:r>
              <a:rPr sz="2400" b="1" spc="-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and agile</a:t>
            </a:r>
            <a:r>
              <a:rPr sz="2400" b="1" spc="1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processes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marR="205104" indent="-343535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planned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advance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progress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measured against this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plan.</a:t>
            </a:r>
            <a:endParaRPr sz="2400">
              <a:latin typeface="Arial MT"/>
              <a:cs typeface="Arial MT"/>
            </a:endParaRPr>
          </a:p>
          <a:p>
            <a:pPr marL="355600" marR="762635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processes,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planning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incremental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easier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reflect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changing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requirements.</a:t>
            </a:r>
            <a:endParaRPr sz="24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practice,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practical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include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elements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both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agile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approaches.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right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wrong software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5" y="2612263"/>
            <a:ext cx="260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1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469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1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34020" cy="398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Real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inter-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leaved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sequences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technical,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collaborative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managerial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overall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goal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specifying,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designing, implementing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marR="619125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four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basic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specification,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development,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validation and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organized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differently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different</a:t>
            </a:r>
            <a:r>
              <a:rPr sz="24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processes.</a:t>
            </a:r>
            <a:endParaRPr sz="2400">
              <a:latin typeface="Arial MT"/>
              <a:cs typeface="Arial MT"/>
            </a:endParaRPr>
          </a:p>
          <a:p>
            <a:pPr marL="355600" marR="227329" indent="-343535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example,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model,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organized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sequence,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whereas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incremental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interleaved.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0813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2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5401" y="1625549"/>
            <a:ext cx="8138159" cy="385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0259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establishing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services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required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constraints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system’s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operation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elicitation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analysis</a:t>
            </a:r>
            <a:endParaRPr sz="2000">
              <a:latin typeface="Arial MT"/>
              <a:cs typeface="Arial MT"/>
            </a:endParaRPr>
          </a:p>
          <a:p>
            <a:pPr marL="1155700" lvl="2" indent="-229235">
              <a:lnSpc>
                <a:spcPct val="100000"/>
              </a:lnSpc>
              <a:spcBef>
                <a:spcPts val="74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What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do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18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stakeholders</a:t>
            </a:r>
            <a:r>
              <a:rPr sz="18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sz="18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18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expect from</a:t>
            </a:r>
            <a:r>
              <a:rPr sz="18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24D"/>
                </a:solidFill>
                <a:latin typeface="Arial MT"/>
                <a:cs typeface="Arial MT"/>
              </a:rPr>
              <a:t>system?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8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endParaRPr sz="2000">
              <a:latin typeface="Arial MT"/>
              <a:cs typeface="Arial MT"/>
            </a:endParaRPr>
          </a:p>
          <a:p>
            <a:pPr marL="1155700" lvl="2" indent="-229235">
              <a:lnSpc>
                <a:spcPct val="100000"/>
              </a:lnSpc>
              <a:spcBef>
                <a:spcPts val="74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Defining</a:t>
            </a:r>
            <a:r>
              <a:rPr sz="18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18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24D"/>
                </a:solidFill>
                <a:latin typeface="Arial MT"/>
                <a:cs typeface="Arial MT"/>
              </a:rPr>
              <a:t>detail</a:t>
            </a:r>
            <a:endParaRPr sz="1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validation</a:t>
            </a:r>
            <a:endParaRPr sz="2000">
              <a:latin typeface="Arial MT"/>
              <a:cs typeface="Arial MT"/>
            </a:endParaRPr>
          </a:p>
          <a:p>
            <a:pPr marL="1155700" lvl="2" indent="-229235">
              <a:lnSpc>
                <a:spcPct val="100000"/>
              </a:lnSpc>
              <a:spcBef>
                <a:spcPts val="74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sz="18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validity</a:t>
            </a:r>
            <a:r>
              <a:rPr sz="18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1060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40" dirty="0"/>
              <a:t> </a:t>
            </a:r>
            <a:r>
              <a:rPr dirty="0"/>
              <a:t>design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771765" cy="344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converting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executable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realises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specification;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Translate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sz="2000" spc="-8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executable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program;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closely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related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 may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inter-leaved.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4318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0" dirty="0"/>
              <a:t> 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864475" cy="377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33375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implemented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either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developing</a:t>
            </a:r>
            <a:r>
              <a:rPr sz="2400" spc="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configuring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application system.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interleaved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activities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for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types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marR="246379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Programming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sz="2400" spc="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no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standard process.</a:t>
            </a:r>
            <a:endParaRPr sz="2400">
              <a:latin typeface="Arial MT"/>
              <a:cs typeface="Arial MT"/>
            </a:endParaRPr>
          </a:p>
          <a:p>
            <a:pPr marL="355600" marR="247015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Debugging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activity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finding program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faults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correcting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faults.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0099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20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25765" cy="377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Verification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validation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(V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&amp;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V)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intended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show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 conforms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its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meets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customer.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review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system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testing.</a:t>
            </a:r>
            <a:endParaRPr sz="2400">
              <a:latin typeface="Arial MT"/>
              <a:cs typeface="Arial MT"/>
            </a:endParaRPr>
          </a:p>
          <a:p>
            <a:pPr marL="355600" marR="257175" indent="-343535" algn="just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involves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executing the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test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cases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derived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specification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real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processed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by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55600" indent="-343535" algn="just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commonly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&amp;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V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activity.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9942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Stages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testing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2107" y="2846612"/>
            <a:ext cx="6268720" cy="1672589"/>
            <a:chOff x="1492107" y="2846612"/>
            <a:chExt cx="6268720" cy="1672589"/>
          </a:xfrm>
        </p:grpSpPr>
        <p:sp>
          <p:nvSpPr>
            <p:cNvPr id="4" name="object 4"/>
            <p:cNvSpPr/>
            <p:nvPr/>
          </p:nvSpPr>
          <p:spPr>
            <a:xfrm>
              <a:off x="3694149" y="3448906"/>
              <a:ext cx="1858645" cy="704215"/>
            </a:xfrm>
            <a:custGeom>
              <a:avLst/>
              <a:gdLst/>
              <a:ahLst/>
              <a:cxnLst/>
              <a:rect l="l" t="t" r="r" b="b"/>
              <a:pathLst>
                <a:path w="1858645" h="704214">
                  <a:moveTo>
                    <a:pt x="1506606" y="0"/>
                  </a:moveTo>
                  <a:lnTo>
                    <a:pt x="351814" y="0"/>
                  </a:lnTo>
                  <a:lnTo>
                    <a:pt x="304462" y="3207"/>
                  </a:lnTo>
                  <a:lnTo>
                    <a:pt x="258927" y="12552"/>
                  </a:lnTo>
                  <a:lnTo>
                    <a:pt x="215649" y="27617"/>
                  </a:lnTo>
                  <a:lnTo>
                    <a:pt x="175065" y="47985"/>
                  </a:lnTo>
                  <a:lnTo>
                    <a:pt x="137614" y="73240"/>
                  </a:lnTo>
                  <a:lnTo>
                    <a:pt x="103734" y="102965"/>
                  </a:lnTo>
                  <a:lnTo>
                    <a:pt x="73864" y="136743"/>
                  </a:lnTo>
                  <a:lnTo>
                    <a:pt x="48442" y="174158"/>
                  </a:lnTo>
                  <a:lnTo>
                    <a:pt x="27906" y="214792"/>
                  </a:lnTo>
                  <a:lnTo>
                    <a:pt x="12695" y="258228"/>
                  </a:lnTo>
                  <a:lnTo>
                    <a:pt x="3246" y="304051"/>
                  </a:lnTo>
                  <a:lnTo>
                    <a:pt x="0" y="351843"/>
                  </a:lnTo>
                  <a:lnTo>
                    <a:pt x="3246" y="399641"/>
                  </a:lnTo>
                  <a:lnTo>
                    <a:pt x="12695" y="445469"/>
                  </a:lnTo>
                  <a:lnTo>
                    <a:pt x="27906" y="488910"/>
                  </a:lnTo>
                  <a:lnTo>
                    <a:pt x="48442" y="529547"/>
                  </a:lnTo>
                  <a:lnTo>
                    <a:pt x="73864" y="566964"/>
                  </a:lnTo>
                  <a:lnTo>
                    <a:pt x="103734" y="600745"/>
                  </a:lnTo>
                  <a:lnTo>
                    <a:pt x="137614" y="630471"/>
                  </a:lnTo>
                  <a:lnTo>
                    <a:pt x="175065" y="655727"/>
                  </a:lnTo>
                  <a:lnTo>
                    <a:pt x="215649" y="676096"/>
                  </a:lnTo>
                  <a:lnTo>
                    <a:pt x="258927" y="691161"/>
                  </a:lnTo>
                  <a:lnTo>
                    <a:pt x="304462" y="700506"/>
                  </a:lnTo>
                  <a:lnTo>
                    <a:pt x="351814" y="703714"/>
                  </a:lnTo>
                  <a:lnTo>
                    <a:pt x="1506606" y="703714"/>
                  </a:lnTo>
                  <a:lnTo>
                    <a:pt x="1554386" y="700506"/>
                  </a:lnTo>
                  <a:lnTo>
                    <a:pt x="1600198" y="691161"/>
                  </a:lnTo>
                  <a:lnTo>
                    <a:pt x="1643624" y="676096"/>
                  </a:lnTo>
                  <a:lnTo>
                    <a:pt x="1684248" y="655727"/>
                  </a:lnTo>
                  <a:lnTo>
                    <a:pt x="1721654" y="630471"/>
                  </a:lnTo>
                  <a:lnTo>
                    <a:pt x="1755424" y="600745"/>
                  </a:lnTo>
                  <a:lnTo>
                    <a:pt x="1785142" y="566964"/>
                  </a:lnTo>
                  <a:lnTo>
                    <a:pt x="1810391" y="529547"/>
                  </a:lnTo>
                  <a:lnTo>
                    <a:pt x="1830755" y="488910"/>
                  </a:lnTo>
                  <a:lnTo>
                    <a:pt x="1845816" y="445469"/>
                  </a:lnTo>
                  <a:lnTo>
                    <a:pt x="1855159" y="399641"/>
                  </a:lnTo>
                  <a:lnTo>
                    <a:pt x="1858365" y="351843"/>
                  </a:lnTo>
                  <a:lnTo>
                    <a:pt x="1855159" y="304051"/>
                  </a:lnTo>
                  <a:lnTo>
                    <a:pt x="1845816" y="258229"/>
                  </a:lnTo>
                  <a:lnTo>
                    <a:pt x="1830755" y="214792"/>
                  </a:lnTo>
                  <a:lnTo>
                    <a:pt x="1810391" y="174158"/>
                  </a:lnTo>
                  <a:lnTo>
                    <a:pt x="1785142" y="136743"/>
                  </a:lnTo>
                  <a:lnTo>
                    <a:pt x="1755424" y="102965"/>
                  </a:lnTo>
                  <a:lnTo>
                    <a:pt x="1721654" y="73240"/>
                  </a:lnTo>
                  <a:lnTo>
                    <a:pt x="1684248" y="47985"/>
                  </a:lnTo>
                  <a:lnTo>
                    <a:pt x="1643624" y="27617"/>
                  </a:lnTo>
                  <a:lnTo>
                    <a:pt x="1600198" y="12552"/>
                  </a:lnTo>
                  <a:lnTo>
                    <a:pt x="1554386" y="3207"/>
                  </a:lnTo>
                  <a:lnTo>
                    <a:pt x="1506606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94149" y="3448906"/>
              <a:ext cx="1858645" cy="704215"/>
            </a:xfrm>
            <a:custGeom>
              <a:avLst/>
              <a:gdLst/>
              <a:ahLst/>
              <a:cxnLst/>
              <a:rect l="l" t="t" r="r" b="b"/>
              <a:pathLst>
                <a:path w="1858645" h="704214">
                  <a:moveTo>
                    <a:pt x="351814" y="0"/>
                  </a:moveTo>
                  <a:lnTo>
                    <a:pt x="1506606" y="0"/>
                  </a:lnTo>
                  <a:lnTo>
                    <a:pt x="1554386" y="3207"/>
                  </a:lnTo>
                  <a:lnTo>
                    <a:pt x="1600198" y="12552"/>
                  </a:lnTo>
                  <a:lnTo>
                    <a:pt x="1643624" y="27617"/>
                  </a:lnTo>
                  <a:lnTo>
                    <a:pt x="1684248" y="47985"/>
                  </a:lnTo>
                  <a:lnTo>
                    <a:pt x="1721654" y="73240"/>
                  </a:lnTo>
                  <a:lnTo>
                    <a:pt x="1755424" y="102965"/>
                  </a:lnTo>
                  <a:lnTo>
                    <a:pt x="1785142" y="136743"/>
                  </a:lnTo>
                  <a:lnTo>
                    <a:pt x="1810391" y="174158"/>
                  </a:lnTo>
                  <a:lnTo>
                    <a:pt x="1830755" y="214792"/>
                  </a:lnTo>
                  <a:lnTo>
                    <a:pt x="1845816" y="258229"/>
                  </a:lnTo>
                  <a:lnTo>
                    <a:pt x="1855159" y="304051"/>
                  </a:lnTo>
                  <a:lnTo>
                    <a:pt x="1858365" y="351843"/>
                  </a:lnTo>
                  <a:lnTo>
                    <a:pt x="1855159" y="399641"/>
                  </a:lnTo>
                  <a:lnTo>
                    <a:pt x="1845816" y="445469"/>
                  </a:lnTo>
                  <a:lnTo>
                    <a:pt x="1830755" y="488910"/>
                  </a:lnTo>
                  <a:lnTo>
                    <a:pt x="1810391" y="529547"/>
                  </a:lnTo>
                  <a:lnTo>
                    <a:pt x="1785142" y="566964"/>
                  </a:lnTo>
                  <a:lnTo>
                    <a:pt x="1755424" y="600745"/>
                  </a:lnTo>
                  <a:lnTo>
                    <a:pt x="1721654" y="630471"/>
                  </a:lnTo>
                  <a:lnTo>
                    <a:pt x="1684248" y="655727"/>
                  </a:lnTo>
                  <a:lnTo>
                    <a:pt x="1643624" y="676096"/>
                  </a:lnTo>
                  <a:lnTo>
                    <a:pt x="1600198" y="691161"/>
                  </a:lnTo>
                  <a:lnTo>
                    <a:pt x="1554386" y="700506"/>
                  </a:lnTo>
                  <a:lnTo>
                    <a:pt x="1506606" y="703714"/>
                  </a:lnTo>
                  <a:lnTo>
                    <a:pt x="351814" y="703714"/>
                  </a:lnTo>
                  <a:lnTo>
                    <a:pt x="304462" y="700506"/>
                  </a:lnTo>
                  <a:lnTo>
                    <a:pt x="258927" y="691161"/>
                  </a:lnTo>
                  <a:lnTo>
                    <a:pt x="215649" y="676096"/>
                  </a:lnTo>
                  <a:lnTo>
                    <a:pt x="175065" y="655727"/>
                  </a:lnTo>
                  <a:lnTo>
                    <a:pt x="137614" y="630471"/>
                  </a:lnTo>
                  <a:lnTo>
                    <a:pt x="103734" y="600745"/>
                  </a:lnTo>
                  <a:lnTo>
                    <a:pt x="73864" y="566964"/>
                  </a:lnTo>
                  <a:lnTo>
                    <a:pt x="48442" y="529547"/>
                  </a:lnTo>
                  <a:lnTo>
                    <a:pt x="27906" y="488910"/>
                  </a:lnTo>
                  <a:lnTo>
                    <a:pt x="12695" y="445469"/>
                  </a:lnTo>
                  <a:lnTo>
                    <a:pt x="3246" y="399641"/>
                  </a:lnTo>
                  <a:lnTo>
                    <a:pt x="0" y="351843"/>
                  </a:lnTo>
                  <a:lnTo>
                    <a:pt x="3246" y="304051"/>
                  </a:lnTo>
                  <a:lnTo>
                    <a:pt x="12695" y="258228"/>
                  </a:lnTo>
                  <a:lnTo>
                    <a:pt x="27906" y="214792"/>
                  </a:lnTo>
                  <a:lnTo>
                    <a:pt x="48442" y="174158"/>
                  </a:lnTo>
                  <a:lnTo>
                    <a:pt x="73864" y="136743"/>
                  </a:lnTo>
                  <a:lnTo>
                    <a:pt x="103734" y="102965"/>
                  </a:lnTo>
                  <a:lnTo>
                    <a:pt x="137614" y="73240"/>
                  </a:lnTo>
                  <a:lnTo>
                    <a:pt x="175065" y="47985"/>
                  </a:lnTo>
                  <a:lnTo>
                    <a:pt x="215649" y="27617"/>
                  </a:lnTo>
                  <a:lnTo>
                    <a:pt x="258927" y="12552"/>
                  </a:lnTo>
                  <a:lnTo>
                    <a:pt x="304462" y="3207"/>
                  </a:lnTo>
                  <a:lnTo>
                    <a:pt x="351814" y="0"/>
                  </a:lnTo>
                  <a:close/>
                </a:path>
              </a:pathLst>
            </a:custGeom>
            <a:ln w="2483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55401" y="3680710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>
                  <a:moveTo>
                    <a:pt x="0" y="0"/>
                  </a:moveTo>
                  <a:lnTo>
                    <a:pt x="0" y="0"/>
                  </a:lnTo>
                  <a:lnTo>
                    <a:pt x="254646" y="0"/>
                  </a:lnTo>
                </a:path>
              </a:pathLst>
            </a:custGeom>
            <a:ln w="124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2518" y="3624836"/>
              <a:ext cx="186506" cy="1138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83170" y="3407514"/>
              <a:ext cx="1779905" cy="704215"/>
            </a:xfrm>
            <a:custGeom>
              <a:avLst/>
              <a:gdLst/>
              <a:ahLst/>
              <a:cxnLst/>
              <a:rect l="l" t="t" r="r" b="b"/>
              <a:pathLst>
                <a:path w="1779904" h="704214">
                  <a:moveTo>
                    <a:pt x="1428013" y="0"/>
                  </a:moveTo>
                  <a:lnTo>
                    <a:pt x="351822" y="0"/>
                  </a:lnTo>
                  <a:lnTo>
                    <a:pt x="304034" y="3207"/>
                  </a:lnTo>
                  <a:lnTo>
                    <a:pt x="258214" y="12552"/>
                  </a:lnTo>
                  <a:lnTo>
                    <a:pt x="214780" y="27617"/>
                  </a:lnTo>
                  <a:lnTo>
                    <a:pt x="174149" y="47985"/>
                  </a:lnTo>
                  <a:lnTo>
                    <a:pt x="136736" y="73240"/>
                  </a:lnTo>
                  <a:lnTo>
                    <a:pt x="102960" y="102965"/>
                  </a:lnTo>
                  <a:lnTo>
                    <a:pt x="73237" y="136743"/>
                  </a:lnTo>
                  <a:lnTo>
                    <a:pt x="47983" y="174158"/>
                  </a:lnTo>
                  <a:lnTo>
                    <a:pt x="27615" y="214792"/>
                  </a:lnTo>
                  <a:lnTo>
                    <a:pt x="12551" y="258228"/>
                  </a:lnTo>
                  <a:lnTo>
                    <a:pt x="3207" y="304051"/>
                  </a:lnTo>
                  <a:lnTo>
                    <a:pt x="0" y="351843"/>
                  </a:lnTo>
                  <a:lnTo>
                    <a:pt x="3207" y="399635"/>
                  </a:lnTo>
                  <a:lnTo>
                    <a:pt x="12551" y="445459"/>
                  </a:lnTo>
                  <a:lnTo>
                    <a:pt x="27615" y="488898"/>
                  </a:lnTo>
                  <a:lnTo>
                    <a:pt x="47983" y="529535"/>
                  </a:lnTo>
                  <a:lnTo>
                    <a:pt x="73237" y="566953"/>
                  </a:lnTo>
                  <a:lnTo>
                    <a:pt x="102960" y="600734"/>
                  </a:lnTo>
                  <a:lnTo>
                    <a:pt x="136737" y="630463"/>
                  </a:lnTo>
                  <a:lnTo>
                    <a:pt x="174149" y="655721"/>
                  </a:lnTo>
                  <a:lnTo>
                    <a:pt x="214780" y="676092"/>
                  </a:lnTo>
                  <a:lnTo>
                    <a:pt x="258214" y="691160"/>
                  </a:lnTo>
                  <a:lnTo>
                    <a:pt x="304034" y="700506"/>
                  </a:lnTo>
                  <a:lnTo>
                    <a:pt x="351822" y="703714"/>
                  </a:lnTo>
                  <a:lnTo>
                    <a:pt x="1428013" y="703714"/>
                  </a:lnTo>
                  <a:lnTo>
                    <a:pt x="1475800" y="700506"/>
                  </a:lnTo>
                  <a:lnTo>
                    <a:pt x="1521619" y="691160"/>
                  </a:lnTo>
                  <a:lnTo>
                    <a:pt x="1565052" y="676092"/>
                  </a:lnTo>
                  <a:lnTo>
                    <a:pt x="1605682" y="655721"/>
                  </a:lnTo>
                  <a:lnTo>
                    <a:pt x="1643094" y="630463"/>
                  </a:lnTo>
                  <a:lnTo>
                    <a:pt x="1676869" y="600734"/>
                  </a:lnTo>
                  <a:lnTo>
                    <a:pt x="1706592" y="566953"/>
                  </a:lnTo>
                  <a:lnTo>
                    <a:pt x="1731846" y="529535"/>
                  </a:lnTo>
                  <a:lnTo>
                    <a:pt x="1752213" y="488898"/>
                  </a:lnTo>
                  <a:lnTo>
                    <a:pt x="1767277" y="445459"/>
                  </a:lnTo>
                  <a:lnTo>
                    <a:pt x="1776621" y="399635"/>
                  </a:lnTo>
                  <a:lnTo>
                    <a:pt x="1779828" y="351843"/>
                  </a:lnTo>
                  <a:lnTo>
                    <a:pt x="1776621" y="304051"/>
                  </a:lnTo>
                  <a:lnTo>
                    <a:pt x="1767277" y="258229"/>
                  </a:lnTo>
                  <a:lnTo>
                    <a:pt x="1752213" y="214792"/>
                  </a:lnTo>
                  <a:lnTo>
                    <a:pt x="1731845" y="174158"/>
                  </a:lnTo>
                  <a:lnTo>
                    <a:pt x="1706592" y="136743"/>
                  </a:lnTo>
                  <a:lnTo>
                    <a:pt x="1676869" y="102965"/>
                  </a:lnTo>
                  <a:lnTo>
                    <a:pt x="1643094" y="73240"/>
                  </a:lnTo>
                  <a:lnTo>
                    <a:pt x="1605682" y="47985"/>
                  </a:lnTo>
                  <a:lnTo>
                    <a:pt x="1565051" y="27617"/>
                  </a:lnTo>
                  <a:lnTo>
                    <a:pt x="1521619" y="12552"/>
                  </a:lnTo>
                  <a:lnTo>
                    <a:pt x="1475800" y="3207"/>
                  </a:lnTo>
                  <a:lnTo>
                    <a:pt x="1428013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3170" y="3407514"/>
              <a:ext cx="1779905" cy="704215"/>
            </a:xfrm>
            <a:custGeom>
              <a:avLst/>
              <a:gdLst/>
              <a:ahLst/>
              <a:cxnLst/>
              <a:rect l="l" t="t" r="r" b="b"/>
              <a:pathLst>
                <a:path w="1779904" h="704214">
                  <a:moveTo>
                    <a:pt x="351822" y="0"/>
                  </a:moveTo>
                  <a:lnTo>
                    <a:pt x="1428013" y="0"/>
                  </a:lnTo>
                  <a:lnTo>
                    <a:pt x="1475800" y="3207"/>
                  </a:lnTo>
                  <a:lnTo>
                    <a:pt x="1521619" y="12552"/>
                  </a:lnTo>
                  <a:lnTo>
                    <a:pt x="1565052" y="27617"/>
                  </a:lnTo>
                  <a:lnTo>
                    <a:pt x="1605682" y="47985"/>
                  </a:lnTo>
                  <a:lnTo>
                    <a:pt x="1643094" y="73240"/>
                  </a:lnTo>
                  <a:lnTo>
                    <a:pt x="1676869" y="102965"/>
                  </a:lnTo>
                  <a:lnTo>
                    <a:pt x="1706592" y="136743"/>
                  </a:lnTo>
                  <a:lnTo>
                    <a:pt x="1731846" y="174158"/>
                  </a:lnTo>
                  <a:lnTo>
                    <a:pt x="1752213" y="214792"/>
                  </a:lnTo>
                  <a:lnTo>
                    <a:pt x="1767277" y="258229"/>
                  </a:lnTo>
                  <a:lnTo>
                    <a:pt x="1776621" y="304051"/>
                  </a:lnTo>
                  <a:lnTo>
                    <a:pt x="1779828" y="351843"/>
                  </a:lnTo>
                  <a:lnTo>
                    <a:pt x="1776621" y="399635"/>
                  </a:lnTo>
                  <a:lnTo>
                    <a:pt x="1767277" y="445459"/>
                  </a:lnTo>
                  <a:lnTo>
                    <a:pt x="1752213" y="488898"/>
                  </a:lnTo>
                  <a:lnTo>
                    <a:pt x="1731846" y="529535"/>
                  </a:lnTo>
                  <a:lnTo>
                    <a:pt x="1706592" y="566953"/>
                  </a:lnTo>
                  <a:lnTo>
                    <a:pt x="1676869" y="600734"/>
                  </a:lnTo>
                  <a:lnTo>
                    <a:pt x="1643094" y="630463"/>
                  </a:lnTo>
                  <a:lnTo>
                    <a:pt x="1605682" y="655721"/>
                  </a:lnTo>
                  <a:lnTo>
                    <a:pt x="1565052" y="676092"/>
                  </a:lnTo>
                  <a:lnTo>
                    <a:pt x="1521619" y="691160"/>
                  </a:lnTo>
                  <a:lnTo>
                    <a:pt x="1475800" y="700506"/>
                  </a:lnTo>
                  <a:lnTo>
                    <a:pt x="1428013" y="703714"/>
                  </a:lnTo>
                  <a:lnTo>
                    <a:pt x="351822" y="703714"/>
                  </a:lnTo>
                  <a:lnTo>
                    <a:pt x="304034" y="700506"/>
                  </a:lnTo>
                  <a:lnTo>
                    <a:pt x="258214" y="691160"/>
                  </a:lnTo>
                  <a:lnTo>
                    <a:pt x="214780" y="676092"/>
                  </a:lnTo>
                  <a:lnTo>
                    <a:pt x="174149" y="655721"/>
                  </a:lnTo>
                  <a:lnTo>
                    <a:pt x="136737" y="630463"/>
                  </a:lnTo>
                  <a:lnTo>
                    <a:pt x="102960" y="600734"/>
                  </a:lnTo>
                  <a:lnTo>
                    <a:pt x="73237" y="566953"/>
                  </a:lnTo>
                  <a:lnTo>
                    <a:pt x="47983" y="529535"/>
                  </a:lnTo>
                  <a:lnTo>
                    <a:pt x="27615" y="488898"/>
                  </a:lnTo>
                  <a:lnTo>
                    <a:pt x="12551" y="445459"/>
                  </a:lnTo>
                  <a:lnTo>
                    <a:pt x="3207" y="399635"/>
                  </a:lnTo>
                  <a:lnTo>
                    <a:pt x="0" y="351843"/>
                  </a:lnTo>
                  <a:lnTo>
                    <a:pt x="3207" y="304051"/>
                  </a:lnTo>
                  <a:lnTo>
                    <a:pt x="12551" y="258228"/>
                  </a:lnTo>
                  <a:lnTo>
                    <a:pt x="27615" y="214792"/>
                  </a:lnTo>
                  <a:lnTo>
                    <a:pt x="47983" y="174158"/>
                  </a:lnTo>
                  <a:lnTo>
                    <a:pt x="73237" y="136743"/>
                  </a:lnTo>
                  <a:lnTo>
                    <a:pt x="102960" y="102965"/>
                  </a:lnTo>
                  <a:lnTo>
                    <a:pt x="136737" y="73240"/>
                  </a:lnTo>
                  <a:lnTo>
                    <a:pt x="174149" y="47985"/>
                  </a:lnTo>
                  <a:lnTo>
                    <a:pt x="214780" y="27617"/>
                  </a:lnTo>
                  <a:lnTo>
                    <a:pt x="258214" y="12552"/>
                  </a:lnTo>
                  <a:lnTo>
                    <a:pt x="304034" y="3207"/>
                  </a:lnTo>
                  <a:lnTo>
                    <a:pt x="351822" y="0"/>
                  </a:lnTo>
                  <a:close/>
                </a:path>
              </a:pathLst>
            </a:custGeom>
            <a:ln w="2483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4370" y="3624836"/>
              <a:ext cx="300087" cy="1138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23428" y="2852821"/>
              <a:ext cx="4416425" cy="466090"/>
            </a:xfrm>
            <a:custGeom>
              <a:avLst/>
              <a:gdLst/>
              <a:ahLst/>
              <a:cxnLst/>
              <a:rect l="l" t="t" r="r" b="b"/>
              <a:pathLst>
                <a:path w="4416425" h="466089">
                  <a:moveTo>
                    <a:pt x="4410318" y="372553"/>
                  </a:moveTo>
                  <a:lnTo>
                    <a:pt x="4416388" y="12436"/>
                  </a:lnTo>
                  <a:lnTo>
                    <a:pt x="0" y="0"/>
                  </a:lnTo>
                  <a:lnTo>
                    <a:pt x="0" y="465704"/>
                  </a:lnTo>
                </a:path>
              </a:pathLst>
            </a:custGeom>
            <a:ln w="124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6175" y="3330925"/>
              <a:ext cx="1883369" cy="7285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107" y="3308175"/>
              <a:ext cx="1804682" cy="7471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89928" y="3407514"/>
              <a:ext cx="1858645" cy="704215"/>
            </a:xfrm>
            <a:custGeom>
              <a:avLst/>
              <a:gdLst/>
              <a:ahLst/>
              <a:cxnLst/>
              <a:rect l="l" t="t" r="r" b="b"/>
              <a:pathLst>
                <a:path w="1858645" h="704214">
                  <a:moveTo>
                    <a:pt x="1506633" y="0"/>
                  </a:moveTo>
                  <a:lnTo>
                    <a:pt x="353966" y="0"/>
                  </a:lnTo>
                  <a:lnTo>
                    <a:pt x="306142" y="3207"/>
                  </a:lnTo>
                  <a:lnTo>
                    <a:pt x="260211" y="12552"/>
                  </a:lnTo>
                  <a:lnTo>
                    <a:pt x="216603" y="27617"/>
                  </a:lnTo>
                  <a:lnTo>
                    <a:pt x="175751" y="47985"/>
                  </a:lnTo>
                  <a:lnTo>
                    <a:pt x="138088" y="73240"/>
                  </a:lnTo>
                  <a:lnTo>
                    <a:pt x="104044" y="102965"/>
                  </a:lnTo>
                  <a:lnTo>
                    <a:pt x="74053" y="136743"/>
                  </a:lnTo>
                  <a:lnTo>
                    <a:pt x="48546" y="174158"/>
                  </a:lnTo>
                  <a:lnTo>
                    <a:pt x="27955" y="214792"/>
                  </a:lnTo>
                  <a:lnTo>
                    <a:pt x="12712" y="258228"/>
                  </a:lnTo>
                  <a:lnTo>
                    <a:pt x="3250" y="304051"/>
                  </a:lnTo>
                  <a:lnTo>
                    <a:pt x="0" y="351843"/>
                  </a:lnTo>
                  <a:lnTo>
                    <a:pt x="3250" y="399635"/>
                  </a:lnTo>
                  <a:lnTo>
                    <a:pt x="12712" y="445459"/>
                  </a:lnTo>
                  <a:lnTo>
                    <a:pt x="27955" y="488898"/>
                  </a:lnTo>
                  <a:lnTo>
                    <a:pt x="48546" y="529535"/>
                  </a:lnTo>
                  <a:lnTo>
                    <a:pt x="74053" y="566953"/>
                  </a:lnTo>
                  <a:lnTo>
                    <a:pt x="104044" y="600734"/>
                  </a:lnTo>
                  <a:lnTo>
                    <a:pt x="138088" y="630463"/>
                  </a:lnTo>
                  <a:lnTo>
                    <a:pt x="175752" y="655721"/>
                  </a:lnTo>
                  <a:lnTo>
                    <a:pt x="216603" y="676092"/>
                  </a:lnTo>
                  <a:lnTo>
                    <a:pt x="260211" y="691160"/>
                  </a:lnTo>
                  <a:lnTo>
                    <a:pt x="306142" y="700506"/>
                  </a:lnTo>
                  <a:lnTo>
                    <a:pt x="353966" y="703714"/>
                  </a:lnTo>
                  <a:lnTo>
                    <a:pt x="1506634" y="703714"/>
                  </a:lnTo>
                  <a:lnTo>
                    <a:pt x="1554414" y="700506"/>
                  </a:lnTo>
                  <a:lnTo>
                    <a:pt x="1600225" y="691160"/>
                  </a:lnTo>
                  <a:lnTo>
                    <a:pt x="1643652" y="676092"/>
                  </a:lnTo>
                  <a:lnTo>
                    <a:pt x="1684276" y="655721"/>
                  </a:lnTo>
                  <a:lnTo>
                    <a:pt x="1721681" y="630463"/>
                  </a:lnTo>
                  <a:lnTo>
                    <a:pt x="1755452" y="600734"/>
                  </a:lnTo>
                  <a:lnTo>
                    <a:pt x="1785170" y="566953"/>
                  </a:lnTo>
                  <a:lnTo>
                    <a:pt x="1810419" y="529535"/>
                  </a:lnTo>
                  <a:lnTo>
                    <a:pt x="1830782" y="488898"/>
                  </a:lnTo>
                  <a:lnTo>
                    <a:pt x="1845844" y="445459"/>
                  </a:lnTo>
                  <a:lnTo>
                    <a:pt x="1855186" y="399635"/>
                  </a:lnTo>
                  <a:lnTo>
                    <a:pt x="1858393" y="351843"/>
                  </a:lnTo>
                  <a:lnTo>
                    <a:pt x="1855186" y="304051"/>
                  </a:lnTo>
                  <a:lnTo>
                    <a:pt x="1845844" y="258229"/>
                  </a:lnTo>
                  <a:lnTo>
                    <a:pt x="1830782" y="214792"/>
                  </a:lnTo>
                  <a:lnTo>
                    <a:pt x="1810419" y="174158"/>
                  </a:lnTo>
                  <a:lnTo>
                    <a:pt x="1785170" y="136743"/>
                  </a:lnTo>
                  <a:lnTo>
                    <a:pt x="1755452" y="102965"/>
                  </a:lnTo>
                  <a:lnTo>
                    <a:pt x="1721681" y="73240"/>
                  </a:lnTo>
                  <a:lnTo>
                    <a:pt x="1684276" y="47985"/>
                  </a:lnTo>
                  <a:lnTo>
                    <a:pt x="1643652" y="27617"/>
                  </a:lnTo>
                  <a:lnTo>
                    <a:pt x="1600225" y="12552"/>
                  </a:lnTo>
                  <a:lnTo>
                    <a:pt x="1554414" y="3207"/>
                  </a:lnTo>
                  <a:lnTo>
                    <a:pt x="1506633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89928" y="3407514"/>
              <a:ext cx="1858645" cy="704215"/>
            </a:xfrm>
            <a:custGeom>
              <a:avLst/>
              <a:gdLst/>
              <a:ahLst/>
              <a:cxnLst/>
              <a:rect l="l" t="t" r="r" b="b"/>
              <a:pathLst>
                <a:path w="1858645" h="704214">
                  <a:moveTo>
                    <a:pt x="353966" y="0"/>
                  </a:moveTo>
                  <a:lnTo>
                    <a:pt x="1506634" y="0"/>
                  </a:lnTo>
                  <a:lnTo>
                    <a:pt x="1554414" y="3207"/>
                  </a:lnTo>
                  <a:lnTo>
                    <a:pt x="1600225" y="12552"/>
                  </a:lnTo>
                  <a:lnTo>
                    <a:pt x="1643652" y="27617"/>
                  </a:lnTo>
                  <a:lnTo>
                    <a:pt x="1684276" y="47985"/>
                  </a:lnTo>
                  <a:lnTo>
                    <a:pt x="1721681" y="73240"/>
                  </a:lnTo>
                  <a:lnTo>
                    <a:pt x="1755452" y="102965"/>
                  </a:lnTo>
                  <a:lnTo>
                    <a:pt x="1785170" y="136743"/>
                  </a:lnTo>
                  <a:lnTo>
                    <a:pt x="1810419" y="174158"/>
                  </a:lnTo>
                  <a:lnTo>
                    <a:pt x="1830782" y="214792"/>
                  </a:lnTo>
                  <a:lnTo>
                    <a:pt x="1845844" y="258229"/>
                  </a:lnTo>
                  <a:lnTo>
                    <a:pt x="1855186" y="304051"/>
                  </a:lnTo>
                  <a:lnTo>
                    <a:pt x="1858393" y="351843"/>
                  </a:lnTo>
                  <a:lnTo>
                    <a:pt x="1855186" y="399635"/>
                  </a:lnTo>
                  <a:lnTo>
                    <a:pt x="1845844" y="445459"/>
                  </a:lnTo>
                  <a:lnTo>
                    <a:pt x="1830782" y="488898"/>
                  </a:lnTo>
                  <a:lnTo>
                    <a:pt x="1810419" y="529535"/>
                  </a:lnTo>
                  <a:lnTo>
                    <a:pt x="1785170" y="566953"/>
                  </a:lnTo>
                  <a:lnTo>
                    <a:pt x="1755452" y="600734"/>
                  </a:lnTo>
                  <a:lnTo>
                    <a:pt x="1721682" y="630463"/>
                  </a:lnTo>
                  <a:lnTo>
                    <a:pt x="1684276" y="655721"/>
                  </a:lnTo>
                  <a:lnTo>
                    <a:pt x="1643652" y="676092"/>
                  </a:lnTo>
                  <a:lnTo>
                    <a:pt x="1600225" y="691160"/>
                  </a:lnTo>
                  <a:lnTo>
                    <a:pt x="1554414" y="700506"/>
                  </a:lnTo>
                  <a:lnTo>
                    <a:pt x="1506634" y="703714"/>
                  </a:lnTo>
                  <a:lnTo>
                    <a:pt x="353966" y="703714"/>
                  </a:lnTo>
                  <a:lnTo>
                    <a:pt x="306143" y="700506"/>
                  </a:lnTo>
                  <a:lnTo>
                    <a:pt x="260211" y="691160"/>
                  </a:lnTo>
                  <a:lnTo>
                    <a:pt x="216603" y="676092"/>
                  </a:lnTo>
                  <a:lnTo>
                    <a:pt x="175752" y="655721"/>
                  </a:lnTo>
                  <a:lnTo>
                    <a:pt x="138088" y="630463"/>
                  </a:lnTo>
                  <a:lnTo>
                    <a:pt x="104044" y="600734"/>
                  </a:lnTo>
                  <a:lnTo>
                    <a:pt x="74053" y="566953"/>
                  </a:lnTo>
                  <a:lnTo>
                    <a:pt x="48546" y="529535"/>
                  </a:lnTo>
                  <a:lnTo>
                    <a:pt x="27955" y="488898"/>
                  </a:lnTo>
                  <a:lnTo>
                    <a:pt x="12712" y="445459"/>
                  </a:lnTo>
                  <a:lnTo>
                    <a:pt x="3250" y="399635"/>
                  </a:lnTo>
                  <a:lnTo>
                    <a:pt x="0" y="351843"/>
                  </a:lnTo>
                  <a:lnTo>
                    <a:pt x="3250" y="304051"/>
                  </a:lnTo>
                  <a:lnTo>
                    <a:pt x="12712" y="258228"/>
                  </a:lnTo>
                  <a:lnTo>
                    <a:pt x="27955" y="214792"/>
                  </a:lnTo>
                  <a:lnTo>
                    <a:pt x="48546" y="174158"/>
                  </a:lnTo>
                  <a:lnTo>
                    <a:pt x="74053" y="136743"/>
                  </a:lnTo>
                  <a:lnTo>
                    <a:pt x="104044" y="102965"/>
                  </a:lnTo>
                  <a:lnTo>
                    <a:pt x="138088" y="73240"/>
                  </a:lnTo>
                  <a:lnTo>
                    <a:pt x="175751" y="47985"/>
                  </a:lnTo>
                  <a:lnTo>
                    <a:pt x="216603" y="27617"/>
                  </a:lnTo>
                  <a:lnTo>
                    <a:pt x="260211" y="12552"/>
                  </a:lnTo>
                  <a:lnTo>
                    <a:pt x="306142" y="3207"/>
                  </a:lnTo>
                  <a:lnTo>
                    <a:pt x="353966" y="0"/>
                  </a:lnTo>
                  <a:close/>
                </a:path>
              </a:pathLst>
            </a:custGeom>
            <a:ln w="2483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1087" y="3128106"/>
              <a:ext cx="1881024" cy="9168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11013" y="4051195"/>
              <a:ext cx="4418965" cy="461645"/>
            </a:xfrm>
            <a:custGeom>
              <a:avLst/>
              <a:gdLst/>
              <a:ahLst/>
              <a:cxnLst/>
              <a:rect l="l" t="t" r="r" b="b"/>
              <a:pathLst>
                <a:path w="4418965" h="461645">
                  <a:moveTo>
                    <a:pt x="6207" y="88987"/>
                  </a:moveTo>
                  <a:lnTo>
                    <a:pt x="0" y="449126"/>
                  </a:lnTo>
                  <a:lnTo>
                    <a:pt x="4418595" y="461545"/>
                  </a:lnTo>
                  <a:lnTo>
                    <a:pt x="4418595" y="0"/>
                  </a:lnTo>
                </a:path>
              </a:pathLst>
            </a:custGeom>
            <a:ln w="124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9252" y="4051188"/>
              <a:ext cx="113839" cy="186289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8194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Testing</a:t>
            </a:r>
            <a:r>
              <a:rPr spc="-145" dirty="0"/>
              <a:t> </a:t>
            </a:r>
            <a:r>
              <a:rPr spc="-10" dirty="0"/>
              <a:t>stages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8141"/>
            <a:ext cx="8000365" cy="404367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8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Component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Individual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tested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independently;</a:t>
            </a:r>
            <a:endParaRPr sz="2000">
              <a:latin typeface="Arial MT"/>
              <a:cs typeface="Arial MT"/>
            </a:endParaRPr>
          </a:p>
          <a:p>
            <a:pPr marL="756285" marR="9906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functions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objects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coherent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groupings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these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entities.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whole.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emergent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properties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particularly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important.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testing</a:t>
            </a:r>
            <a:endParaRPr sz="2400">
              <a:latin typeface="Arial MT"/>
              <a:cs typeface="Arial MT"/>
            </a:endParaRPr>
          </a:p>
          <a:p>
            <a:pPr marL="756285" marR="246379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customer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data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meets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customer’s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needs.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3523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7785734" cy="423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Software</a:t>
            </a:r>
            <a:r>
              <a:rPr sz="2400" b="1" spc="-2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evolution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inherently flexible and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can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change.</a:t>
            </a:r>
            <a:endParaRPr sz="24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through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business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circumstances,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supports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business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must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also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evolve and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change.</a:t>
            </a:r>
            <a:endParaRPr sz="2400">
              <a:latin typeface="Arial MT"/>
              <a:cs typeface="Arial MT"/>
            </a:endParaRPr>
          </a:p>
          <a:p>
            <a:pPr marL="355600" marR="83185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Although there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been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demarcation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between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evolution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(maintenance)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increasingly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irrelevant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fewer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fewer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completely 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new.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27555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0" dirty="0"/>
              <a:t> 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9169" y="2565243"/>
            <a:ext cx="7551420" cy="2308225"/>
            <a:chOff x="769169" y="2565243"/>
            <a:chExt cx="7551420" cy="2308225"/>
          </a:xfrm>
        </p:grpSpPr>
        <p:sp>
          <p:nvSpPr>
            <p:cNvPr id="4" name="object 4"/>
            <p:cNvSpPr/>
            <p:nvPr/>
          </p:nvSpPr>
          <p:spPr>
            <a:xfrm>
              <a:off x="6908419" y="4275175"/>
              <a:ext cx="1318895" cy="586740"/>
            </a:xfrm>
            <a:custGeom>
              <a:avLst/>
              <a:gdLst/>
              <a:ahLst/>
              <a:cxnLst/>
              <a:rect l="l" t="t" r="r" b="b"/>
              <a:pathLst>
                <a:path w="1318895" h="586739">
                  <a:moveTo>
                    <a:pt x="1318590" y="0"/>
                  </a:moveTo>
                  <a:lnTo>
                    <a:pt x="0" y="0"/>
                  </a:lnTo>
                  <a:lnTo>
                    <a:pt x="0" y="513930"/>
                  </a:lnTo>
                  <a:lnTo>
                    <a:pt x="0" y="586536"/>
                  </a:lnTo>
                  <a:lnTo>
                    <a:pt x="1318590" y="586536"/>
                  </a:lnTo>
                  <a:lnTo>
                    <a:pt x="1318590" y="513930"/>
                  </a:lnTo>
                  <a:lnTo>
                    <a:pt x="1318590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420" y="4275167"/>
              <a:ext cx="1318895" cy="586740"/>
            </a:xfrm>
            <a:custGeom>
              <a:avLst/>
              <a:gdLst/>
              <a:ahLst/>
              <a:cxnLst/>
              <a:rect l="l" t="t" r="r" b="b"/>
              <a:pathLst>
                <a:path w="1318895" h="586739">
                  <a:moveTo>
                    <a:pt x="0" y="586532"/>
                  </a:moveTo>
                  <a:lnTo>
                    <a:pt x="1318590" y="586532"/>
                  </a:lnTo>
                  <a:lnTo>
                    <a:pt x="1318590" y="0"/>
                  </a:lnTo>
                  <a:lnTo>
                    <a:pt x="0" y="0"/>
                  </a:lnTo>
                  <a:lnTo>
                    <a:pt x="0" y="586532"/>
                  </a:lnTo>
                  <a:close/>
                </a:path>
              </a:pathLst>
            </a:custGeom>
            <a:ln w="2290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90927" y="3060067"/>
              <a:ext cx="1706245" cy="649605"/>
            </a:xfrm>
            <a:custGeom>
              <a:avLst/>
              <a:gdLst/>
              <a:ahLst/>
              <a:cxnLst/>
              <a:rect l="l" t="t" r="r" b="b"/>
              <a:pathLst>
                <a:path w="1706245" h="649604">
                  <a:moveTo>
                    <a:pt x="1383304" y="0"/>
                  </a:moveTo>
                  <a:lnTo>
                    <a:pt x="323011" y="0"/>
                  </a:lnTo>
                  <a:lnTo>
                    <a:pt x="275663" y="3516"/>
                  </a:lnTo>
                  <a:lnTo>
                    <a:pt x="230343" y="13734"/>
                  </a:lnTo>
                  <a:lnTo>
                    <a:pt x="187575" y="30152"/>
                  </a:lnTo>
                  <a:lnTo>
                    <a:pt x="147881" y="52272"/>
                  </a:lnTo>
                  <a:lnTo>
                    <a:pt x="111783" y="79593"/>
                  </a:lnTo>
                  <a:lnTo>
                    <a:pt x="79805" y="111617"/>
                  </a:lnTo>
                  <a:lnTo>
                    <a:pt x="52469" y="147844"/>
                  </a:lnTo>
                  <a:lnTo>
                    <a:pt x="30298" y="187774"/>
                  </a:lnTo>
                  <a:lnTo>
                    <a:pt x="13814" y="230907"/>
                  </a:lnTo>
                  <a:lnTo>
                    <a:pt x="3540" y="276745"/>
                  </a:lnTo>
                  <a:lnTo>
                    <a:pt x="0" y="324787"/>
                  </a:lnTo>
                  <a:lnTo>
                    <a:pt x="3540" y="372829"/>
                  </a:lnTo>
                  <a:lnTo>
                    <a:pt x="13814" y="418667"/>
                  </a:lnTo>
                  <a:lnTo>
                    <a:pt x="30298" y="461800"/>
                  </a:lnTo>
                  <a:lnTo>
                    <a:pt x="52469" y="501730"/>
                  </a:lnTo>
                  <a:lnTo>
                    <a:pt x="79805" y="537957"/>
                  </a:lnTo>
                  <a:lnTo>
                    <a:pt x="111783" y="569981"/>
                  </a:lnTo>
                  <a:lnTo>
                    <a:pt x="147881" y="597302"/>
                  </a:lnTo>
                  <a:lnTo>
                    <a:pt x="187575" y="619422"/>
                  </a:lnTo>
                  <a:lnTo>
                    <a:pt x="230343" y="635840"/>
                  </a:lnTo>
                  <a:lnTo>
                    <a:pt x="275663" y="646058"/>
                  </a:lnTo>
                  <a:lnTo>
                    <a:pt x="323011" y="649575"/>
                  </a:lnTo>
                  <a:lnTo>
                    <a:pt x="1383304" y="649575"/>
                  </a:lnTo>
                  <a:lnTo>
                    <a:pt x="1431073" y="646058"/>
                  </a:lnTo>
                  <a:lnTo>
                    <a:pt x="1476650" y="635840"/>
                  </a:lnTo>
                  <a:lnTo>
                    <a:pt x="1519538" y="619422"/>
                  </a:lnTo>
                  <a:lnTo>
                    <a:pt x="1559240" y="597302"/>
                  </a:lnTo>
                  <a:lnTo>
                    <a:pt x="1595260" y="569981"/>
                  </a:lnTo>
                  <a:lnTo>
                    <a:pt x="1627101" y="537957"/>
                  </a:lnTo>
                  <a:lnTo>
                    <a:pt x="1654267" y="501730"/>
                  </a:lnTo>
                  <a:lnTo>
                    <a:pt x="1676260" y="461800"/>
                  </a:lnTo>
                  <a:lnTo>
                    <a:pt x="1692584" y="418667"/>
                  </a:lnTo>
                  <a:lnTo>
                    <a:pt x="1702743" y="372829"/>
                  </a:lnTo>
                  <a:lnTo>
                    <a:pt x="1706240" y="324787"/>
                  </a:lnTo>
                  <a:lnTo>
                    <a:pt x="1702743" y="276745"/>
                  </a:lnTo>
                  <a:lnTo>
                    <a:pt x="1692584" y="230907"/>
                  </a:lnTo>
                  <a:lnTo>
                    <a:pt x="1676260" y="187774"/>
                  </a:lnTo>
                  <a:lnTo>
                    <a:pt x="1654267" y="147844"/>
                  </a:lnTo>
                  <a:lnTo>
                    <a:pt x="1627101" y="111617"/>
                  </a:lnTo>
                  <a:lnTo>
                    <a:pt x="1595260" y="79593"/>
                  </a:lnTo>
                  <a:lnTo>
                    <a:pt x="1559240" y="52272"/>
                  </a:lnTo>
                  <a:lnTo>
                    <a:pt x="1519538" y="30152"/>
                  </a:lnTo>
                  <a:lnTo>
                    <a:pt x="1476650" y="13734"/>
                  </a:lnTo>
                  <a:lnTo>
                    <a:pt x="1431073" y="3516"/>
                  </a:lnTo>
                  <a:lnTo>
                    <a:pt x="1383304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0927" y="3060067"/>
              <a:ext cx="1706245" cy="649605"/>
            </a:xfrm>
            <a:custGeom>
              <a:avLst/>
              <a:gdLst/>
              <a:ahLst/>
              <a:cxnLst/>
              <a:rect l="l" t="t" r="r" b="b"/>
              <a:pathLst>
                <a:path w="1706245" h="649604">
                  <a:moveTo>
                    <a:pt x="323011" y="0"/>
                  </a:moveTo>
                  <a:lnTo>
                    <a:pt x="1383304" y="0"/>
                  </a:lnTo>
                  <a:lnTo>
                    <a:pt x="1431073" y="3516"/>
                  </a:lnTo>
                  <a:lnTo>
                    <a:pt x="1476650" y="13734"/>
                  </a:lnTo>
                  <a:lnTo>
                    <a:pt x="1519537" y="30152"/>
                  </a:lnTo>
                  <a:lnTo>
                    <a:pt x="1559240" y="52272"/>
                  </a:lnTo>
                  <a:lnTo>
                    <a:pt x="1595260" y="79593"/>
                  </a:lnTo>
                  <a:lnTo>
                    <a:pt x="1627101" y="111617"/>
                  </a:lnTo>
                  <a:lnTo>
                    <a:pt x="1654266" y="147844"/>
                  </a:lnTo>
                  <a:lnTo>
                    <a:pt x="1676260" y="187774"/>
                  </a:lnTo>
                  <a:lnTo>
                    <a:pt x="1692584" y="230907"/>
                  </a:lnTo>
                  <a:lnTo>
                    <a:pt x="1702743" y="276745"/>
                  </a:lnTo>
                  <a:lnTo>
                    <a:pt x="1706240" y="324787"/>
                  </a:lnTo>
                  <a:lnTo>
                    <a:pt x="1702743" y="372829"/>
                  </a:lnTo>
                  <a:lnTo>
                    <a:pt x="1692584" y="418667"/>
                  </a:lnTo>
                  <a:lnTo>
                    <a:pt x="1676260" y="461800"/>
                  </a:lnTo>
                  <a:lnTo>
                    <a:pt x="1654266" y="501730"/>
                  </a:lnTo>
                  <a:lnTo>
                    <a:pt x="1627101" y="537957"/>
                  </a:lnTo>
                  <a:lnTo>
                    <a:pt x="1595260" y="569981"/>
                  </a:lnTo>
                  <a:lnTo>
                    <a:pt x="1559240" y="597302"/>
                  </a:lnTo>
                  <a:lnTo>
                    <a:pt x="1519537" y="619422"/>
                  </a:lnTo>
                  <a:lnTo>
                    <a:pt x="1476650" y="635840"/>
                  </a:lnTo>
                  <a:lnTo>
                    <a:pt x="1431073" y="646058"/>
                  </a:lnTo>
                  <a:lnTo>
                    <a:pt x="1383304" y="649575"/>
                  </a:lnTo>
                  <a:lnTo>
                    <a:pt x="323011" y="649575"/>
                  </a:lnTo>
                  <a:lnTo>
                    <a:pt x="275663" y="646058"/>
                  </a:lnTo>
                  <a:lnTo>
                    <a:pt x="230343" y="635840"/>
                  </a:lnTo>
                  <a:lnTo>
                    <a:pt x="187575" y="619422"/>
                  </a:lnTo>
                  <a:lnTo>
                    <a:pt x="147881" y="597302"/>
                  </a:lnTo>
                  <a:lnTo>
                    <a:pt x="111783" y="569981"/>
                  </a:lnTo>
                  <a:lnTo>
                    <a:pt x="79805" y="537957"/>
                  </a:lnTo>
                  <a:lnTo>
                    <a:pt x="52469" y="501730"/>
                  </a:lnTo>
                  <a:lnTo>
                    <a:pt x="30298" y="461800"/>
                  </a:lnTo>
                  <a:lnTo>
                    <a:pt x="13814" y="418667"/>
                  </a:lnTo>
                  <a:lnTo>
                    <a:pt x="3540" y="372829"/>
                  </a:lnTo>
                  <a:lnTo>
                    <a:pt x="0" y="324787"/>
                  </a:lnTo>
                  <a:lnTo>
                    <a:pt x="3540" y="276745"/>
                  </a:lnTo>
                  <a:lnTo>
                    <a:pt x="13814" y="230907"/>
                  </a:lnTo>
                  <a:lnTo>
                    <a:pt x="30298" y="187774"/>
                  </a:lnTo>
                  <a:lnTo>
                    <a:pt x="52469" y="147844"/>
                  </a:lnTo>
                  <a:lnTo>
                    <a:pt x="79805" y="111617"/>
                  </a:lnTo>
                  <a:lnTo>
                    <a:pt x="111783" y="79593"/>
                  </a:lnTo>
                  <a:lnTo>
                    <a:pt x="147881" y="52272"/>
                  </a:lnTo>
                  <a:lnTo>
                    <a:pt x="187575" y="30152"/>
                  </a:lnTo>
                  <a:lnTo>
                    <a:pt x="230343" y="13734"/>
                  </a:lnTo>
                  <a:lnTo>
                    <a:pt x="275663" y="3516"/>
                  </a:lnTo>
                  <a:lnTo>
                    <a:pt x="323011" y="0"/>
                  </a:lnTo>
                  <a:close/>
                </a:path>
              </a:pathLst>
            </a:custGeom>
            <a:ln w="22912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6932" y="3060067"/>
              <a:ext cx="1706880" cy="649605"/>
            </a:xfrm>
            <a:custGeom>
              <a:avLst/>
              <a:gdLst/>
              <a:ahLst/>
              <a:cxnLst/>
              <a:rect l="l" t="t" r="r" b="b"/>
              <a:pathLst>
                <a:path w="1706879" h="649604">
                  <a:moveTo>
                    <a:pt x="1383178" y="0"/>
                  </a:moveTo>
                  <a:lnTo>
                    <a:pt x="324961" y="0"/>
                  </a:lnTo>
                  <a:lnTo>
                    <a:pt x="277145" y="3516"/>
                  </a:lnTo>
                  <a:lnTo>
                    <a:pt x="231439" y="13734"/>
                  </a:lnTo>
                  <a:lnTo>
                    <a:pt x="188358" y="30152"/>
                  </a:lnTo>
                  <a:lnTo>
                    <a:pt x="148417" y="52272"/>
                  </a:lnTo>
                  <a:lnTo>
                    <a:pt x="112131" y="79593"/>
                  </a:lnTo>
                  <a:lnTo>
                    <a:pt x="80014" y="111617"/>
                  </a:lnTo>
                  <a:lnTo>
                    <a:pt x="52582" y="147844"/>
                  </a:lnTo>
                  <a:lnTo>
                    <a:pt x="30349" y="187774"/>
                  </a:lnTo>
                  <a:lnTo>
                    <a:pt x="13832" y="230907"/>
                  </a:lnTo>
                  <a:lnTo>
                    <a:pt x="3543" y="276745"/>
                  </a:lnTo>
                  <a:lnTo>
                    <a:pt x="0" y="324787"/>
                  </a:lnTo>
                  <a:lnTo>
                    <a:pt x="3543" y="372829"/>
                  </a:lnTo>
                  <a:lnTo>
                    <a:pt x="13832" y="418667"/>
                  </a:lnTo>
                  <a:lnTo>
                    <a:pt x="30349" y="461800"/>
                  </a:lnTo>
                  <a:lnTo>
                    <a:pt x="52582" y="501730"/>
                  </a:lnTo>
                  <a:lnTo>
                    <a:pt x="80014" y="537957"/>
                  </a:lnTo>
                  <a:lnTo>
                    <a:pt x="112131" y="569981"/>
                  </a:lnTo>
                  <a:lnTo>
                    <a:pt x="148417" y="597302"/>
                  </a:lnTo>
                  <a:lnTo>
                    <a:pt x="188358" y="619422"/>
                  </a:lnTo>
                  <a:lnTo>
                    <a:pt x="231439" y="635840"/>
                  </a:lnTo>
                  <a:lnTo>
                    <a:pt x="277145" y="646058"/>
                  </a:lnTo>
                  <a:lnTo>
                    <a:pt x="324961" y="649575"/>
                  </a:lnTo>
                  <a:lnTo>
                    <a:pt x="1383178" y="649575"/>
                  </a:lnTo>
                  <a:lnTo>
                    <a:pt x="1431009" y="646058"/>
                  </a:lnTo>
                  <a:lnTo>
                    <a:pt x="1476638" y="635840"/>
                  </a:lnTo>
                  <a:lnTo>
                    <a:pt x="1519567" y="619422"/>
                  </a:lnTo>
                  <a:lnTo>
                    <a:pt x="1559301" y="597302"/>
                  </a:lnTo>
                  <a:lnTo>
                    <a:pt x="1595345" y="569981"/>
                  </a:lnTo>
                  <a:lnTo>
                    <a:pt x="1627204" y="537957"/>
                  </a:lnTo>
                  <a:lnTo>
                    <a:pt x="1654381" y="501730"/>
                  </a:lnTo>
                  <a:lnTo>
                    <a:pt x="1676381" y="461800"/>
                  </a:lnTo>
                  <a:lnTo>
                    <a:pt x="1692709" y="418667"/>
                  </a:lnTo>
                  <a:lnTo>
                    <a:pt x="1702870" y="372829"/>
                  </a:lnTo>
                  <a:lnTo>
                    <a:pt x="1706367" y="324787"/>
                  </a:lnTo>
                  <a:lnTo>
                    <a:pt x="1702870" y="276745"/>
                  </a:lnTo>
                  <a:lnTo>
                    <a:pt x="1692709" y="230907"/>
                  </a:lnTo>
                  <a:lnTo>
                    <a:pt x="1676381" y="187774"/>
                  </a:lnTo>
                  <a:lnTo>
                    <a:pt x="1654381" y="147844"/>
                  </a:lnTo>
                  <a:lnTo>
                    <a:pt x="1627204" y="111617"/>
                  </a:lnTo>
                  <a:lnTo>
                    <a:pt x="1595345" y="79593"/>
                  </a:lnTo>
                  <a:lnTo>
                    <a:pt x="1559301" y="52272"/>
                  </a:lnTo>
                  <a:lnTo>
                    <a:pt x="1519567" y="30152"/>
                  </a:lnTo>
                  <a:lnTo>
                    <a:pt x="1476638" y="13734"/>
                  </a:lnTo>
                  <a:lnTo>
                    <a:pt x="1431009" y="3516"/>
                  </a:lnTo>
                  <a:lnTo>
                    <a:pt x="1383178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6932" y="3060067"/>
              <a:ext cx="1706880" cy="649605"/>
            </a:xfrm>
            <a:custGeom>
              <a:avLst/>
              <a:gdLst/>
              <a:ahLst/>
              <a:cxnLst/>
              <a:rect l="l" t="t" r="r" b="b"/>
              <a:pathLst>
                <a:path w="1706879" h="649604">
                  <a:moveTo>
                    <a:pt x="324961" y="0"/>
                  </a:moveTo>
                  <a:lnTo>
                    <a:pt x="1383177" y="0"/>
                  </a:lnTo>
                  <a:lnTo>
                    <a:pt x="1431009" y="3516"/>
                  </a:lnTo>
                  <a:lnTo>
                    <a:pt x="1476638" y="13734"/>
                  </a:lnTo>
                  <a:lnTo>
                    <a:pt x="1519567" y="30152"/>
                  </a:lnTo>
                  <a:lnTo>
                    <a:pt x="1559301" y="52272"/>
                  </a:lnTo>
                  <a:lnTo>
                    <a:pt x="1595345" y="79593"/>
                  </a:lnTo>
                  <a:lnTo>
                    <a:pt x="1627204" y="111617"/>
                  </a:lnTo>
                  <a:lnTo>
                    <a:pt x="1654381" y="147844"/>
                  </a:lnTo>
                  <a:lnTo>
                    <a:pt x="1676381" y="187774"/>
                  </a:lnTo>
                  <a:lnTo>
                    <a:pt x="1692709" y="230907"/>
                  </a:lnTo>
                  <a:lnTo>
                    <a:pt x="1702870" y="276745"/>
                  </a:lnTo>
                  <a:lnTo>
                    <a:pt x="1706366" y="324787"/>
                  </a:lnTo>
                  <a:lnTo>
                    <a:pt x="1702870" y="372829"/>
                  </a:lnTo>
                  <a:lnTo>
                    <a:pt x="1692709" y="418667"/>
                  </a:lnTo>
                  <a:lnTo>
                    <a:pt x="1676381" y="461800"/>
                  </a:lnTo>
                  <a:lnTo>
                    <a:pt x="1654381" y="501730"/>
                  </a:lnTo>
                  <a:lnTo>
                    <a:pt x="1627204" y="537957"/>
                  </a:lnTo>
                  <a:lnTo>
                    <a:pt x="1595345" y="569981"/>
                  </a:lnTo>
                  <a:lnTo>
                    <a:pt x="1559301" y="597302"/>
                  </a:lnTo>
                  <a:lnTo>
                    <a:pt x="1519567" y="619422"/>
                  </a:lnTo>
                  <a:lnTo>
                    <a:pt x="1476638" y="635840"/>
                  </a:lnTo>
                  <a:lnTo>
                    <a:pt x="1431009" y="646058"/>
                  </a:lnTo>
                  <a:lnTo>
                    <a:pt x="1383177" y="649575"/>
                  </a:lnTo>
                  <a:lnTo>
                    <a:pt x="324961" y="649575"/>
                  </a:lnTo>
                  <a:lnTo>
                    <a:pt x="277145" y="646058"/>
                  </a:lnTo>
                  <a:lnTo>
                    <a:pt x="231439" y="635840"/>
                  </a:lnTo>
                  <a:lnTo>
                    <a:pt x="188358" y="619422"/>
                  </a:lnTo>
                  <a:lnTo>
                    <a:pt x="148417" y="597302"/>
                  </a:lnTo>
                  <a:lnTo>
                    <a:pt x="112131" y="569981"/>
                  </a:lnTo>
                  <a:lnTo>
                    <a:pt x="80014" y="537957"/>
                  </a:lnTo>
                  <a:lnTo>
                    <a:pt x="52582" y="501730"/>
                  </a:lnTo>
                  <a:lnTo>
                    <a:pt x="30349" y="461800"/>
                  </a:lnTo>
                  <a:lnTo>
                    <a:pt x="13832" y="418667"/>
                  </a:lnTo>
                  <a:lnTo>
                    <a:pt x="3543" y="372829"/>
                  </a:lnTo>
                  <a:lnTo>
                    <a:pt x="0" y="324787"/>
                  </a:lnTo>
                  <a:lnTo>
                    <a:pt x="3543" y="276745"/>
                  </a:lnTo>
                  <a:lnTo>
                    <a:pt x="13832" y="230907"/>
                  </a:lnTo>
                  <a:lnTo>
                    <a:pt x="30349" y="187774"/>
                  </a:lnTo>
                  <a:lnTo>
                    <a:pt x="52582" y="147844"/>
                  </a:lnTo>
                  <a:lnTo>
                    <a:pt x="80014" y="111617"/>
                  </a:lnTo>
                  <a:lnTo>
                    <a:pt x="112131" y="79593"/>
                  </a:lnTo>
                  <a:lnTo>
                    <a:pt x="148417" y="52272"/>
                  </a:lnTo>
                  <a:lnTo>
                    <a:pt x="188358" y="30152"/>
                  </a:lnTo>
                  <a:lnTo>
                    <a:pt x="231439" y="13734"/>
                  </a:lnTo>
                  <a:lnTo>
                    <a:pt x="277145" y="3516"/>
                  </a:lnTo>
                  <a:lnTo>
                    <a:pt x="324961" y="0"/>
                  </a:lnTo>
                  <a:close/>
                </a:path>
              </a:pathLst>
            </a:custGeom>
            <a:ln w="22912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19012" y="3060067"/>
              <a:ext cx="1490345" cy="649605"/>
            </a:xfrm>
            <a:custGeom>
              <a:avLst/>
              <a:gdLst/>
              <a:ahLst/>
              <a:cxnLst/>
              <a:rect l="l" t="t" r="r" b="b"/>
              <a:pathLst>
                <a:path w="1490345" h="649604">
                  <a:moveTo>
                    <a:pt x="1166874" y="0"/>
                  </a:moveTo>
                  <a:lnTo>
                    <a:pt x="323189" y="0"/>
                  </a:lnTo>
                  <a:lnTo>
                    <a:pt x="275414" y="3516"/>
                  </a:lnTo>
                  <a:lnTo>
                    <a:pt x="229821" y="13734"/>
                  </a:lnTo>
                  <a:lnTo>
                    <a:pt x="186909" y="30152"/>
                  </a:lnTo>
                  <a:lnTo>
                    <a:pt x="147177" y="52272"/>
                  </a:lnTo>
                  <a:lnTo>
                    <a:pt x="111124" y="79593"/>
                  </a:lnTo>
                  <a:lnTo>
                    <a:pt x="79248" y="111617"/>
                  </a:lnTo>
                  <a:lnTo>
                    <a:pt x="52049" y="147844"/>
                  </a:lnTo>
                  <a:lnTo>
                    <a:pt x="30026" y="187774"/>
                  </a:lnTo>
                  <a:lnTo>
                    <a:pt x="13677" y="230907"/>
                  </a:lnTo>
                  <a:lnTo>
                    <a:pt x="3502" y="276745"/>
                  </a:lnTo>
                  <a:lnTo>
                    <a:pt x="0" y="324787"/>
                  </a:lnTo>
                  <a:lnTo>
                    <a:pt x="3502" y="372829"/>
                  </a:lnTo>
                  <a:lnTo>
                    <a:pt x="13677" y="418667"/>
                  </a:lnTo>
                  <a:lnTo>
                    <a:pt x="30026" y="461800"/>
                  </a:lnTo>
                  <a:lnTo>
                    <a:pt x="52049" y="501730"/>
                  </a:lnTo>
                  <a:lnTo>
                    <a:pt x="79248" y="537957"/>
                  </a:lnTo>
                  <a:lnTo>
                    <a:pt x="111124" y="569981"/>
                  </a:lnTo>
                  <a:lnTo>
                    <a:pt x="147177" y="597302"/>
                  </a:lnTo>
                  <a:lnTo>
                    <a:pt x="186909" y="619422"/>
                  </a:lnTo>
                  <a:lnTo>
                    <a:pt x="229821" y="635840"/>
                  </a:lnTo>
                  <a:lnTo>
                    <a:pt x="275414" y="646058"/>
                  </a:lnTo>
                  <a:lnTo>
                    <a:pt x="323189" y="649575"/>
                  </a:lnTo>
                  <a:lnTo>
                    <a:pt x="1166874" y="649575"/>
                  </a:lnTo>
                  <a:lnTo>
                    <a:pt x="1214643" y="646058"/>
                  </a:lnTo>
                  <a:lnTo>
                    <a:pt x="1260219" y="635840"/>
                  </a:lnTo>
                  <a:lnTo>
                    <a:pt x="1303107" y="619422"/>
                  </a:lnTo>
                  <a:lnTo>
                    <a:pt x="1342809" y="597302"/>
                  </a:lnTo>
                  <a:lnTo>
                    <a:pt x="1378830" y="569981"/>
                  </a:lnTo>
                  <a:lnTo>
                    <a:pt x="1410671" y="537957"/>
                  </a:lnTo>
                  <a:lnTo>
                    <a:pt x="1437836" y="501730"/>
                  </a:lnTo>
                  <a:lnTo>
                    <a:pt x="1459830" y="461800"/>
                  </a:lnTo>
                  <a:lnTo>
                    <a:pt x="1476154" y="418667"/>
                  </a:lnTo>
                  <a:lnTo>
                    <a:pt x="1486313" y="372829"/>
                  </a:lnTo>
                  <a:lnTo>
                    <a:pt x="1489810" y="324787"/>
                  </a:lnTo>
                  <a:lnTo>
                    <a:pt x="1486313" y="276745"/>
                  </a:lnTo>
                  <a:lnTo>
                    <a:pt x="1476154" y="230907"/>
                  </a:lnTo>
                  <a:lnTo>
                    <a:pt x="1459830" y="187774"/>
                  </a:lnTo>
                  <a:lnTo>
                    <a:pt x="1437836" y="147844"/>
                  </a:lnTo>
                  <a:lnTo>
                    <a:pt x="1410671" y="111617"/>
                  </a:lnTo>
                  <a:lnTo>
                    <a:pt x="1378830" y="79593"/>
                  </a:lnTo>
                  <a:lnTo>
                    <a:pt x="1342809" y="52272"/>
                  </a:lnTo>
                  <a:lnTo>
                    <a:pt x="1303107" y="30152"/>
                  </a:lnTo>
                  <a:lnTo>
                    <a:pt x="1260219" y="13734"/>
                  </a:lnTo>
                  <a:lnTo>
                    <a:pt x="1214643" y="3516"/>
                  </a:lnTo>
                  <a:lnTo>
                    <a:pt x="1166874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19012" y="3060067"/>
              <a:ext cx="1490345" cy="649605"/>
            </a:xfrm>
            <a:custGeom>
              <a:avLst/>
              <a:gdLst/>
              <a:ahLst/>
              <a:cxnLst/>
              <a:rect l="l" t="t" r="r" b="b"/>
              <a:pathLst>
                <a:path w="1490345" h="649604">
                  <a:moveTo>
                    <a:pt x="323188" y="0"/>
                  </a:moveTo>
                  <a:lnTo>
                    <a:pt x="1166874" y="0"/>
                  </a:lnTo>
                  <a:lnTo>
                    <a:pt x="1214643" y="3516"/>
                  </a:lnTo>
                  <a:lnTo>
                    <a:pt x="1260219" y="13734"/>
                  </a:lnTo>
                  <a:lnTo>
                    <a:pt x="1303107" y="30152"/>
                  </a:lnTo>
                  <a:lnTo>
                    <a:pt x="1342809" y="52272"/>
                  </a:lnTo>
                  <a:lnTo>
                    <a:pt x="1378829" y="79593"/>
                  </a:lnTo>
                  <a:lnTo>
                    <a:pt x="1410671" y="111617"/>
                  </a:lnTo>
                  <a:lnTo>
                    <a:pt x="1437836" y="147844"/>
                  </a:lnTo>
                  <a:lnTo>
                    <a:pt x="1459830" y="187774"/>
                  </a:lnTo>
                  <a:lnTo>
                    <a:pt x="1476154" y="230907"/>
                  </a:lnTo>
                  <a:lnTo>
                    <a:pt x="1486313" y="276745"/>
                  </a:lnTo>
                  <a:lnTo>
                    <a:pt x="1489810" y="324787"/>
                  </a:lnTo>
                  <a:lnTo>
                    <a:pt x="1486313" y="372829"/>
                  </a:lnTo>
                  <a:lnTo>
                    <a:pt x="1476154" y="418667"/>
                  </a:lnTo>
                  <a:lnTo>
                    <a:pt x="1459830" y="461800"/>
                  </a:lnTo>
                  <a:lnTo>
                    <a:pt x="1437836" y="501730"/>
                  </a:lnTo>
                  <a:lnTo>
                    <a:pt x="1410671" y="537957"/>
                  </a:lnTo>
                  <a:lnTo>
                    <a:pt x="1378829" y="569981"/>
                  </a:lnTo>
                  <a:lnTo>
                    <a:pt x="1342809" y="597302"/>
                  </a:lnTo>
                  <a:lnTo>
                    <a:pt x="1303107" y="619422"/>
                  </a:lnTo>
                  <a:lnTo>
                    <a:pt x="1260219" y="635840"/>
                  </a:lnTo>
                  <a:lnTo>
                    <a:pt x="1214643" y="646058"/>
                  </a:lnTo>
                  <a:lnTo>
                    <a:pt x="1166874" y="649575"/>
                  </a:lnTo>
                  <a:lnTo>
                    <a:pt x="323188" y="649575"/>
                  </a:lnTo>
                  <a:lnTo>
                    <a:pt x="275414" y="646058"/>
                  </a:lnTo>
                  <a:lnTo>
                    <a:pt x="229821" y="635840"/>
                  </a:lnTo>
                  <a:lnTo>
                    <a:pt x="186909" y="619422"/>
                  </a:lnTo>
                  <a:lnTo>
                    <a:pt x="147177" y="597302"/>
                  </a:lnTo>
                  <a:lnTo>
                    <a:pt x="111124" y="569981"/>
                  </a:lnTo>
                  <a:lnTo>
                    <a:pt x="79248" y="537957"/>
                  </a:lnTo>
                  <a:lnTo>
                    <a:pt x="52049" y="501730"/>
                  </a:lnTo>
                  <a:lnTo>
                    <a:pt x="30026" y="461800"/>
                  </a:lnTo>
                  <a:lnTo>
                    <a:pt x="13677" y="418667"/>
                  </a:lnTo>
                  <a:lnTo>
                    <a:pt x="3502" y="372829"/>
                  </a:lnTo>
                  <a:lnTo>
                    <a:pt x="0" y="324787"/>
                  </a:lnTo>
                  <a:lnTo>
                    <a:pt x="3502" y="276745"/>
                  </a:lnTo>
                  <a:lnTo>
                    <a:pt x="13677" y="230907"/>
                  </a:lnTo>
                  <a:lnTo>
                    <a:pt x="30026" y="187774"/>
                  </a:lnTo>
                  <a:lnTo>
                    <a:pt x="52049" y="147844"/>
                  </a:lnTo>
                  <a:lnTo>
                    <a:pt x="79248" y="111617"/>
                  </a:lnTo>
                  <a:lnTo>
                    <a:pt x="111124" y="79593"/>
                  </a:lnTo>
                  <a:lnTo>
                    <a:pt x="147177" y="52272"/>
                  </a:lnTo>
                  <a:lnTo>
                    <a:pt x="186909" y="30152"/>
                  </a:lnTo>
                  <a:lnTo>
                    <a:pt x="229821" y="13734"/>
                  </a:lnTo>
                  <a:lnTo>
                    <a:pt x="275414" y="3516"/>
                  </a:lnTo>
                  <a:lnTo>
                    <a:pt x="323188" y="0"/>
                  </a:lnTo>
                  <a:close/>
                </a:path>
              </a:pathLst>
            </a:custGeom>
            <a:ln w="22908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2046" y="3753602"/>
              <a:ext cx="3197860" cy="739775"/>
            </a:xfrm>
            <a:custGeom>
              <a:avLst/>
              <a:gdLst/>
              <a:ahLst/>
              <a:cxnLst/>
              <a:rect l="l" t="t" r="r" b="b"/>
              <a:pathLst>
                <a:path w="3197859" h="739775">
                  <a:moveTo>
                    <a:pt x="3197696" y="739355"/>
                  </a:moveTo>
                  <a:lnTo>
                    <a:pt x="0" y="739355"/>
                  </a:lnTo>
                  <a:lnTo>
                    <a:pt x="0" y="0"/>
                  </a:lnTo>
                </a:path>
              </a:pathLst>
            </a:custGeom>
            <a:ln w="11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0746" y="3673370"/>
              <a:ext cx="104371" cy="16999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7452" y="3747872"/>
              <a:ext cx="0" cy="455295"/>
            </a:xfrm>
            <a:custGeom>
              <a:avLst/>
              <a:gdLst/>
              <a:ahLst/>
              <a:cxnLst/>
              <a:rect l="l" t="t" r="r" b="b"/>
              <a:pathLst>
                <a:path h="455295">
                  <a:moveTo>
                    <a:pt x="0" y="454707"/>
                  </a:moveTo>
                  <a:lnTo>
                    <a:pt x="0" y="454707"/>
                  </a:lnTo>
                  <a:lnTo>
                    <a:pt x="0" y="0"/>
                  </a:lnTo>
                </a:path>
              </a:pathLst>
            </a:custGeom>
            <a:ln w="11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6127" y="3667639"/>
              <a:ext cx="104523" cy="1699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8781" y="3260697"/>
              <a:ext cx="277496" cy="1031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6310" y="3260697"/>
              <a:ext cx="275470" cy="1031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52829" y="3060067"/>
              <a:ext cx="1634489" cy="649605"/>
            </a:xfrm>
            <a:custGeom>
              <a:avLst/>
              <a:gdLst/>
              <a:ahLst/>
              <a:cxnLst/>
              <a:rect l="l" t="t" r="r" b="b"/>
              <a:pathLst>
                <a:path w="1634489" h="649604">
                  <a:moveTo>
                    <a:pt x="1311070" y="0"/>
                  </a:moveTo>
                  <a:lnTo>
                    <a:pt x="323014" y="0"/>
                  </a:lnTo>
                  <a:lnTo>
                    <a:pt x="275233" y="3516"/>
                  </a:lnTo>
                  <a:lnTo>
                    <a:pt x="229646" y="13734"/>
                  </a:lnTo>
                  <a:lnTo>
                    <a:pt x="186747" y="30152"/>
                  </a:lnTo>
                  <a:lnTo>
                    <a:pt x="147036" y="52272"/>
                  </a:lnTo>
                  <a:lnTo>
                    <a:pt x="111007" y="79593"/>
                  </a:lnTo>
                  <a:lnTo>
                    <a:pt x="79158" y="111617"/>
                  </a:lnTo>
                  <a:lnTo>
                    <a:pt x="51986" y="147844"/>
                  </a:lnTo>
                  <a:lnTo>
                    <a:pt x="29987" y="187774"/>
                  </a:lnTo>
                  <a:lnTo>
                    <a:pt x="13658" y="230907"/>
                  </a:lnTo>
                  <a:lnTo>
                    <a:pt x="3497" y="276745"/>
                  </a:lnTo>
                  <a:lnTo>
                    <a:pt x="0" y="324787"/>
                  </a:lnTo>
                  <a:lnTo>
                    <a:pt x="3497" y="372829"/>
                  </a:lnTo>
                  <a:lnTo>
                    <a:pt x="13658" y="418667"/>
                  </a:lnTo>
                  <a:lnTo>
                    <a:pt x="29987" y="461800"/>
                  </a:lnTo>
                  <a:lnTo>
                    <a:pt x="51986" y="501730"/>
                  </a:lnTo>
                  <a:lnTo>
                    <a:pt x="79158" y="537957"/>
                  </a:lnTo>
                  <a:lnTo>
                    <a:pt x="111007" y="569981"/>
                  </a:lnTo>
                  <a:lnTo>
                    <a:pt x="147036" y="597302"/>
                  </a:lnTo>
                  <a:lnTo>
                    <a:pt x="186747" y="619422"/>
                  </a:lnTo>
                  <a:lnTo>
                    <a:pt x="229646" y="635840"/>
                  </a:lnTo>
                  <a:lnTo>
                    <a:pt x="275233" y="646058"/>
                  </a:lnTo>
                  <a:lnTo>
                    <a:pt x="323014" y="649575"/>
                  </a:lnTo>
                  <a:lnTo>
                    <a:pt x="1311070" y="649575"/>
                  </a:lnTo>
                  <a:lnTo>
                    <a:pt x="1358852" y="646058"/>
                  </a:lnTo>
                  <a:lnTo>
                    <a:pt x="1404441" y="635840"/>
                  </a:lnTo>
                  <a:lnTo>
                    <a:pt x="1447340" y="619422"/>
                  </a:lnTo>
                  <a:lnTo>
                    <a:pt x="1487051" y="597302"/>
                  </a:lnTo>
                  <a:lnTo>
                    <a:pt x="1523079" y="569981"/>
                  </a:lnTo>
                  <a:lnTo>
                    <a:pt x="1554927" y="537957"/>
                  </a:lnTo>
                  <a:lnTo>
                    <a:pt x="1582099" y="501730"/>
                  </a:lnTo>
                  <a:lnTo>
                    <a:pt x="1604096" y="461800"/>
                  </a:lnTo>
                  <a:lnTo>
                    <a:pt x="1620424" y="418667"/>
                  </a:lnTo>
                  <a:lnTo>
                    <a:pt x="1630585" y="372829"/>
                  </a:lnTo>
                  <a:lnTo>
                    <a:pt x="1634082" y="324787"/>
                  </a:lnTo>
                  <a:lnTo>
                    <a:pt x="1630585" y="276745"/>
                  </a:lnTo>
                  <a:lnTo>
                    <a:pt x="1620424" y="230907"/>
                  </a:lnTo>
                  <a:lnTo>
                    <a:pt x="1604096" y="187774"/>
                  </a:lnTo>
                  <a:lnTo>
                    <a:pt x="1582099" y="147844"/>
                  </a:lnTo>
                  <a:lnTo>
                    <a:pt x="1554927" y="111617"/>
                  </a:lnTo>
                  <a:lnTo>
                    <a:pt x="1523079" y="79593"/>
                  </a:lnTo>
                  <a:lnTo>
                    <a:pt x="1487051" y="52272"/>
                  </a:lnTo>
                  <a:lnTo>
                    <a:pt x="1447340" y="30152"/>
                  </a:lnTo>
                  <a:lnTo>
                    <a:pt x="1404441" y="13734"/>
                  </a:lnTo>
                  <a:lnTo>
                    <a:pt x="1358852" y="3516"/>
                  </a:lnTo>
                  <a:lnTo>
                    <a:pt x="1311070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829" y="3060067"/>
              <a:ext cx="1634489" cy="649605"/>
            </a:xfrm>
            <a:custGeom>
              <a:avLst/>
              <a:gdLst/>
              <a:ahLst/>
              <a:cxnLst/>
              <a:rect l="l" t="t" r="r" b="b"/>
              <a:pathLst>
                <a:path w="1634489" h="649604">
                  <a:moveTo>
                    <a:pt x="323014" y="0"/>
                  </a:moveTo>
                  <a:lnTo>
                    <a:pt x="1311070" y="0"/>
                  </a:lnTo>
                  <a:lnTo>
                    <a:pt x="1358852" y="3516"/>
                  </a:lnTo>
                  <a:lnTo>
                    <a:pt x="1404441" y="13734"/>
                  </a:lnTo>
                  <a:lnTo>
                    <a:pt x="1447339" y="30152"/>
                  </a:lnTo>
                  <a:lnTo>
                    <a:pt x="1487051" y="52272"/>
                  </a:lnTo>
                  <a:lnTo>
                    <a:pt x="1523079" y="79593"/>
                  </a:lnTo>
                  <a:lnTo>
                    <a:pt x="1554927" y="111617"/>
                  </a:lnTo>
                  <a:lnTo>
                    <a:pt x="1582099" y="147844"/>
                  </a:lnTo>
                  <a:lnTo>
                    <a:pt x="1604096" y="187774"/>
                  </a:lnTo>
                  <a:lnTo>
                    <a:pt x="1620424" y="230907"/>
                  </a:lnTo>
                  <a:lnTo>
                    <a:pt x="1630585" y="276745"/>
                  </a:lnTo>
                  <a:lnTo>
                    <a:pt x="1634082" y="324787"/>
                  </a:lnTo>
                  <a:lnTo>
                    <a:pt x="1630585" y="372829"/>
                  </a:lnTo>
                  <a:lnTo>
                    <a:pt x="1620424" y="418667"/>
                  </a:lnTo>
                  <a:lnTo>
                    <a:pt x="1604096" y="461800"/>
                  </a:lnTo>
                  <a:lnTo>
                    <a:pt x="1582099" y="501730"/>
                  </a:lnTo>
                  <a:lnTo>
                    <a:pt x="1554927" y="537957"/>
                  </a:lnTo>
                  <a:lnTo>
                    <a:pt x="1523079" y="569981"/>
                  </a:lnTo>
                  <a:lnTo>
                    <a:pt x="1487051" y="597302"/>
                  </a:lnTo>
                  <a:lnTo>
                    <a:pt x="1447339" y="619422"/>
                  </a:lnTo>
                  <a:lnTo>
                    <a:pt x="1404441" y="635840"/>
                  </a:lnTo>
                  <a:lnTo>
                    <a:pt x="1358852" y="646058"/>
                  </a:lnTo>
                  <a:lnTo>
                    <a:pt x="1311070" y="649575"/>
                  </a:lnTo>
                  <a:lnTo>
                    <a:pt x="323014" y="649575"/>
                  </a:lnTo>
                  <a:lnTo>
                    <a:pt x="275233" y="646058"/>
                  </a:lnTo>
                  <a:lnTo>
                    <a:pt x="229646" y="635840"/>
                  </a:lnTo>
                  <a:lnTo>
                    <a:pt x="186747" y="619422"/>
                  </a:lnTo>
                  <a:lnTo>
                    <a:pt x="147036" y="597302"/>
                  </a:lnTo>
                  <a:lnTo>
                    <a:pt x="111007" y="569981"/>
                  </a:lnTo>
                  <a:lnTo>
                    <a:pt x="79158" y="537957"/>
                  </a:lnTo>
                  <a:lnTo>
                    <a:pt x="51986" y="501730"/>
                  </a:lnTo>
                  <a:lnTo>
                    <a:pt x="29987" y="461800"/>
                  </a:lnTo>
                  <a:lnTo>
                    <a:pt x="13658" y="418667"/>
                  </a:lnTo>
                  <a:lnTo>
                    <a:pt x="3497" y="372829"/>
                  </a:lnTo>
                  <a:lnTo>
                    <a:pt x="0" y="324787"/>
                  </a:lnTo>
                  <a:lnTo>
                    <a:pt x="3497" y="276745"/>
                  </a:lnTo>
                  <a:lnTo>
                    <a:pt x="13658" y="230907"/>
                  </a:lnTo>
                  <a:lnTo>
                    <a:pt x="29987" y="187774"/>
                  </a:lnTo>
                  <a:lnTo>
                    <a:pt x="51986" y="147844"/>
                  </a:lnTo>
                  <a:lnTo>
                    <a:pt x="79158" y="111617"/>
                  </a:lnTo>
                  <a:lnTo>
                    <a:pt x="111007" y="79593"/>
                  </a:lnTo>
                  <a:lnTo>
                    <a:pt x="147036" y="52272"/>
                  </a:lnTo>
                  <a:lnTo>
                    <a:pt x="186747" y="30152"/>
                  </a:lnTo>
                  <a:lnTo>
                    <a:pt x="229646" y="13734"/>
                  </a:lnTo>
                  <a:lnTo>
                    <a:pt x="275233" y="3516"/>
                  </a:lnTo>
                  <a:lnTo>
                    <a:pt x="323014" y="0"/>
                  </a:lnTo>
                  <a:close/>
                </a:path>
              </a:pathLst>
            </a:custGeom>
            <a:ln w="22911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14700" y="3260697"/>
              <a:ext cx="275546" cy="1031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574865" y="2570975"/>
              <a:ext cx="5915660" cy="418465"/>
            </a:xfrm>
            <a:custGeom>
              <a:avLst/>
              <a:gdLst/>
              <a:ahLst/>
              <a:cxnLst/>
              <a:rect l="l" t="t" r="r" b="b"/>
              <a:pathLst>
                <a:path w="5915659" h="418464">
                  <a:moveTo>
                    <a:pt x="5915093" y="418413"/>
                  </a:moveTo>
                  <a:lnTo>
                    <a:pt x="5915093" y="0"/>
                  </a:lnTo>
                  <a:lnTo>
                    <a:pt x="0" y="0"/>
                  </a:lnTo>
                  <a:lnTo>
                    <a:pt x="1899" y="301864"/>
                  </a:lnTo>
                </a:path>
              </a:pathLst>
            </a:custGeom>
            <a:ln w="11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9159" y="2976022"/>
              <a:ext cx="1727278" cy="672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169" y="2783057"/>
              <a:ext cx="1656986" cy="8654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35372" y="2976024"/>
              <a:ext cx="1512718" cy="182452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5063" y="2976022"/>
              <a:ext cx="1727506" cy="6724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471712" y="4275175"/>
              <a:ext cx="1316990" cy="586740"/>
            </a:xfrm>
            <a:custGeom>
              <a:avLst/>
              <a:gdLst/>
              <a:ahLst/>
              <a:cxnLst/>
              <a:rect l="l" t="t" r="r" b="b"/>
              <a:pathLst>
                <a:path w="1316989" h="586739">
                  <a:moveTo>
                    <a:pt x="1316761" y="0"/>
                  </a:moveTo>
                  <a:lnTo>
                    <a:pt x="0" y="0"/>
                  </a:lnTo>
                  <a:lnTo>
                    <a:pt x="0" y="513930"/>
                  </a:lnTo>
                  <a:lnTo>
                    <a:pt x="0" y="586536"/>
                  </a:lnTo>
                  <a:lnTo>
                    <a:pt x="1316761" y="586536"/>
                  </a:lnTo>
                  <a:lnTo>
                    <a:pt x="1316761" y="513930"/>
                  </a:lnTo>
                  <a:lnTo>
                    <a:pt x="1316761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71714" y="4275167"/>
              <a:ext cx="1316990" cy="586740"/>
            </a:xfrm>
            <a:custGeom>
              <a:avLst/>
              <a:gdLst/>
              <a:ahLst/>
              <a:cxnLst/>
              <a:rect l="l" t="t" r="r" b="b"/>
              <a:pathLst>
                <a:path w="1316989" h="586739">
                  <a:moveTo>
                    <a:pt x="0" y="586532"/>
                  </a:moveTo>
                  <a:lnTo>
                    <a:pt x="1316767" y="586532"/>
                  </a:lnTo>
                  <a:lnTo>
                    <a:pt x="1316767" y="0"/>
                  </a:lnTo>
                  <a:lnTo>
                    <a:pt x="0" y="0"/>
                  </a:lnTo>
                  <a:lnTo>
                    <a:pt x="0" y="586532"/>
                  </a:lnTo>
                  <a:close/>
                </a:path>
              </a:pathLst>
            </a:custGeom>
            <a:ln w="22907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88049" y="4193035"/>
              <a:ext cx="1339700" cy="607517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5046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482" y="2516885"/>
            <a:ext cx="3717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35" dirty="0"/>
              <a:t> </a:t>
            </a:r>
            <a:r>
              <a:rPr dirty="0"/>
              <a:t>process</a:t>
            </a:r>
            <a:r>
              <a:rPr spc="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35" dirty="0"/>
              <a:t> </a:t>
            </a:r>
            <a:r>
              <a:rPr dirty="0"/>
              <a:t>process</a:t>
            </a:r>
            <a:r>
              <a:rPr spc="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8141"/>
            <a:ext cx="7983220" cy="4873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8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model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model.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Separate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distinct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phases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specification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development.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Incremental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endParaRPr sz="2400">
              <a:latin typeface="Arial MT"/>
              <a:cs typeface="Arial MT"/>
            </a:endParaRPr>
          </a:p>
          <a:p>
            <a:pPr marL="756285" marR="17716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Specification,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validation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interleaved.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May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agile.</a:t>
            </a: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Integration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configuration</a:t>
            </a:r>
            <a:endParaRPr sz="2400">
              <a:latin typeface="Arial MT"/>
              <a:cs typeface="Arial MT"/>
            </a:endParaRPr>
          </a:p>
          <a:p>
            <a:pPr marL="756285" marR="138874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assembled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from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existing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configurable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components.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agile.</a:t>
            </a:r>
            <a:endParaRPr sz="2000">
              <a:latin typeface="Arial MT"/>
              <a:cs typeface="Arial MT"/>
            </a:endParaRPr>
          </a:p>
          <a:p>
            <a:pPr marL="355600" marR="332740" indent="-34353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practice,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using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46424D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incorporates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elements from</a:t>
            </a:r>
            <a:r>
              <a:rPr sz="24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these models.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Waterfall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1" y="1617327"/>
            <a:ext cx="82270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government contracts a firm to build a bridge.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are finalized, approved, and legally frozen.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 starts only after design completion.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change later costs millions.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construction start without a complete design?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the bridge be “iterated” after pouring concrete?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Waterfall was designed for such environments—where change is expensive or dangerous.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3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Waterfall Model</a:t>
            </a:r>
            <a:endParaRPr lang="en-US" dirty="0"/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360470"/>
            <a:ext cx="6400800" cy="450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831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Waterfall</a:t>
            </a:r>
            <a:r>
              <a:rPr spc="-95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spc="-10" dirty="0"/>
              <a:t>phases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05445" cy="427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There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separate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identified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phases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model: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9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analysis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definition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Implementation</a:t>
            </a:r>
            <a:r>
              <a:rPr sz="2000" spc="-7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unit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Integration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Operation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maintenance</a:t>
            </a:r>
            <a:endParaRPr sz="2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main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drawback of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difficulty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accommodating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after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underway.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principle,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phase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has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complete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before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moving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onto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next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phase.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Waterfall</a:t>
            </a:r>
            <a:r>
              <a:rPr spc="-85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964805" cy="447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7973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Inflexible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partitioning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project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into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distinct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stages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makes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4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difficult to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respond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customer requirements.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Therefore,</a:t>
            </a:r>
            <a:r>
              <a:rPr sz="2000" spc="-6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only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appropriate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when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well-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understood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sz="20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fairly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limited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during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process.</a:t>
            </a:r>
            <a:endParaRPr sz="2000">
              <a:latin typeface="Arial MT"/>
              <a:cs typeface="Arial MT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Few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have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stable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requirements.</a:t>
            </a:r>
            <a:endParaRPr sz="2000">
              <a:latin typeface="Arial MT"/>
              <a:cs typeface="Arial MT"/>
            </a:endParaRPr>
          </a:p>
          <a:p>
            <a:pPr marL="355600" marR="497205" indent="-343535" algn="just">
              <a:lnSpc>
                <a:spcPct val="100000"/>
              </a:lnSpc>
              <a:spcBef>
                <a:spcPts val="894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mostly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systems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projects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at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several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sites.</a:t>
            </a:r>
            <a:endParaRPr sz="2400">
              <a:latin typeface="Arial MT"/>
              <a:cs typeface="Arial MT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those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circumstances,</a:t>
            </a:r>
            <a:r>
              <a:rPr sz="2000" spc="-5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plan-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driven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nature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waterfall</a:t>
            </a:r>
            <a:endParaRPr sz="2000">
              <a:latin typeface="Arial MT"/>
              <a:cs typeface="Arial MT"/>
            </a:endParaRPr>
          </a:p>
          <a:p>
            <a:pPr marL="756285" algn="just">
              <a:lnSpc>
                <a:spcPct val="100000"/>
              </a:lnSpc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model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helps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coordinate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work.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Waterfall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0" y="1371600"/>
            <a:ext cx="789671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Originated in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1970s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Documentation-heavy, compliance-driven environments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tolerance for failure (nuclear, banking)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message:</a:t>
            </a:r>
            <a:endParaRPr kumimoji="0" 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Waterfall was not “bad design”—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was rational design for a predictable world.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5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762000"/>
            <a:ext cx="5898159" cy="369332"/>
          </a:xfrm>
        </p:spPr>
        <p:txBody>
          <a:bodyPr/>
          <a:lstStyle/>
          <a:p>
            <a:r>
              <a:rPr lang="en-US" dirty="0" smtClean="0"/>
              <a:t>When to use waterfall model?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5940" y="1675656"/>
            <a:ext cx="440857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and Stable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Large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Risk of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Well-Defined Technology and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151384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Waterfall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0" y="1143000"/>
            <a:ext cx="792226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payroll or census system delivered exactly as specified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needs had changed by deployment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Technically correct, practically useless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“What if we kept the structure—but allowed learning between phases?”</a:t>
            </a:r>
          </a:p>
        </p:txBody>
      </p:sp>
    </p:spTree>
    <p:extLst>
      <p:ext uri="{BB962C8B-B14F-4D97-AF65-F5344CB8AC3E}">
        <p14:creationId xmlns:p14="http://schemas.microsoft.com/office/powerpoint/2010/main" val="78410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460375"/>
            <a:ext cx="58981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mtClean="0"/>
              <a:t>The</a:t>
            </a:r>
            <a:r>
              <a:rPr lang="en-US" dirty="0" smtClean="0"/>
              <a:t> modern</a:t>
            </a:r>
            <a:r>
              <a:rPr spc="-30" dirty="0" smtClean="0"/>
              <a:t> </a:t>
            </a:r>
            <a:r>
              <a:rPr dirty="0"/>
              <a:t>waterfall</a:t>
            </a:r>
            <a:r>
              <a:rPr spc="-4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0194" y="1936570"/>
            <a:ext cx="7153275" cy="4001770"/>
            <a:chOff x="930194" y="1936570"/>
            <a:chExt cx="7153275" cy="4001770"/>
          </a:xfrm>
        </p:grpSpPr>
        <p:sp>
          <p:nvSpPr>
            <p:cNvPr id="4" name="object 4"/>
            <p:cNvSpPr/>
            <p:nvPr/>
          </p:nvSpPr>
          <p:spPr>
            <a:xfrm>
              <a:off x="1024383" y="2038893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1248260" y="0"/>
                  </a:moveTo>
                  <a:lnTo>
                    <a:pt x="249007" y="0"/>
                  </a:lnTo>
                  <a:lnTo>
                    <a:pt x="198799" y="5049"/>
                  </a:lnTo>
                  <a:lnTo>
                    <a:pt x="152046" y="19519"/>
                  </a:lnTo>
                  <a:lnTo>
                    <a:pt x="109747" y="42394"/>
                  </a:lnTo>
                  <a:lnTo>
                    <a:pt x="72900" y="72660"/>
                  </a:lnTo>
                  <a:lnTo>
                    <a:pt x="42503" y="109301"/>
                  </a:lnTo>
                  <a:lnTo>
                    <a:pt x="19556" y="151300"/>
                  </a:lnTo>
                  <a:lnTo>
                    <a:pt x="5055" y="197643"/>
                  </a:lnTo>
                  <a:lnTo>
                    <a:pt x="0" y="247313"/>
                  </a:lnTo>
                  <a:lnTo>
                    <a:pt x="0" y="309524"/>
                  </a:lnTo>
                  <a:lnTo>
                    <a:pt x="5055" y="359624"/>
                  </a:lnTo>
                  <a:lnTo>
                    <a:pt x="19556" y="406148"/>
                  </a:lnTo>
                  <a:lnTo>
                    <a:pt x="42503" y="448139"/>
                  </a:lnTo>
                  <a:lnTo>
                    <a:pt x="72900" y="484641"/>
                  </a:lnTo>
                  <a:lnTo>
                    <a:pt x="109747" y="514697"/>
                  </a:lnTo>
                  <a:lnTo>
                    <a:pt x="152046" y="537349"/>
                  </a:lnTo>
                  <a:lnTo>
                    <a:pt x="198799" y="551643"/>
                  </a:lnTo>
                  <a:lnTo>
                    <a:pt x="249007" y="556620"/>
                  </a:lnTo>
                  <a:lnTo>
                    <a:pt x="1248260" y="556620"/>
                  </a:lnTo>
                  <a:lnTo>
                    <a:pt x="1297928" y="551643"/>
                  </a:lnTo>
                  <a:lnTo>
                    <a:pt x="1344273" y="537349"/>
                  </a:lnTo>
                  <a:lnTo>
                    <a:pt x="1386279" y="514697"/>
                  </a:lnTo>
                  <a:lnTo>
                    <a:pt x="1422928" y="484641"/>
                  </a:lnTo>
                  <a:lnTo>
                    <a:pt x="1453204" y="448139"/>
                  </a:lnTo>
                  <a:lnTo>
                    <a:pt x="1476089" y="406148"/>
                  </a:lnTo>
                  <a:lnTo>
                    <a:pt x="1490566" y="359624"/>
                  </a:lnTo>
                  <a:lnTo>
                    <a:pt x="1495617" y="309524"/>
                  </a:lnTo>
                  <a:lnTo>
                    <a:pt x="1495617" y="247313"/>
                  </a:lnTo>
                  <a:lnTo>
                    <a:pt x="1490566" y="197643"/>
                  </a:lnTo>
                  <a:lnTo>
                    <a:pt x="1476089" y="151300"/>
                  </a:lnTo>
                  <a:lnTo>
                    <a:pt x="1453204" y="109301"/>
                  </a:lnTo>
                  <a:lnTo>
                    <a:pt x="1422928" y="72660"/>
                  </a:lnTo>
                  <a:lnTo>
                    <a:pt x="1386279" y="42394"/>
                  </a:lnTo>
                  <a:lnTo>
                    <a:pt x="1344273" y="19519"/>
                  </a:lnTo>
                  <a:lnTo>
                    <a:pt x="1297928" y="5049"/>
                  </a:lnTo>
                  <a:lnTo>
                    <a:pt x="1248260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0839" y="1947214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1248260" y="0"/>
                  </a:moveTo>
                  <a:lnTo>
                    <a:pt x="247348" y="0"/>
                  </a:lnTo>
                  <a:lnTo>
                    <a:pt x="197685" y="4977"/>
                  </a:lnTo>
                  <a:lnTo>
                    <a:pt x="151344" y="19270"/>
                  </a:lnTo>
                  <a:lnTo>
                    <a:pt x="109339" y="41923"/>
                  </a:lnTo>
                  <a:lnTo>
                    <a:pt x="72691" y="71978"/>
                  </a:lnTo>
                  <a:lnTo>
                    <a:pt x="42415" y="108480"/>
                  </a:lnTo>
                  <a:lnTo>
                    <a:pt x="19529" y="150471"/>
                  </a:lnTo>
                  <a:lnTo>
                    <a:pt x="5051" y="196995"/>
                  </a:lnTo>
                  <a:lnTo>
                    <a:pt x="0" y="247095"/>
                  </a:lnTo>
                  <a:lnTo>
                    <a:pt x="0" y="309306"/>
                  </a:lnTo>
                  <a:lnTo>
                    <a:pt x="5051" y="358976"/>
                  </a:lnTo>
                  <a:lnTo>
                    <a:pt x="19529" y="405319"/>
                  </a:lnTo>
                  <a:lnTo>
                    <a:pt x="42415" y="447318"/>
                  </a:lnTo>
                  <a:lnTo>
                    <a:pt x="72691" y="483959"/>
                  </a:lnTo>
                  <a:lnTo>
                    <a:pt x="109339" y="514225"/>
                  </a:lnTo>
                  <a:lnTo>
                    <a:pt x="151344" y="537100"/>
                  </a:lnTo>
                  <a:lnTo>
                    <a:pt x="197686" y="551570"/>
                  </a:lnTo>
                  <a:lnTo>
                    <a:pt x="247348" y="556620"/>
                  </a:lnTo>
                  <a:lnTo>
                    <a:pt x="1248260" y="556620"/>
                  </a:lnTo>
                  <a:lnTo>
                    <a:pt x="1297928" y="551570"/>
                  </a:lnTo>
                  <a:lnTo>
                    <a:pt x="1344273" y="537100"/>
                  </a:lnTo>
                  <a:lnTo>
                    <a:pt x="1386279" y="514225"/>
                  </a:lnTo>
                  <a:lnTo>
                    <a:pt x="1422928" y="483959"/>
                  </a:lnTo>
                  <a:lnTo>
                    <a:pt x="1453204" y="447318"/>
                  </a:lnTo>
                  <a:lnTo>
                    <a:pt x="1476089" y="405319"/>
                  </a:lnTo>
                  <a:lnTo>
                    <a:pt x="1490566" y="358976"/>
                  </a:lnTo>
                  <a:lnTo>
                    <a:pt x="1495617" y="309306"/>
                  </a:lnTo>
                  <a:lnTo>
                    <a:pt x="1495617" y="247095"/>
                  </a:lnTo>
                  <a:lnTo>
                    <a:pt x="1490566" y="196995"/>
                  </a:lnTo>
                  <a:lnTo>
                    <a:pt x="1476089" y="150471"/>
                  </a:lnTo>
                  <a:lnTo>
                    <a:pt x="1453204" y="108480"/>
                  </a:lnTo>
                  <a:lnTo>
                    <a:pt x="1422928" y="71978"/>
                  </a:lnTo>
                  <a:lnTo>
                    <a:pt x="1386279" y="41923"/>
                  </a:lnTo>
                  <a:lnTo>
                    <a:pt x="1344273" y="19270"/>
                  </a:lnTo>
                  <a:lnTo>
                    <a:pt x="1297928" y="4977"/>
                  </a:lnTo>
                  <a:lnTo>
                    <a:pt x="1248260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0839" y="1947214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247348" y="0"/>
                  </a:moveTo>
                  <a:lnTo>
                    <a:pt x="1248260" y="0"/>
                  </a:lnTo>
                  <a:lnTo>
                    <a:pt x="1297928" y="4977"/>
                  </a:lnTo>
                  <a:lnTo>
                    <a:pt x="1344273" y="19270"/>
                  </a:lnTo>
                  <a:lnTo>
                    <a:pt x="1386279" y="41923"/>
                  </a:lnTo>
                  <a:lnTo>
                    <a:pt x="1422928" y="71978"/>
                  </a:lnTo>
                  <a:lnTo>
                    <a:pt x="1453204" y="108480"/>
                  </a:lnTo>
                  <a:lnTo>
                    <a:pt x="1476089" y="150471"/>
                  </a:lnTo>
                  <a:lnTo>
                    <a:pt x="1490566" y="196995"/>
                  </a:lnTo>
                  <a:lnTo>
                    <a:pt x="1495617" y="247095"/>
                  </a:lnTo>
                  <a:lnTo>
                    <a:pt x="1495617" y="309306"/>
                  </a:lnTo>
                  <a:lnTo>
                    <a:pt x="1490566" y="358976"/>
                  </a:lnTo>
                  <a:lnTo>
                    <a:pt x="1476089" y="405319"/>
                  </a:lnTo>
                  <a:lnTo>
                    <a:pt x="1453204" y="447318"/>
                  </a:lnTo>
                  <a:lnTo>
                    <a:pt x="1422928" y="483959"/>
                  </a:lnTo>
                  <a:lnTo>
                    <a:pt x="1386279" y="514225"/>
                  </a:lnTo>
                  <a:lnTo>
                    <a:pt x="1344273" y="537100"/>
                  </a:lnTo>
                  <a:lnTo>
                    <a:pt x="1297928" y="551570"/>
                  </a:lnTo>
                  <a:lnTo>
                    <a:pt x="1248260" y="556620"/>
                  </a:lnTo>
                  <a:lnTo>
                    <a:pt x="247348" y="556620"/>
                  </a:lnTo>
                  <a:lnTo>
                    <a:pt x="197686" y="551570"/>
                  </a:lnTo>
                  <a:lnTo>
                    <a:pt x="151344" y="537100"/>
                  </a:lnTo>
                  <a:lnTo>
                    <a:pt x="109339" y="514225"/>
                  </a:lnTo>
                  <a:lnTo>
                    <a:pt x="72691" y="483959"/>
                  </a:lnTo>
                  <a:lnTo>
                    <a:pt x="42415" y="447318"/>
                  </a:lnTo>
                  <a:lnTo>
                    <a:pt x="19529" y="405319"/>
                  </a:lnTo>
                  <a:lnTo>
                    <a:pt x="5051" y="358976"/>
                  </a:lnTo>
                  <a:lnTo>
                    <a:pt x="0" y="309306"/>
                  </a:lnTo>
                  <a:lnTo>
                    <a:pt x="0" y="247095"/>
                  </a:lnTo>
                  <a:lnTo>
                    <a:pt x="5051" y="196995"/>
                  </a:lnTo>
                  <a:lnTo>
                    <a:pt x="19529" y="150471"/>
                  </a:lnTo>
                  <a:lnTo>
                    <a:pt x="42415" y="108480"/>
                  </a:lnTo>
                  <a:lnTo>
                    <a:pt x="72691" y="71978"/>
                  </a:lnTo>
                  <a:lnTo>
                    <a:pt x="109339" y="41923"/>
                  </a:lnTo>
                  <a:lnTo>
                    <a:pt x="151344" y="19270"/>
                  </a:lnTo>
                  <a:lnTo>
                    <a:pt x="197685" y="4977"/>
                  </a:lnTo>
                  <a:lnTo>
                    <a:pt x="247348" y="0"/>
                  </a:lnTo>
                  <a:close/>
                </a:path>
              </a:pathLst>
            </a:custGeom>
            <a:ln w="21289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8161" y="2564517"/>
              <a:ext cx="4867275" cy="2998470"/>
            </a:xfrm>
            <a:custGeom>
              <a:avLst/>
              <a:gdLst/>
              <a:ahLst/>
              <a:cxnLst/>
              <a:rect l="l" t="t" r="r" b="b"/>
              <a:pathLst>
                <a:path w="4867275" h="2998470">
                  <a:moveTo>
                    <a:pt x="4867020" y="2998261"/>
                  </a:moveTo>
                  <a:lnTo>
                    <a:pt x="0" y="2998261"/>
                  </a:lnTo>
                  <a:lnTo>
                    <a:pt x="0" y="0"/>
                  </a:lnTo>
                </a:path>
              </a:pathLst>
            </a:custGeom>
            <a:ln w="49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2950" y="2509672"/>
              <a:ext cx="68805" cy="1162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0867" y="2045441"/>
              <a:ext cx="1068058" cy="3455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5543" y="2226342"/>
              <a:ext cx="1589858" cy="12060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83519" y="3430661"/>
              <a:ext cx="0" cy="2135505"/>
            </a:xfrm>
            <a:custGeom>
              <a:avLst/>
              <a:gdLst/>
              <a:ahLst/>
              <a:cxnLst/>
              <a:rect l="l" t="t" r="r" b="b"/>
              <a:pathLst>
                <a:path h="2135504">
                  <a:moveTo>
                    <a:pt x="0" y="0"/>
                  </a:moveTo>
                  <a:lnTo>
                    <a:pt x="0" y="0"/>
                  </a:lnTo>
                  <a:lnTo>
                    <a:pt x="0" y="2135390"/>
                  </a:lnTo>
                </a:path>
              </a:pathLst>
            </a:custGeom>
            <a:ln w="4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946" y="3377563"/>
              <a:ext cx="68849" cy="114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7886" y="3063018"/>
              <a:ext cx="4335239" cy="287474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30/10/2014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Chapter</a:t>
            </a:r>
            <a:r>
              <a:rPr spc="-55" dirty="0"/>
              <a:t> </a:t>
            </a:r>
            <a:r>
              <a:rPr dirty="0"/>
              <a:t>2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85152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Waterfall with feedback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3447098"/>
          </a:xfrm>
        </p:spPr>
        <p:txBody>
          <a:bodyPr/>
          <a:lstStyle/>
          <a:p>
            <a:r>
              <a:rPr lang="en-GB" sz="2800" dirty="0" smtClean="0"/>
              <a:t>Changes</a:t>
            </a:r>
            <a:r>
              <a:rPr lang="en-GB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Overlapping phases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Early validation and verification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Limited backtracking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/>
              <a:t>Continuous </a:t>
            </a:r>
            <a:r>
              <a:rPr lang="en-GB" sz="2800" dirty="0"/>
              <a:t>documentation </a:t>
            </a:r>
            <a:r>
              <a:rPr lang="en-GB" sz="2800" dirty="0" smtClean="0"/>
              <a:t>updates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9487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849868"/>
            <a:ext cx="5898159" cy="369332"/>
          </a:xfrm>
        </p:spPr>
        <p:txBody>
          <a:bodyPr/>
          <a:lstStyle/>
          <a:p>
            <a:r>
              <a:rPr lang="en-US" dirty="0" smtClean="0"/>
              <a:t>Waterfall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2954655"/>
          </a:xfrm>
        </p:spPr>
        <p:txBody>
          <a:bodyPr/>
          <a:lstStyle/>
          <a:p>
            <a:r>
              <a:rPr lang="en-US" b="1" dirty="0"/>
              <a:t>Use Classical Waterfall when:</a:t>
            </a:r>
            <a:endParaRPr lang="en-US" dirty="0"/>
          </a:p>
          <a:p>
            <a:r>
              <a:rPr lang="en-US" dirty="0"/>
              <a:t>Requirements are stable</a:t>
            </a:r>
          </a:p>
          <a:p>
            <a:r>
              <a:rPr lang="en-US" dirty="0"/>
              <a:t>Regulatory compliance is critical</a:t>
            </a:r>
          </a:p>
          <a:p>
            <a:r>
              <a:rPr lang="en-US" dirty="0"/>
              <a:t>Cost of change is extremely high</a:t>
            </a:r>
          </a:p>
          <a:p>
            <a:r>
              <a:rPr lang="en-US" b="1" dirty="0"/>
              <a:t>Use Modern Waterfall when:</a:t>
            </a:r>
            <a:endParaRPr lang="en-US" dirty="0"/>
          </a:p>
          <a:p>
            <a:r>
              <a:rPr lang="en-US" dirty="0"/>
              <a:t>Requirements are mostly stable</a:t>
            </a:r>
          </a:p>
          <a:p>
            <a:r>
              <a:rPr lang="en-US" dirty="0"/>
              <a:t>Feedback is possible but controlled</a:t>
            </a:r>
          </a:p>
          <a:p>
            <a:r>
              <a:rPr lang="en-US" dirty="0"/>
              <a:t>Large teams need structure</a:t>
            </a:r>
          </a:p>
        </p:txBody>
      </p:sp>
    </p:spTree>
    <p:extLst>
      <p:ext uri="{BB962C8B-B14F-4D97-AF65-F5344CB8AC3E}">
        <p14:creationId xmlns:p14="http://schemas.microsoft.com/office/powerpoint/2010/main" val="17281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0" y="1698010"/>
            <a:ext cx="795281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testing is so important,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it always taught at the end of the Waterfall model?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V-Model was created when engineers realized that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should not be an afterthought—it should be planned from day one.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6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5940" y="775157"/>
            <a:ext cx="78460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 assumes: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“First we build everything, then we test.”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Reality showed: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Defects introduced early are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costliest to fix later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development phase must have a corresponding testing phase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96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762000"/>
            <a:ext cx="5898159" cy="369332"/>
          </a:xfrm>
        </p:spPr>
        <p:txBody>
          <a:bodyPr/>
          <a:lstStyle/>
          <a:p>
            <a:r>
              <a:rPr lang="en-US" dirty="0" smtClean="0"/>
              <a:t>V-Model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340519" algn="l"/>
                <a:tab pos="683419" algn="l"/>
                <a:tab pos="1026319" algn="l"/>
                <a:tab pos="1369219" algn="l"/>
                <a:tab pos="1712119" algn="l"/>
                <a:tab pos="2055019" algn="l"/>
                <a:tab pos="2397919" algn="l"/>
                <a:tab pos="2740819" algn="l"/>
                <a:tab pos="3083719" algn="l"/>
                <a:tab pos="3426619" algn="l"/>
                <a:tab pos="3769519" algn="l"/>
                <a:tab pos="4112419" algn="l"/>
                <a:tab pos="4455319" algn="l"/>
                <a:tab pos="4798219" algn="l"/>
                <a:tab pos="5141119" algn="l"/>
                <a:tab pos="5484019" algn="l"/>
                <a:tab pos="5826919" algn="l"/>
                <a:tab pos="6169819" algn="l"/>
                <a:tab pos="6512719" algn="l"/>
                <a:tab pos="6855619" algn="l"/>
              </a:tabLst>
            </a:pPr>
            <a:r>
              <a:rPr lang="en-GB" dirty="0"/>
              <a:t>A variant of the waterfall model</a:t>
            </a:r>
          </a:p>
          <a:p>
            <a:pPr>
              <a:tabLst>
                <a:tab pos="340519" algn="l"/>
                <a:tab pos="683419" algn="l"/>
                <a:tab pos="1026319" algn="l"/>
                <a:tab pos="1369219" algn="l"/>
                <a:tab pos="1712119" algn="l"/>
                <a:tab pos="2055019" algn="l"/>
                <a:tab pos="2397919" algn="l"/>
                <a:tab pos="2740819" algn="l"/>
                <a:tab pos="3083719" algn="l"/>
                <a:tab pos="3426619" algn="l"/>
                <a:tab pos="3769519" algn="l"/>
                <a:tab pos="4112419" algn="l"/>
                <a:tab pos="4455319" algn="l"/>
                <a:tab pos="4798219" algn="l"/>
                <a:tab pos="5141119" algn="l"/>
                <a:tab pos="5484019" algn="l"/>
                <a:tab pos="5826919" algn="l"/>
                <a:tab pos="6169819" algn="l"/>
                <a:tab pos="6512719" algn="l"/>
                <a:tab pos="6855619" algn="l"/>
              </a:tabLst>
            </a:pPr>
            <a:r>
              <a:rPr lang="en-GB" dirty="0"/>
              <a:t>Uses unit testing to verify procedural design</a:t>
            </a:r>
          </a:p>
          <a:p>
            <a:pPr>
              <a:tabLst>
                <a:tab pos="340519" algn="l"/>
                <a:tab pos="683419" algn="l"/>
                <a:tab pos="1026319" algn="l"/>
                <a:tab pos="1369219" algn="l"/>
                <a:tab pos="1712119" algn="l"/>
                <a:tab pos="2055019" algn="l"/>
                <a:tab pos="2397919" algn="l"/>
                <a:tab pos="2740819" algn="l"/>
                <a:tab pos="3083719" algn="l"/>
                <a:tab pos="3426619" algn="l"/>
                <a:tab pos="3769519" algn="l"/>
                <a:tab pos="4112419" algn="l"/>
                <a:tab pos="4455319" algn="l"/>
                <a:tab pos="4798219" algn="l"/>
                <a:tab pos="5141119" algn="l"/>
                <a:tab pos="5484019" algn="l"/>
                <a:tab pos="5826919" algn="l"/>
                <a:tab pos="6169819" algn="l"/>
                <a:tab pos="6512719" algn="l"/>
                <a:tab pos="6855619" algn="l"/>
              </a:tabLst>
            </a:pPr>
            <a:r>
              <a:rPr lang="en-GB" dirty="0"/>
              <a:t>Uses integration testing to verify architectural (system) design</a:t>
            </a:r>
          </a:p>
          <a:p>
            <a:pPr>
              <a:tabLst>
                <a:tab pos="340519" algn="l"/>
                <a:tab pos="683419" algn="l"/>
                <a:tab pos="1026319" algn="l"/>
                <a:tab pos="1369219" algn="l"/>
                <a:tab pos="1712119" algn="l"/>
                <a:tab pos="2055019" algn="l"/>
                <a:tab pos="2397919" algn="l"/>
                <a:tab pos="2740819" algn="l"/>
                <a:tab pos="3083719" algn="l"/>
                <a:tab pos="3426619" algn="l"/>
                <a:tab pos="3769519" algn="l"/>
                <a:tab pos="4112419" algn="l"/>
                <a:tab pos="4455319" algn="l"/>
                <a:tab pos="4798219" algn="l"/>
                <a:tab pos="5141119" algn="l"/>
                <a:tab pos="5484019" algn="l"/>
                <a:tab pos="5826919" algn="l"/>
                <a:tab pos="6169819" algn="l"/>
                <a:tab pos="6512719" algn="l"/>
                <a:tab pos="6855619" algn="l"/>
              </a:tabLst>
            </a:pPr>
            <a:r>
              <a:rPr lang="en-GB" dirty="0"/>
              <a:t>Uses acceptance testing to validate the requirements</a:t>
            </a:r>
          </a:p>
          <a:p>
            <a:pPr>
              <a:tabLst>
                <a:tab pos="340519" algn="l"/>
                <a:tab pos="683419" algn="l"/>
                <a:tab pos="1026319" algn="l"/>
                <a:tab pos="1369219" algn="l"/>
                <a:tab pos="1712119" algn="l"/>
                <a:tab pos="2055019" algn="l"/>
                <a:tab pos="2397919" algn="l"/>
                <a:tab pos="2740819" algn="l"/>
                <a:tab pos="3083719" algn="l"/>
                <a:tab pos="3426619" algn="l"/>
                <a:tab pos="3769519" algn="l"/>
                <a:tab pos="4112419" algn="l"/>
                <a:tab pos="4455319" algn="l"/>
                <a:tab pos="4798219" algn="l"/>
                <a:tab pos="5141119" algn="l"/>
                <a:tab pos="5484019" algn="l"/>
                <a:tab pos="5826919" algn="l"/>
                <a:tab pos="6169819" algn="l"/>
                <a:tab pos="6512719" algn="l"/>
                <a:tab pos="6855619" algn="l"/>
              </a:tabLst>
            </a:pPr>
            <a:r>
              <a:rPr lang="en-GB" dirty="0"/>
              <a:t>If problems are found during verification and validation, the left side of the V can be re-executed before testing on the right side is re-enacted</a:t>
            </a:r>
          </a:p>
        </p:txBody>
      </p:sp>
    </p:spTree>
    <p:extLst>
      <p:ext uri="{BB962C8B-B14F-4D97-AF65-F5344CB8AC3E}">
        <p14:creationId xmlns:p14="http://schemas.microsoft.com/office/powerpoint/2010/main" val="181301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926068"/>
            <a:ext cx="5898159" cy="369332"/>
          </a:xfrm>
        </p:spPr>
        <p:txBody>
          <a:bodyPr/>
          <a:lstStyle/>
          <a:p>
            <a:r>
              <a:rPr lang="en-US" dirty="0" smtClean="0"/>
              <a:t>V-Model</a:t>
            </a: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86601" y="2031529"/>
            <a:ext cx="5407819" cy="350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458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/>
              <a:t>Structure of the V-Model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2585323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V-Model is divided into two main branches:</a:t>
            </a:r>
          </a:p>
          <a:p>
            <a:r>
              <a:rPr lang="en-US" b="1" dirty="0"/>
              <a:t>Verification Phases</a:t>
            </a:r>
            <a:r>
              <a:rPr lang="en-US" dirty="0"/>
              <a:t> (Left Side of the "V"):</a:t>
            </a:r>
          </a:p>
          <a:p>
            <a:pPr lvl="1"/>
            <a:r>
              <a:rPr lang="en-US" dirty="0"/>
              <a:t>These phases are concerned with the planning, design, and coding aspects of the project.</a:t>
            </a:r>
          </a:p>
          <a:p>
            <a:r>
              <a:rPr lang="en-US" b="1" dirty="0"/>
              <a:t>Validation Phases</a:t>
            </a:r>
            <a:r>
              <a:rPr lang="en-US" dirty="0"/>
              <a:t> (Right Side of the "V"):</a:t>
            </a:r>
          </a:p>
          <a:p>
            <a:pPr lvl="1"/>
            <a:r>
              <a:rPr lang="en-US" dirty="0"/>
              <a:t>These phases involve testing and validating the software to ensure that it meets the requirements set during the verification phases.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1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/>
              <a:t>Phases of the V-Model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4801314"/>
          </a:xfrm>
        </p:spPr>
        <p:txBody>
          <a:bodyPr/>
          <a:lstStyle/>
          <a:p>
            <a:r>
              <a:rPr lang="en-US" b="1" dirty="0" smtClean="0"/>
              <a:t>1</a:t>
            </a:r>
            <a:r>
              <a:rPr lang="en-US" b="1" dirty="0"/>
              <a:t>. Requirements Analysis</a:t>
            </a:r>
          </a:p>
          <a:p>
            <a:r>
              <a:rPr lang="en-US" b="1" dirty="0"/>
              <a:t>Objective:</a:t>
            </a:r>
            <a:r>
              <a:rPr lang="en-US" dirty="0"/>
              <a:t> Understanding and documenting the functional and non-functional requirements of the system.</a:t>
            </a:r>
          </a:p>
          <a:p>
            <a:r>
              <a:rPr lang="en-US" b="1" dirty="0"/>
              <a:t>Output:</a:t>
            </a:r>
            <a:r>
              <a:rPr lang="en-US" dirty="0"/>
              <a:t> Requirements Specification Document.</a:t>
            </a:r>
          </a:p>
          <a:p>
            <a:r>
              <a:rPr lang="en-US" b="1" dirty="0"/>
              <a:t>Corresponding Testing Phase:</a:t>
            </a:r>
            <a:r>
              <a:rPr lang="en-US" dirty="0"/>
              <a:t> </a:t>
            </a:r>
            <a:r>
              <a:rPr lang="en-US" b="1" dirty="0"/>
              <a:t>Acceptance Testing</a:t>
            </a:r>
            <a:endParaRPr lang="en-US" dirty="0"/>
          </a:p>
          <a:p>
            <a:pPr lvl="1"/>
            <a:r>
              <a:rPr lang="en-US" b="1" dirty="0"/>
              <a:t>Purpose:</a:t>
            </a:r>
            <a:r>
              <a:rPr lang="en-US" dirty="0"/>
              <a:t> To validate that the system meets the business needs and requirements of the customer.</a:t>
            </a:r>
          </a:p>
          <a:p>
            <a:r>
              <a:rPr lang="en-US" b="1" dirty="0"/>
              <a:t>2. System Design</a:t>
            </a:r>
          </a:p>
          <a:p>
            <a:r>
              <a:rPr lang="en-US" b="1" dirty="0"/>
              <a:t>Objective:</a:t>
            </a:r>
            <a:r>
              <a:rPr lang="en-US" dirty="0"/>
              <a:t> Designing the overall system architecture and data flow.</a:t>
            </a:r>
          </a:p>
          <a:p>
            <a:r>
              <a:rPr lang="en-US" b="1" dirty="0"/>
              <a:t>Output:</a:t>
            </a:r>
            <a:r>
              <a:rPr lang="en-US" dirty="0"/>
              <a:t> System Design Documents.</a:t>
            </a:r>
          </a:p>
          <a:p>
            <a:r>
              <a:rPr lang="en-US" b="1" dirty="0"/>
              <a:t>Corresponding Testing Phase:</a:t>
            </a:r>
            <a:r>
              <a:rPr lang="en-US" dirty="0"/>
              <a:t> </a:t>
            </a:r>
            <a:r>
              <a:rPr lang="en-US" b="1" dirty="0"/>
              <a:t>System Testing</a:t>
            </a:r>
            <a:endParaRPr lang="en-US" dirty="0"/>
          </a:p>
          <a:p>
            <a:pPr lvl="1"/>
            <a:r>
              <a:rPr lang="en-US" b="1" dirty="0"/>
              <a:t>Purpose:</a:t>
            </a:r>
            <a:r>
              <a:rPr lang="en-US" dirty="0"/>
              <a:t> To ensure the system functions correctly as a whole and that it complies with the system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375016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/>
              <a:t>Phases of the V-Model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2769989"/>
          </a:xfrm>
        </p:spPr>
        <p:txBody>
          <a:bodyPr/>
          <a:lstStyle/>
          <a:p>
            <a:r>
              <a:rPr lang="en-US" b="1" dirty="0" smtClean="0"/>
              <a:t> </a:t>
            </a:r>
            <a:r>
              <a:rPr lang="en-US" b="1" dirty="0"/>
              <a:t>Implementation</a:t>
            </a:r>
          </a:p>
          <a:p>
            <a:r>
              <a:rPr lang="en-US" b="1" dirty="0"/>
              <a:t>Objective:</a:t>
            </a:r>
            <a:r>
              <a:rPr lang="en-US" dirty="0"/>
              <a:t> Actual coding of the software components as per the Low-Level Design.</a:t>
            </a:r>
          </a:p>
          <a:p>
            <a:r>
              <a:rPr lang="en-US" b="1" dirty="0"/>
              <a:t>Output:</a:t>
            </a:r>
            <a:r>
              <a:rPr lang="en-US" dirty="0"/>
              <a:t> Source Code.</a:t>
            </a:r>
          </a:p>
          <a:p>
            <a:r>
              <a:rPr lang="en-US" b="1" dirty="0"/>
              <a:t>Corresponding Testing Phase:</a:t>
            </a:r>
            <a:r>
              <a:rPr lang="en-US" dirty="0"/>
              <a:t> </a:t>
            </a:r>
            <a:r>
              <a:rPr lang="en-US" b="1" dirty="0" smtClean="0"/>
              <a:t>Unit </a:t>
            </a:r>
            <a:r>
              <a:rPr lang="en-US" b="1" dirty="0"/>
              <a:t>Testing</a:t>
            </a:r>
            <a:endParaRPr lang="en-US" dirty="0"/>
          </a:p>
          <a:p>
            <a:pPr lvl="1"/>
            <a:r>
              <a:rPr lang="en-US" b="1" dirty="0"/>
              <a:t>Purpose:</a:t>
            </a:r>
            <a:r>
              <a:rPr lang="en-US" dirty="0"/>
              <a:t> To ensure each unit of the code functions correctly and matches its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5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Benefits and Drawbacks if V-Model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3693319"/>
          </a:xfrm>
        </p:spPr>
        <p:txBody>
          <a:bodyPr/>
          <a:lstStyle/>
          <a:p>
            <a:r>
              <a:rPr lang="en-US" b="1" dirty="0"/>
              <a:t>Benefits of the V-Model</a:t>
            </a:r>
          </a:p>
          <a:p>
            <a:r>
              <a:rPr lang="en-US" dirty="0"/>
              <a:t>Early Detection of </a:t>
            </a:r>
            <a:r>
              <a:rPr lang="en-US" dirty="0" smtClean="0"/>
              <a:t>Defects</a:t>
            </a:r>
          </a:p>
          <a:p>
            <a:r>
              <a:rPr lang="en-US" dirty="0" smtClean="0"/>
              <a:t>Structured Approach</a:t>
            </a:r>
          </a:p>
          <a:p>
            <a:r>
              <a:rPr lang="en-US" dirty="0" smtClean="0"/>
              <a:t>Clear Milestones</a:t>
            </a:r>
            <a:endParaRPr lang="en-US" dirty="0"/>
          </a:p>
          <a:p>
            <a:r>
              <a:rPr lang="en-US" dirty="0"/>
              <a:t>Improved </a:t>
            </a:r>
            <a:r>
              <a:rPr lang="en-US" dirty="0" smtClean="0"/>
              <a:t>Quality</a:t>
            </a:r>
            <a:endParaRPr lang="en-US" dirty="0"/>
          </a:p>
          <a:p>
            <a:r>
              <a:rPr lang="en-US" dirty="0" smtClean="0"/>
              <a:t>Customer Involvement</a:t>
            </a:r>
            <a:endParaRPr lang="en-US" dirty="0"/>
          </a:p>
          <a:p>
            <a:r>
              <a:rPr lang="en-US" b="1" dirty="0" smtClean="0"/>
              <a:t>Drawbacks </a:t>
            </a:r>
            <a:r>
              <a:rPr lang="en-US" b="1" dirty="0"/>
              <a:t>of the V-Model</a:t>
            </a:r>
          </a:p>
          <a:p>
            <a:r>
              <a:rPr lang="en-US" dirty="0" smtClean="0"/>
              <a:t>Inflexibility</a:t>
            </a:r>
          </a:p>
          <a:p>
            <a:r>
              <a:rPr lang="en-US" dirty="0" smtClean="0"/>
              <a:t>Not </a:t>
            </a:r>
            <a:r>
              <a:rPr lang="en-US" dirty="0"/>
              <a:t>Suitable for Complex or Long-term </a:t>
            </a:r>
            <a:r>
              <a:rPr lang="en-US" dirty="0" smtClean="0"/>
              <a:t>Projects</a:t>
            </a:r>
            <a:endParaRPr lang="en-US" dirty="0"/>
          </a:p>
          <a:p>
            <a:r>
              <a:rPr lang="en-US" dirty="0"/>
              <a:t>High Dependence on Initial </a:t>
            </a:r>
            <a:r>
              <a:rPr lang="en-US" dirty="0" smtClean="0"/>
              <a:t>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70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the V-Model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625549"/>
            <a:ext cx="8007350" cy="2585323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V-Model is most suitable for:</a:t>
            </a:r>
          </a:p>
          <a:p>
            <a:r>
              <a:rPr lang="en-US" b="1" dirty="0"/>
              <a:t>Projects with Clear Requirements:</a:t>
            </a:r>
            <a:r>
              <a:rPr lang="en-US" dirty="0"/>
              <a:t> Where requirements are well-understood and unlikely to change.</a:t>
            </a:r>
          </a:p>
          <a:p>
            <a:r>
              <a:rPr lang="en-US" b="1" dirty="0"/>
              <a:t>Safety-Critical Systems:</a:t>
            </a:r>
            <a:r>
              <a:rPr lang="en-US" dirty="0"/>
              <a:t> Such as in </a:t>
            </a:r>
            <a:r>
              <a:rPr lang="en-US" dirty="0" smtClean="0"/>
              <a:t>medical, </a:t>
            </a:r>
            <a:r>
              <a:rPr lang="en-US" dirty="0"/>
              <a:t>or automotive industries, where rigorous testing and validation are critical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24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80641"/>
              </p:ext>
            </p:extLst>
          </p:nvPr>
        </p:nvGraphicFramePr>
        <p:xfrm>
          <a:off x="536575" y="1219200"/>
          <a:ext cx="8007351" cy="4389120"/>
        </p:xfrm>
        <a:graphic>
          <a:graphicData uri="http://schemas.openxmlformats.org/drawingml/2006/table">
            <a:tbl>
              <a:tblPr/>
              <a:tblGrid>
                <a:gridCol w="2669117">
                  <a:extLst>
                    <a:ext uri="{9D8B030D-6E8A-4147-A177-3AD203B41FA5}">
                      <a16:colId xmlns:a16="http://schemas.microsoft.com/office/drawing/2014/main" xmlns="" val="709117996"/>
                    </a:ext>
                  </a:extLst>
                </a:gridCol>
                <a:gridCol w="2669117">
                  <a:extLst>
                    <a:ext uri="{9D8B030D-6E8A-4147-A177-3AD203B41FA5}">
                      <a16:colId xmlns:a16="http://schemas.microsoft.com/office/drawing/2014/main" xmlns="" val="2938462418"/>
                    </a:ext>
                  </a:extLst>
                </a:gridCol>
                <a:gridCol w="2669117">
                  <a:extLst>
                    <a:ext uri="{9D8B030D-6E8A-4147-A177-3AD203B41FA5}">
                      <a16:colId xmlns:a16="http://schemas.microsoft.com/office/drawing/2014/main" xmlns="" val="40968762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/>
                        <a:t>Aspect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Waterfall Model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V-Model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9813528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 dirty="0"/>
                        <a:t>Process Flow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Linear and 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V-shaped with corresponding testing for each 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732487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Testing Phase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Testing occurs after the entire development is complete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Testing is integrated at every stage of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107958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Flexibility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Less flexible; changes are difficult to implement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flexible due to early defect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543798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Risk Management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Higher risk of late defect discovery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Lower risk; defects are identified 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9989543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Project Suitability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Suitable for </a:t>
                      </a:r>
                      <a:r>
                        <a:rPr lang="en-US" sz="1800" dirty="0" smtClean="0"/>
                        <a:t>large </a:t>
                      </a:r>
                      <a:r>
                        <a:rPr lang="en-US" sz="1800" dirty="0"/>
                        <a:t>projects with clear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Suitable for projects requiring rigorous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65108816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6575" y="16859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1143000"/>
            <a:ext cx="5898159" cy="369332"/>
          </a:xfrm>
        </p:spPr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5" name="object 5"/>
          <p:cNvSpPr txBox="1"/>
          <p:nvPr/>
        </p:nvSpPr>
        <p:spPr>
          <a:xfrm>
            <a:off x="628650" y="2161290"/>
            <a:ext cx="8110402" cy="2000869"/>
          </a:xfrm>
          <a:prstGeom prst="rect">
            <a:avLst/>
          </a:prstGeom>
        </p:spPr>
        <p:txBody>
          <a:bodyPr vert="horz" wrap="square" lIns="0" tIns="117158" rIns="0" bIns="0" rtlCol="0">
            <a:spAutoFit/>
          </a:bodyPr>
          <a:lstStyle/>
          <a:p>
            <a:pPr marL="223838" indent="-214313">
              <a:spcBef>
                <a:spcPts val="923"/>
              </a:spcBef>
              <a:buFont typeface="Wingdings" panose="05000000000000000000" pitchFamily="2" charset="2"/>
              <a:buChar char="Ø"/>
              <a:tabLst>
                <a:tab pos="266224" algn="l"/>
              </a:tabLst>
            </a:pPr>
            <a:r>
              <a:rPr sz="1350" b="1" spc="-8" dirty="0">
                <a:latin typeface="Tahoma"/>
                <a:cs typeface="Tahoma"/>
              </a:rPr>
              <a:t>Iterate</a:t>
            </a:r>
            <a:endParaRPr sz="1350" dirty="0">
              <a:latin typeface="Tahoma"/>
              <a:cs typeface="Tahoma"/>
            </a:endParaRPr>
          </a:p>
          <a:p>
            <a:pPr marL="566738" indent="-214313">
              <a:spcBef>
                <a:spcPts val="754"/>
              </a:spcBef>
              <a:buFont typeface="Wingdings" panose="05000000000000000000" pitchFamily="2" charset="2"/>
              <a:buChar char="Ø"/>
              <a:tabLst>
                <a:tab pos="567214" algn="l"/>
              </a:tabLst>
            </a:pPr>
            <a:r>
              <a:rPr sz="1200" spc="-15" dirty="0">
                <a:latin typeface="Verdana"/>
                <a:cs typeface="Verdana"/>
              </a:rPr>
              <a:t>to</a:t>
            </a:r>
            <a:r>
              <a:rPr sz="1200" spc="-83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utter</a:t>
            </a:r>
            <a:r>
              <a:rPr sz="1200" spc="-71" dirty="0">
                <a:latin typeface="Verdana"/>
                <a:cs typeface="Verdana"/>
              </a:rPr>
              <a:t> </a:t>
            </a:r>
            <a:r>
              <a:rPr sz="1200" spc="-56" dirty="0">
                <a:latin typeface="Verdana"/>
                <a:cs typeface="Verdana"/>
              </a:rPr>
              <a:t>or</a:t>
            </a:r>
            <a:r>
              <a:rPr sz="1200" spc="-79" dirty="0">
                <a:latin typeface="Verdana"/>
                <a:cs typeface="Verdana"/>
              </a:rPr>
              <a:t> </a:t>
            </a:r>
            <a:r>
              <a:rPr sz="1200" spc="56" dirty="0">
                <a:latin typeface="Verdana"/>
                <a:cs typeface="Verdana"/>
              </a:rPr>
              <a:t>do</a:t>
            </a:r>
            <a:r>
              <a:rPr sz="1200" spc="-94" dirty="0">
                <a:latin typeface="Verdana"/>
                <a:cs typeface="Verdana"/>
              </a:rPr>
              <a:t> </a:t>
            </a:r>
            <a:r>
              <a:rPr sz="1200" spc="-8" dirty="0">
                <a:latin typeface="Verdana"/>
                <a:cs typeface="Verdana"/>
              </a:rPr>
              <a:t>repeatedly</a:t>
            </a:r>
            <a:endParaRPr lang="en-US" sz="1200" dirty="0">
              <a:latin typeface="Verdana"/>
              <a:cs typeface="Verdana"/>
            </a:endParaRPr>
          </a:p>
          <a:p>
            <a:pPr marL="566738" indent="-214313">
              <a:spcBef>
                <a:spcPts val="754"/>
              </a:spcBef>
              <a:buFont typeface="Wingdings" panose="05000000000000000000" pitchFamily="2" charset="2"/>
              <a:buChar char="Ø"/>
              <a:tabLst>
                <a:tab pos="567214" algn="l"/>
              </a:tabLst>
            </a:pPr>
            <a:r>
              <a:rPr sz="1050" b="1" spc="-45" dirty="0">
                <a:latin typeface="Tahoma"/>
                <a:cs typeface="Tahoma"/>
              </a:rPr>
              <a:t>iteration</a:t>
            </a:r>
            <a:r>
              <a:rPr sz="1050" b="1" spc="-11" dirty="0">
                <a:latin typeface="Tahoma"/>
                <a:cs typeface="Tahoma"/>
              </a:rPr>
              <a:t> </a:t>
            </a:r>
            <a:r>
              <a:rPr sz="1050" b="1" i="1" spc="-109" dirty="0">
                <a:latin typeface="Verdana"/>
                <a:cs typeface="Verdana"/>
              </a:rPr>
              <a:t>n</a:t>
            </a:r>
            <a:r>
              <a:rPr sz="1050" spc="-109" dirty="0">
                <a:latin typeface="Verdana"/>
                <a:cs typeface="Verdana"/>
              </a:rPr>
              <a:t>.</a:t>
            </a:r>
            <a:r>
              <a:rPr sz="1050" spc="-86" dirty="0">
                <a:latin typeface="Verdana"/>
                <a:cs typeface="Verdana"/>
              </a:rPr>
              <a:t> </a:t>
            </a:r>
            <a:r>
              <a:rPr sz="1050" spc="-153" dirty="0">
                <a:latin typeface="Verdana"/>
                <a:cs typeface="Verdana"/>
              </a:rPr>
              <a:t>–</a:t>
            </a:r>
            <a:r>
              <a:rPr sz="1050" spc="-79" dirty="0">
                <a:latin typeface="Verdana"/>
                <a:cs typeface="Verdana"/>
              </a:rPr>
              <a:t> </a:t>
            </a:r>
            <a:r>
              <a:rPr sz="1050" b="1" spc="-38" dirty="0">
                <a:latin typeface="Tahoma"/>
                <a:cs typeface="Tahoma"/>
              </a:rPr>
              <a:t>iterative</a:t>
            </a:r>
            <a:r>
              <a:rPr sz="1050" b="1" spc="-15" dirty="0">
                <a:latin typeface="Tahoma"/>
                <a:cs typeface="Tahoma"/>
              </a:rPr>
              <a:t> </a:t>
            </a:r>
            <a:r>
              <a:rPr sz="1050" b="1" i="1" spc="-19" dirty="0">
                <a:latin typeface="Verdana"/>
                <a:cs typeface="Verdana"/>
              </a:rPr>
              <a:t>adj</a:t>
            </a:r>
            <a:endParaRPr sz="1050" dirty="0">
              <a:latin typeface="Verdana"/>
              <a:cs typeface="Verdana"/>
            </a:endParaRPr>
          </a:p>
          <a:p>
            <a:pPr marL="223838" indent="-214313">
              <a:spcBef>
                <a:spcPts val="746"/>
              </a:spcBef>
              <a:buFont typeface="Wingdings" panose="05000000000000000000" pitchFamily="2" charset="2"/>
              <a:buChar char="Ø"/>
              <a:tabLst>
                <a:tab pos="266224" algn="l"/>
              </a:tabLst>
            </a:pPr>
            <a:r>
              <a:rPr sz="1350" b="1" spc="-56" dirty="0">
                <a:latin typeface="Tahoma"/>
                <a:cs typeface="Tahoma"/>
              </a:rPr>
              <a:t>Increment</a:t>
            </a:r>
            <a:r>
              <a:rPr sz="1350" b="1" spc="-41" dirty="0">
                <a:latin typeface="Tahoma"/>
                <a:cs typeface="Tahoma"/>
              </a:rPr>
              <a:t> </a:t>
            </a:r>
            <a:r>
              <a:rPr sz="1350" b="1" i="1" spc="-38" dirty="0">
                <a:latin typeface="Verdana"/>
                <a:cs typeface="Verdana"/>
              </a:rPr>
              <a:t>n</a:t>
            </a:r>
            <a:endParaRPr sz="1350" dirty="0">
              <a:latin typeface="Verdana"/>
              <a:cs typeface="Verdana"/>
            </a:endParaRPr>
          </a:p>
          <a:p>
            <a:pPr marL="566738" indent="-214313">
              <a:spcBef>
                <a:spcPts val="754"/>
              </a:spcBef>
              <a:buFont typeface="Wingdings" panose="05000000000000000000" pitchFamily="2" charset="2"/>
              <a:buChar char="Ø"/>
              <a:tabLst>
                <a:tab pos="567214" algn="l"/>
              </a:tabLst>
            </a:pPr>
            <a:r>
              <a:rPr sz="1200" spc="-105" dirty="0">
                <a:latin typeface="Verdana"/>
                <a:cs typeface="Verdana"/>
              </a:rPr>
              <a:t>1.</a:t>
            </a:r>
            <a:r>
              <a:rPr sz="1200" spc="-83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amount</a:t>
            </a:r>
            <a:r>
              <a:rPr sz="1200" spc="-83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of</a:t>
            </a:r>
            <a:r>
              <a:rPr sz="1200" spc="-83" dirty="0">
                <a:latin typeface="Verdana"/>
                <a:cs typeface="Verdana"/>
              </a:rPr>
              <a:t> </a:t>
            </a:r>
            <a:r>
              <a:rPr sz="1200" spc="-8" dirty="0">
                <a:latin typeface="Verdana"/>
                <a:cs typeface="Verdana"/>
              </a:rPr>
              <a:t>increase</a:t>
            </a:r>
            <a:endParaRPr sz="1200" dirty="0">
              <a:latin typeface="Verdana"/>
              <a:cs typeface="Verdana"/>
            </a:endParaRPr>
          </a:p>
          <a:p>
            <a:pPr marL="566738" indent="-214313">
              <a:spcBef>
                <a:spcPts val="746"/>
              </a:spcBef>
              <a:buFont typeface="Wingdings" panose="05000000000000000000" pitchFamily="2" charset="2"/>
              <a:buChar char="Ø"/>
              <a:tabLst>
                <a:tab pos="567214" algn="l"/>
              </a:tabLst>
            </a:pPr>
            <a:r>
              <a:rPr sz="1200" spc="-109" dirty="0">
                <a:latin typeface="Verdana"/>
                <a:cs typeface="Verdana"/>
              </a:rPr>
              <a:t>2.</a:t>
            </a:r>
            <a:r>
              <a:rPr sz="1200" spc="-64" dirty="0">
                <a:latin typeface="Verdana"/>
                <a:cs typeface="Verdana"/>
              </a:rPr>
              <a:t> </a:t>
            </a:r>
            <a:r>
              <a:rPr sz="1200" spc="90" dirty="0">
                <a:latin typeface="Verdana"/>
                <a:cs typeface="Verdana"/>
              </a:rPr>
              <a:t>a</a:t>
            </a:r>
            <a:r>
              <a:rPr sz="1200" spc="-64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becoming</a:t>
            </a:r>
            <a:r>
              <a:rPr sz="1200" spc="-49" dirty="0">
                <a:latin typeface="Verdana"/>
                <a:cs typeface="Verdana"/>
              </a:rPr>
              <a:t> </a:t>
            </a:r>
            <a:r>
              <a:rPr sz="1200" spc="-23" dirty="0">
                <a:latin typeface="Verdana"/>
                <a:cs typeface="Verdana"/>
              </a:rPr>
              <a:t>greater</a:t>
            </a:r>
            <a:r>
              <a:rPr sz="1200" spc="-26" dirty="0">
                <a:latin typeface="Verdana"/>
                <a:cs typeface="Verdana"/>
              </a:rPr>
              <a:t> </a:t>
            </a:r>
            <a:r>
              <a:rPr sz="1200" spc="-56" dirty="0">
                <a:latin typeface="Verdana"/>
                <a:cs typeface="Verdana"/>
              </a:rPr>
              <a:t>or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larger;</a:t>
            </a:r>
            <a:r>
              <a:rPr sz="1200" spc="-53" dirty="0">
                <a:latin typeface="Verdana"/>
                <a:cs typeface="Verdana"/>
              </a:rPr>
              <a:t> </a:t>
            </a:r>
            <a:r>
              <a:rPr sz="1200" spc="-8" dirty="0">
                <a:latin typeface="Verdana"/>
                <a:cs typeface="Verdana"/>
              </a:rPr>
              <a:t>increase</a:t>
            </a:r>
            <a:endParaRPr sz="1200" dirty="0">
              <a:latin typeface="Verdana"/>
              <a:cs typeface="Verdana"/>
            </a:endParaRPr>
          </a:p>
          <a:p>
            <a:pPr marL="909638" indent="-214313">
              <a:spcBef>
                <a:spcPts val="754"/>
              </a:spcBef>
              <a:buFont typeface="Wingdings" panose="05000000000000000000" pitchFamily="2" charset="2"/>
              <a:buChar char="Ø"/>
              <a:tabLst>
                <a:tab pos="902970" algn="l"/>
              </a:tabLst>
            </a:pPr>
            <a:r>
              <a:rPr sz="1050" b="1" spc="-23" dirty="0">
                <a:latin typeface="Tahoma"/>
                <a:cs typeface="Tahoma"/>
              </a:rPr>
              <a:t>incremental</a:t>
            </a:r>
            <a:r>
              <a:rPr sz="1050" b="1" spc="-4" dirty="0">
                <a:latin typeface="Tahoma"/>
                <a:cs typeface="Tahoma"/>
              </a:rPr>
              <a:t> </a:t>
            </a:r>
            <a:r>
              <a:rPr sz="1050" b="1" i="1" spc="-19" dirty="0">
                <a:latin typeface="Verdana"/>
                <a:cs typeface="Verdana"/>
              </a:rPr>
              <a:t>adj</a:t>
            </a:r>
            <a:endParaRPr sz="105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593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Building </a:t>
            </a:r>
            <a:r>
              <a:rPr lang="en-US" dirty="0"/>
              <a:t>and releasing one feature at a time depending on priorities defined by the </a:t>
            </a:r>
            <a:r>
              <a:rPr lang="en-US" dirty="0" smtClean="0"/>
              <a:t>customer</a:t>
            </a:r>
          </a:p>
          <a:p>
            <a:pPr marL="523875" indent="-342900" algn="just">
              <a:spcBef>
                <a:spcPts val="503"/>
              </a:spcBef>
              <a:buFont typeface="Wingdings" panose="05000000000000000000" pitchFamily="2" charset="2"/>
              <a:buChar char="q"/>
            </a:pPr>
            <a:r>
              <a:rPr lang="en-US" spc="83" dirty="0">
                <a:cs typeface="Verdana"/>
              </a:rPr>
              <a:t>You</a:t>
            </a:r>
            <a:r>
              <a:rPr lang="en-US" spc="-146" dirty="0">
                <a:cs typeface="Verdana"/>
              </a:rPr>
              <a:t> </a:t>
            </a:r>
            <a:r>
              <a:rPr lang="en-US" dirty="0">
                <a:cs typeface="Verdana"/>
              </a:rPr>
              <a:t>have</a:t>
            </a:r>
            <a:r>
              <a:rPr lang="en-US" spc="-109" dirty="0">
                <a:cs typeface="Verdana"/>
              </a:rPr>
              <a:t> </a:t>
            </a:r>
            <a:r>
              <a:rPr lang="en-US" spc="-56" dirty="0">
                <a:cs typeface="Verdana"/>
              </a:rPr>
              <a:t>all</a:t>
            </a:r>
            <a:r>
              <a:rPr lang="en-US" spc="-120" dirty="0">
                <a:cs typeface="Verdana"/>
              </a:rPr>
              <a:t> </a:t>
            </a:r>
            <a:r>
              <a:rPr lang="en-US" spc="-23" dirty="0">
                <a:cs typeface="Verdana"/>
              </a:rPr>
              <a:t>the</a:t>
            </a:r>
            <a:r>
              <a:rPr lang="en-US" spc="-120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requirements</a:t>
            </a:r>
            <a:endParaRPr lang="en-US" dirty="0" smtClean="0">
              <a:cs typeface="Verdana"/>
            </a:endParaRPr>
          </a:p>
          <a:p>
            <a:pPr marL="523875" indent="-342900" algn="just">
              <a:spcBef>
                <a:spcPts val="503"/>
              </a:spcBef>
              <a:buFont typeface="Wingdings" panose="05000000000000000000" pitchFamily="2" charset="2"/>
              <a:buChar char="q"/>
            </a:pPr>
            <a:r>
              <a:rPr lang="en-US" spc="64" dirty="0">
                <a:cs typeface="Verdana"/>
              </a:rPr>
              <a:t>you</a:t>
            </a:r>
            <a:r>
              <a:rPr lang="en-US" spc="41" dirty="0">
                <a:cs typeface="Verdana"/>
              </a:rPr>
              <a:t> </a:t>
            </a:r>
            <a:r>
              <a:rPr lang="en-US" dirty="0">
                <a:cs typeface="Verdana"/>
              </a:rPr>
              <a:t>design</a:t>
            </a:r>
            <a:r>
              <a:rPr lang="en-US" spc="38" dirty="0">
                <a:cs typeface="Verdana"/>
              </a:rPr>
              <a:t> </a:t>
            </a:r>
            <a:r>
              <a:rPr lang="en-US" dirty="0">
                <a:cs typeface="Verdana"/>
              </a:rPr>
              <a:t>the</a:t>
            </a:r>
            <a:r>
              <a:rPr lang="en-US" spc="34" dirty="0">
                <a:cs typeface="Verdana"/>
              </a:rPr>
              <a:t> </a:t>
            </a:r>
            <a:r>
              <a:rPr lang="en-US" spc="41" dirty="0">
                <a:cs typeface="Verdana"/>
              </a:rPr>
              <a:t>complete</a:t>
            </a:r>
            <a:r>
              <a:rPr lang="en-US" spc="45" dirty="0">
                <a:cs typeface="Verdana"/>
              </a:rPr>
              <a:t> </a:t>
            </a:r>
            <a:r>
              <a:rPr lang="en-US" dirty="0">
                <a:cs typeface="Verdana"/>
              </a:rPr>
              <a:t>product</a:t>
            </a:r>
            <a:r>
              <a:rPr lang="en-US" spc="41" dirty="0">
                <a:cs typeface="Verdana"/>
              </a:rPr>
              <a:t> </a:t>
            </a:r>
            <a:r>
              <a:rPr lang="en-US" spc="-169" dirty="0">
                <a:cs typeface="Verdana"/>
              </a:rPr>
              <a:t>first.</a:t>
            </a:r>
            <a:r>
              <a:rPr lang="en-US" spc="23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41" dirty="0">
                <a:cs typeface="Verdana"/>
              </a:rPr>
              <a:t> </a:t>
            </a:r>
            <a:r>
              <a:rPr lang="en-US" dirty="0">
                <a:cs typeface="Verdana"/>
              </a:rPr>
              <a:t>only</a:t>
            </a:r>
            <a:r>
              <a:rPr lang="en-US" spc="41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leave </a:t>
            </a:r>
            <a:r>
              <a:rPr lang="en-US" spc="-38" dirty="0">
                <a:cs typeface="Verdana"/>
              </a:rPr>
              <a:t>out</a:t>
            </a:r>
            <a:r>
              <a:rPr lang="en-US" spc="-143" dirty="0">
                <a:cs typeface="Verdana"/>
              </a:rPr>
              <a:t> </a:t>
            </a:r>
            <a:r>
              <a:rPr lang="en-US" spc="-53" dirty="0">
                <a:cs typeface="Verdana"/>
              </a:rPr>
              <a:t>details</a:t>
            </a:r>
            <a:r>
              <a:rPr lang="en-US" spc="-135" dirty="0">
                <a:cs typeface="Verdana"/>
              </a:rPr>
              <a:t> </a:t>
            </a:r>
            <a:r>
              <a:rPr lang="en-US" spc="-38" dirty="0">
                <a:cs typeface="Verdana"/>
              </a:rPr>
              <a:t>that</a:t>
            </a:r>
            <a:r>
              <a:rPr lang="en-US" spc="-139" dirty="0">
                <a:cs typeface="Verdana"/>
              </a:rPr>
              <a:t> </a:t>
            </a:r>
            <a:r>
              <a:rPr lang="en-US" spc="-30" dirty="0">
                <a:cs typeface="Verdana"/>
              </a:rPr>
              <a:t>you</a:t>
            </a:r>
            <a:r>
              <a:rPr lang="en-US" spc="-146" dirty="0">
                <a:cs typeface="Verdana"/>
              </a:rPr>
              <a:t> </a:t>
            </a:r>
            <a:r>
              <a:rPr lang="en-US" spc="120" dirty="0">
                <a:cs typeface="Verdana"/>
              </a:rPr>
              <a:t>can</a:t>
            </a:r>
            <a:r>
              <a:rPr lang="en-US" spc="-131" dirty="0">
                <a:cs typeface="Verdana"/>
              </a:rPr>
              <a:t> </a:t>
            </a:r>
            <a:r>
              <a:rPr lang="en-US" spc="-75" dirty="0">
                <a:cs typeface="Verdana"/>
              </a:rPr>
              <a:t>safely</a:t>
            </a:r>
            <a:r>
              <a:rPr lang="en-US" spc="-131" dirty="0">
                <a:cs typeface="Verdana"/>
              </a:rPr>
              <a:t> </a:t>
            </a:r>
            <a:r>
              <a:rPr lang="en-US" spc="94" dirty="0">
                <a:cs typeface="Verdana"/>
              </a:rPr>
              <a:t>decide</a:t>
            </a:r>
            <a:r>
              <a:rPr lang="en-US" spc="-150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later.</a:t>
            </a:r>
            <a:endParaRPr lang="en-US" dirty="0" smtClean="0">
              <a:cs typeface="Verdana"/>
            </a:endParaRPr>
          </a:p>
          <a:p>
            <a:pPr marL="523875" indent="-342900" algn="just">
              <a:spcBef>
                <a:spcPts val="503"/>
              </a:spcBef>
              <a:buFont typeface="Wingdings" panose="05000000000000000000" pitchFamily="2" charset="2"/>
              <a:buChar char="q"/>
            </a:pPr>
            <a:r>
              <a:rPr lang="en-US" dirty="0" smtClean="0">
                <a:cs typeface="Verdana"/>
              </a:rPr>
              <a:t>Then</a:t>
            </a:r>
            <a:r>
              <a:rPr lang="en-US" spc="-26" dirty="0">
                <a:cs typeface="Verdana"/>
              </a:rPr>
              <a:t>  </a:t>
            </a:r>
            <a:r>
              <a:rPr lang="en-US" dirty="0">
                <a:cs typeface="Verdana"/>
              </a:rPr>
              <a:t>you</a:t>
            </a:r>
            <a:r>
              <a:rPr lang="en-US" spc="-23" dirty="0">
                <a:cs typeface="Verdana"/>
              </a:rPr>
              <a:t>  </a:t>
            </a:r>
            <a:r>
              <a:rPr lang="en-US" dirty="0">
                <a:cs typeface="Verdana"/>
              </a:rPr>
              <a:t>slice</a:t>
            </a:r>
            <a:r>
              <a:rPr lang="en-US" spc="-26" dirty="0">
                <a:cs typeface="Verdana"/>
              </a:rPr>
              <a:t>  </a:t>
            </a:r>
            <a:r>
              <a:rPr lang="en-US" dirty="0">
                <a:cs typeface="Verdana"/>
              </a:rPr>
              <a:t>it</a:t>
            </a:r>
            <a:r>
              <a:rPr lang="en-US" spc="-30" dirty="0">
                <a:cs typeface="Verdana"/>
              </a:rPr>
              <a:t>  </a:t>
            </a:r>
            <a:r>
              <a:rPr lang="en-US" dirty="0">
                <a:cs typeface="Verdana"/>
              </a:rPr>
              <a:t>up</a:t>
            </a:r>
            <a:r>
              <a:rPr lang="en-US" spc="-26" dirty="0">
                <a:cs typeface="Verdana"/>
              </a:rPr>
              <a:t>  </a:t>
            </a:r>
            <a:r>
              <a:rPr lang="en-US" dirty="0">
                <a:cs typeface="Verdana"/>
              </a:rPr>
              <a:t>into</a:t>
            </a:r>
            <a:r>
              <a:rPr lang="en-US" spc="-26" dirty="0">
                <a:cs typeface="Verdana"/>
              </a:rPr>
              <a:t>  </a:t>
            </a:r>
            <a:r>
              <a:rPr lang="en-US" dirty="0">
                <a:cs typeface="Verdana"/>
              </a:rPr>
              <a:t>chunks</a:t>
            </a:r>
            <a:r>
              <a:rPr lang="en-US" spc="-26" dirty="0">
                <a:cs typeface="Verdana"/>
              </a:rPr>
              <a:t>  </a:t>
            </a:r>
            <a:r>
              <a:rPr lang="en-US" spc="75" dirty="0">
                <a:cs typeface="Verdana"/>
              </a:rPr>
              <a:t>and</a:t>
            </a:r>
            <a:r>
              <a:rPr lang="en-US" spc="-23" dirty="0">
                <a:cs typeface="Verdana"/>
              </a:rPr>
              <a:t>  </a:t>
            </a:r>
            <a:r>
              <a:rPr lang="en-US" dirty="0">
                <a:cs typeface="Verdana"/>
              </a:rPr>
              <a:t>build</a:t>
            </a:r>
            <a:r>
              <a:rPr lang="en-US" spc="-26" dirty="0">
                <a:cs typeface="Verdana"/>
              </a:rPr>
              <a:t>  </a:t>
            </a:r>
            <a:r>
              <a:rPr lang="en-US" spc="105" dirty="0">
                <a:cs typeface="Verdana"/>
              </a:rPr>
              <a:t>each </a:t>
            </a:r>
            <a:r>
              <a:rPr lang="en-US" spc="-8" dirty="0">
                <a:cs typeface="Verdana"/>
              </a:rPr>
              <a:t>separately.</a:t>
            </a:r>
            <a:endParaRPr lang="en-US" dirty="0" smtClean="0">
              <a:cs typeface="Verdana"/>
            </a:endParaRPr>
          </a:p>
          <a:p>
            <a:pPr marL="523875" indent="-342900" algn="just">
              <a:spcBef>
                <a:spcPts val="503"/>
              </a:spcBef>
              <a:buFont typeface="Wingdings" panose="05000000000000000000" pitchFamily="2" charset="2"/>
              <a:buChar char="q"/>
            </a:pPr>
            <a:r>
              <a:rPr lang="en-US" spc="53" dirty="0">
                <a:cs typeface="Verdana"/>
              </a:rPr>
              <a:t>When</a:t>
            </a:r>
            <a:r>
              <a:rPr lang="en-US" spc="-41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38" dirty="0">
                <a:cs typeface="Verdana"/>
              </a:rPr>
              <a:t> </a:t>
            </a:r>
            <a:r>
              <a:rPr lang="en-US" spc="-116" dirty="0">
                <a:cs typeface="Verdana"/>
              </a:rPr>
              <a:t>finish</a:t>
            </a:r>
            <a:r>
              <a:rPr lang="en-US" spc="-49" dirty="0">
                <a:cs typeface="Verdana"/>
              </a:rPr>
              <a:t> </a:t>
            </a:r>
            <a:r>
              <a:rPr lang="en-US" spc="161" dirty="0">
                <a:cs typeface="Verdana"/>
              </a:rPr>
              <a:t>a</a:t>
            </a:r>
            <a:r>
              <a:rPr lang="en-US" spc="-45" dirty="0">
                <a:cs typeface="Verdana"/>
              </a:rPr>
              <a:t> </a:t>
            </a:r>
            <a:r>
              <a:rPr lang="en-US" spc="-15" dirty="0">
                <a:cs typeface="Verdana"/>
              </a:rPr>
              <a:t>chunk,</a:t>
            </a:r>
            <a:r>
              <a:rPr lang="en-US" spc="-41" dirty="0">
                <a:cs typeface="Verdana"/>
              </a:rPr>
              <a:t> </a:t>
            </a:r>
            <a:r>
              <a:rPr lang="en-US" spc="45" dirty="0">
                <a:cs typeface="Verdana"/>
              </a:rPr>
              <a:t>aka</a:t>
            </a:r>
            <a:r>
              <a:rPr lang="en-US" spc="-49" dirty="0">
                <a:cs typeface="Verdana"/>
              </a:rPr>
              <a:t> </a:t>
            </a:r>
            <a:r>
              <a:rPr lang="en-US" dirty="0">
                <a:cs typeface="Verdana"/>
              </a:rPr>
              <a:t>module,</a:t>
            </a:r>
            <a:r>
              <a:rPr lang="en-US" spc="-41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53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integrate</a:t>
            </a:r>
            <a:r>
              <a:rPr lang="en-US" spc="-41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it </a:t>
            </a:r>
            <a:r>
              <a:rPr lang="en-US" dirty="0">
                <a:cs typeface="Verdana"/>
              </a:rPr>
              <a:t>with</a:t>
            </a:r>
            <a:r>
              <a:rPr lang="en-US" spc="233" dirty="0">
                <a:cs typeface="Verdana"/>
              </a:rPr>
              <a:t> </a:t>
            </a:r>
            <a:r>
              <a:rPr lang="en-US" spc="-26" dirty="0">
                <a:cs typeface="Verdana"/>
              </a:rPr>
              <a:t>previously</a:t>
            </a:r>
            <a:r>
              <a:rPr lang="en-US" spc="229" dirty="0">
                <a:cs typeface="Verdana"/>
              </a:rPr>
              <a:t> </a:t>
            </a:r>
            <a:r>
              <a:rPr lang="en-US" spc="49" dirty="0">
                <a:cs typeface="Verdana"/>
              </a:rPr>
              <a:t>completed</a:t>
            </a:r>
            <a:r>
              <a:rPr lang="en-US" spc="236" dirty="0">
                <a:cs typeface="Verdana"/>
              </a:rPr>
              <a:t> </a:t>
            </a:r>
            <a:r>
              <a:rPr lang="en-US" dirty="0">
                <a:cs typeface="Verdana"/>
              </a:rPr>
              <a:t>parts,</a:t>
            </a:r>
            <a:r>
              <a:rPr lang="en-US" spc="244" dirty="0">
                <a:cs typeface="Verdana"/>
              </a:rPr>
              <a:t> </a:t>
            </a:r>
            <a:r>
              <a:rPr lang="en-US" dirty="0">
                <a:cs typeface="Verdana"/>
              </a:rPr>
              <a:t>so</a:t>
            </a:r>
            <a:r>
              <a:rPr lang="en-US" spc="233" dirty="0">
                <a:cs typeface="Verdana"/>
              </a:rPr>
              <a:t> </a:t>
            </a:r>
            <a:r>
              <a:rPr lang="en-US" dirty="0">
                <a:cs typeface="Verdana"/>
              </a:rPr>
              <a:t>they</a:t>
            </a:r>
            <a:r>
              <a:rPr lang="en-US" spc="233" dirty="0">
                <a:cs typeface="Verdana"/>
              </a:rPr>
              <a:t> </a:t>
            </a:r>
            <a:r>
              <a:rPr lang="en-US" dirty="0">
                <a:cs typeface="Verdana"/>
              </a:rPr>
              <a:t>work</a:t>
            </a:r>
            <a:r>
              <a:rPr lang="en-US" spc="221" dirty="0">
                <a:cs typeface="Verdana"/>
              </a:rPr>
              <a:t> </a:t>
            </a:r>
            <a:r>
              <a:rPr lang="en-US" dirty="0">
                <a:cs typeface="Verdana"/>
              </a:rPr>
              <a:t>as</a:t>
            </a:r>
            <a:r>
              <a:rPr lang="en-US" spc="244" dirty="0">
                <a:cs typeface="Verdana"/>
              </a:rPr>
              <a:t> </a:t>
            </a:r>
            <a:r>
              <a:rPr lang="en-US" spc="124" dirty="0">
                <a:cs typeface="Verdana"/>
              </a:rPr>
              <a:t>a </a:t>
            </a:r>
            <a:r>
              <a:rPr lang="en-US" spc="-8" dirty="0">
                <a:cs typeface="Verdana"/>
              </a:rPr>
              <a:t>whole.</a:t>
            </a:r>
            <a:endParaRPr lang="en-US" dirty="0">
              <a:cs typeface="Verdana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4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Example: </a:t>
            </a:r>
            <a:r>
              <a:rPr lang="en-US" b="1" dirty="0" smtClean="0"/>
              <a:t>Ecommerce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/>
              <a:t>Consider </a:t>
            </a:r>
            <a:r>
              <a:rPr lang="en-US" dirty="0"/>
              <a:t>a team building an ecommerce website using incremental development. The final target product has search, product information, a shopping basket, checkout, </a:t>
            </a:r>
            <a:r>
              <a:rPr lang="en-US" dirty="0" err="1"/>
              <a:t>favourites</a:t>
            </a:r>
            <a:r>
              <a:rPr lang="en-US" dirty="0"/>
              <a:t>, and customer reviews.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For the first released increment, the team builds the basic functionality to buy a product. It includes search, product information, adding products to a shopping basket and checkout. This first slice would only be released once it’s complete.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The second released increment builds on that basic functionality, and would add another capability such as </a:t>
            </a:r>
            <a:r>
              <a:rPr lang="en-US" dirty="0" err="1"/>
              <a:t>favourites</a:t>
            </a:r>
            <a:r>
              <a:rPr lang="en-US" dirty="0"/>
              <a:t>. The would be released when the </a:t>
            </a:r>
            <a:r>
              <a:rPr lang="en-US" dirty="0" err="1"/>
              <a:t>favourites</a:t>
            </a:r>
            <a:r>
              <a:rPr lang="en-US" dirty="0"/>
              <a:t> functionality is complete.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The third released increment adds customer reviews once that is complete, and so on.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6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Iterative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958" y="1482436"/>
            <a:ext cx="8837023" cy="4095713"/>
          </a:xfrm>
        </p:spPr>
        <p:txBody>
          <a:bodyPr>
            <a:noAutofit/>
          </a:bodyPr>
          <a:lstStyle/>
          <a:p>
            <a:pPr algn="just"/>
            <a:r>
              <a:rPr lang="en-US" spc="-30" dirty="0">
                <a:cs typeface="Verdana"/>
              </a:rPr>
              <a:t>Iterative</a:t>
            </a:r>
            <a:r>
              <a:rPr lang="en-US" spc="90" dirty="0">
                <a:cs typeface="Verdana"/>
              </a:rPr>
              <a:t> </a:t>
            </a:r>
            <a:r>
              <a:rPr lang="en-US" dirty="0">
                <a:cs typeface="Verdana"/>
              </a:rPr>
              <a:t>development</a:t>
            </a:r>
            <a:r>
              <a:rPr lang="en-US" spc="90" dirty="0">
                <a:cs typeface="Verdana"/>
              </a:rPr>
              <a:t> </a:t>
            </a:r>
            <a:r>
              <a:rPr lang="en-US" dirty="0">
                <a:cs typeface="Verdana"/>
              </a:rPr>
              <a:t>is</a:t>
            </a:r>
            <a:r>
              <a:rPr lang="en-US" spc="94" dirty="0">
                <a:cs typeface="Verdana"/>
              </a:rPr>
              <a:t> </a:t>
            </a:r>
            <a:r>
              <a:rPr lang="en-US" spc="139" dirty="0">
                <a:cs typeface="Verdana"/>
              </a:rPr>
              <a:t>a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lot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like</a:t>
            </a:r>
            <a:r>
              <a:rPr lang="en-US" spc="83" dirty="0">
                <a:cs typeface="Verdana"/>
              </a:rPr>
              <a:t> </a:t>
            </a:r>
            <a:r>
              <a:rPr lang="en-US" spc="-34" dirty="0">
                <a:cs typeface="Verdana"/>
              </a:rPr>
              <a:t>inventing:</a:t>
            </a:r>
            <a:r>
              <a:rPr lang="en-US" spc="83" dirty="0">
                <a:cs typeface="Verdana"/>
              </a:rPr>
              <a:t> </a:t>
            </a:r>
            <a:r>
              <a:rPr lang="en-US" dirty="0" smtClean="0">
                <a:cs typeface="Verdana"/>
              </a:rPr>
              <a:t>discovering</a:t>
            </a:r>
            <a:r>
              <a:rPr lang="en-US" spc="90" dirty="0">
                <a:cs typeface="Verdana"/>
              </a:rPr>
              <a:t> </a:t>
            </a:r>
            <a:r>
              <a:rPr lang="en-US" spc="-15" dirty="0">
                <a:cs typeface="Verdana"/>
              </a:rPr>
              <a:t>what </a:t>
            </a:r>
            <a:r>
              <a:rPr lang="en-US" spc="64" dirty="0">
                <a:cs typeface="Verdana"/>
              </a:rPr>
              <a:t>and</a:t>
            </a:r>
            <a:r>
              <a:rPr lang="en-US" spc="-131" dirty="0">
                <a:cs typeface="Verdana"/>
              </a:rPr>
              <a:t> </a:t>
            </a:r>
            <a:r>
              <a:rPr lang="en-US" dirty="0">
                <a:cs typeface="Verdana"/>
              </a:rPr>
              <a:t>how</a:t>
            </a:r>
            <a:r>
              <a:rPr lang="en-US" spc="-124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you</a:t>
            </a:r>
            <a:r>
              <a:rPr lang="en-US" spc="-124" dirty="0">
                <a:cs typeface="Verdana"/>
              </a:rPr>
              <a:t> </a:t>
            </a:r>
            <a:r>
              <a:rPr lang="en-US" spc="60" dirty="0">
                <a:cs typeface="Verdana"/>
              </a:rPr>
              <a:t>need</a:t>
            </a:r>
            <a:r>
              <a:rPr lang="en-US" spc="-124" dirty="0">
                <a:cs typeface="Verdana"/>
              </a:rPr>
              <a:t> </a:t>
            </a:r>
            <a:r>
              <a:rPr lang="en-US" spc="-56" dirty="0">
                <a:cs typeface="Verdana"/>
              </a:rPr>
              <a:t>as</a:t>
            </a:r>
            <a:r>
              <a:rPr lang="en-US" spc="-139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you</a:t>
            </a:r>
            <a:r>
              <a:rPr lang="en-US" spc="-124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go.</a:t>
            </a:r>
            <a:endParaRPr lang="en-US" dirty="0" smtClean="0"/>
          </a:p>
          <a:p>
            <a:pPr algn="just"/>
            <a:r>
              <a:rPr lang="en-US" dirty="0" smtClean="0"/>
              <a:t>Build </a:t>
            </a:r>
            <a:r>
              <a:rPr lang="en-US" dirty="0"/>
              <a:t>the overall solution/product and then refine some of the areas that require </a:t>
            </a:r>
            <a:r>
              <a:rPr lang="en-US" dirty="0" smtClean="0"/>
              <a:t>improvement</a:t>
            </a:r>
          </a:p>
          <a:p>
            <a:pPr marL="266700" marR="3810" indent="-257175" algn="just">
              <a:spcBef>
                <a:spcPts val="720"/>
              </a:spcBef>
            </a:pPr>
            <a:r>
              <a:rPr lang="en-US" dirty="0">
                <a:cs typeface="Verdana"/>
              </a:rPr>
              <a:t>You</a:t>
            </a:r>
            <a:r>
              <a:rPr lang="en-US" spc="334" dirty="0">
                <a:cs typeface="Verdana"/>
              </a:rPr>
              <a:t> </a:t>
            </a:r>
            <a:r>
              <a:rPr lang="en-US" dirty="0">
                <a:cs typeface="Verdana"/>
              </a:rPr>
              <a:t>start</a:t>
            </a:r>
            <a:r>
              <a:rPr lang="en-US" spc="315" dirty="0">
                <a:cs typeface="Verdana"/>
              </a:rPr>
              <a:t> </a:t>
            </a:r>
            <a:r>
              <a:rPr lang="en-US" dirty="0">
                <a:cs typeface="Verdana"/>
              </a:rPr>
              <a:t>with</a:t>
            </a:r>
            <a:r>
              <a:rPr lang="en-US" spc="323" dirty="0">
                <a:cs typeface="Verdana"/>
              </a:rPr>
              <a:t> </a:t>
            </a:r>
            <a:r>
              <a:rPr lang="en-US" spc="139" dirty="0">
                <a:cs typeface="Verdana"/>
              </a:rPr>
              <a:t>a</a:t>
            </a:r>
            <a:r>
              <a:rPr lang="en-US" spc="326" dirty="0">
                <a:cs typeface="Verdana"/>
              </a:rPr>
              <a:t> </a:t>
            </a:r>
            <a:r>
              <a:rPr lang="en-US" dirty="0">
                <a:cs typeface="Verdana"/>
              </a:rPr>
              <a:t>fair</a:t>
            </a:r>
            <a:r>
              <a:rPr lang="en-US" spc="323" dirty="0">
                <a:cs typeface="Verdana"/>
              </a:rPr>
              <a:t> </a:t>
            </a:r>
            <a:r>
              <a:rPr lang="en-US" spc="56" dirty="0">
                <a:cs typeface="Verdana"/>
              </a:rPr>
              <a:t>idea</a:t>
            </a:r>
            <a:r>
              <a:rPr lang="en-US" spc="326" dirty="0">
                <a:cs typeface="Verdana"/>
              </a:rPr>
              <a:t> </a:t>
            </a:r>
            <a:r>
              <a:rPr lang="en-US" dirty="0">
                <a:cs typeface="Verdana"/>
              </a:rPr>
              <a:t>of</a:t>
            </a:r>
            <a:r>
              <a:rPr lang="en-US" spc="323" dirty="0">
                <a:cs typeface="Verdana"/>
              </a:rPr>
              <a:t> </a:t>
            </a:r>
            <a:r>
              <a:rPr lang="en-US" dirty="0">
                <a:cs typeface="Verdana"/>
              </a:rPr>
              <a:t>what</a:t>
            </a:r>
            <a:r>
              <a:rPr lang="en-US" spc="326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326" dirty="0">
                <a:cs typeface="Verdana"/>
              </a:rPr>
              <a:t> </a:t>
            </a:r>
            <a:r>
              <a:rPr lang="en-US" dirty="0">
                <a:cs typeface="Verdana"/>
              </a:rPr>
              <a:t>want</a:t>
            </a:r>
            <a:r>
              <a:rPr lang="en-US" spc="330" dirty="0">
                <a:cs typeface="Verdana"/>
              </a:rPr>
              <a:t> </a:t>
            </a:r>
            <a:r>
              <a:rPr lang="en-US" dirty="0">
                <a:cs typeface="Verdana"/>
              </a:rPr>
              <a:t>the</a:t>
            </a:r>
            <a:r>
              <a:rPr lang="en-US" spc="326" dirty="0">
                <a:cs typeface="Verdana"/>
              </a:rPr>
              <a:t> </a:t>
            </a:r>
            <a:r>
              <a:rPr lang="en-US" dirty="0">
                <a:cs typeface="Verdana"/>
              </a:rPr>
              <a:t>product</a:t>
            </a:r>
            <a:r>
              <a:rPr lang="en-US" spc="330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to </a:t>
            </a:r>
            <a:r>
              <a:rPr lang="en-US" dirty="0">
                <a:cs typeface="Verdana"/>
              </a:rPr>
              <a:t>accomplish,</a:t>
            </a:r>
            <a:r>
              <a:rPr lang="en-US" spc="-98" dirty="0">
                <a:cs typeface="Verdana"/>
              </a:rPr>
              <a:t> </a:t>
            </a:r>
            <a:r>
              <a:rPr lang="en-US" spc="64" dirty="0">
                <a:cs typeface="Verdana"/>
              </a:rPr>
              <a:t>and</a:t>
            </a:r>
            <a:r>
              <a:rPr lang="en-US" spc="-71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79" dirty="0">
                <a:cs typeface="Verdana"/>
              </a:rPr>
              <a:t> </a:t>
            </a:r>
            <a:r>
              <a:rPr lang="en-US" spc="-49" dirty="0">
                <a:cs typeface="Verdana"/>
              </a:rPr>
              <a:t>use</a:t>
            </a:r>
            <a:r>
              <a:rPr lang="en-US" spc="-86" dirty="0">
                <a:cs typeface="Verdana"/>
              </a:rPr>
              <a:t> </a:t>
            </a:r>
            <a:r>
              <a:rPr lang="en-US" spc="139" dirty="0">
                <a:cs typeface="Verdana"/>
              </a:rPr>
              <a:t>a</a:t>
            </a:r>
            <a:r>
              <a:rPr lang="en-US" spc="-83" dirty="0">
                <a:cs typeface="Verdana"/>
              </a:rPr>
              <a:t> </a:t>
            </a:r>
            <a:r>
              <a:rPr lang="en-US" spc="-23" dirty="0">
                <a:cs typeface="Verdana"/>
              </a:rPr>
              <a:t>process</a:t>
            </a:r>
            <a:r>
              <a:rPr lang="en-US" spc="-75" dirty="0">
                <a:cs typeface="Verdana"/>
              </a:rPr>
              <a:t> </a:t>
            </a:r>
            <a:r>
              <a:rPr lang="en-US" dirty="0">
                <a:cs typeface="Verdana"/>
              </a:rPr>
              <a:t>of</a:t>
            </a:r>
            <a:r>
              <a:rPr lang="en-US" spc="-83" dirty="0">
                <a:cs typeface="Verdana"/>
              </a:rPr>
              <a:t> </a:t>
            </a:r>
            <a:r>
              <a:rPr lang="en-US" spc="-34" dirty="0">
                <a:cs typeface="Verdana"/>
              </a:rPr>
              <a:t>successive</a:t>
            </a:r>
            <a:r>
              <a:rPr lang="en-US" spc="-86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approximation </a:t>
            </a:r>
            <a:r>
              <a:rPr lang="en-US" dirty="0">
                <a:cs typeface="Verdana"/>
              </a:rPr>
              <a:t>to</a:t>
            </a:r>
            <a:r>
              <a:rPr lang="en-US" spc="-131" dirty="0">
                <a:cs typeface="Verdana"/>
              </a:rPr>
              <a:t> </a:t>
            </a:r>
            <a:r>
              <a:rPr lang="en-US" spc="-26" dirty="0">
                <a:cs typeface="Verdana"/>
              </a:rPr>
              <a:t>design</a:t>
            </a:r>
            <a:r>
              <a:rPr lang="en-US" spc="-143" dirty="0">
                <a:cs typeface="Verdana"/>
              </a:rPr>
              <a:t> </a:t>
            </a:r>
            <a:r>
              <a:rPr lang="en-US" spc="64" dirty="0">
                <a:cs typeface="Verdana"/>
              </a:rPr>
              <a:t>and</a:t>
            </a:r>
            <a:r>
              <a:rPr lang="en-US" spc="-127" dirty="0">
                <a:cs typeface="Verdana"/>
              </a:rPr>
              <a:t> </a:t>
            </a:r>
            <a:r>
              <a:rPr lang="en-US" spc="-26" dirty="0">
                <a:cs typeface="Verdana"/>
              </a:rPr>
              <a:t>build</a:t>
            </a:r>
            <a:r>
              <a:rPr lang="en-US" spc="-146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it.</a:t>
            </a:r>
            <a:endParaRPr lang="en-US" dirty="0" smtClean="0">
              <a:cs typeface="Verdana"/>
            </a:endParaRPr>
          </a:p>
          <a:p>
            <a:pPr marL="266700" marR="3810" indent="-257175" algn="just">
              <a:spcBef>
                <a:spcPts val="720"/>
              </a:spcBef>
            </a:pPr>
            <a:r>
              <a:rPr lang="en-US" dirty="0" smtClean="0">
                <a:cs typeface="Verdana"/>
              </a:rPr>
              <a:t>You</a:t>
            </a:r>
            <a:r>
              <a:rPr lang="en-US" spc="34" dirty="0">
                <a:cs typeface="Verdana"/>
              </a:rPr>
              <a:t> </a:t>
            </a:r>
            <a:r>
              <a:rPr lang="en-US" dirty="0">
                <a:cs typeface="Verdana"/>
              </a:rPr>
              <a:t>begin</a:t>
            </a:r>
            <a:r>
              <a:rPr lang="en-US" spc="15" dirty="0">
                <a:cs typeface="Verdana"/>
              </a:rPr>
              <a:t> </a:t>
            </a:r>
            <a:r>
              <a:rPr lang="en-US" dirty="0">
                <a:cs typeface="Verdana"/>
              </a:rPr>
              <a:t>by</a:t>
            </a:r>
            <a:r>
              <a:rPr lang="en-US" spc="38" dirty="0">
                <a:cs typeface="Verdana"/>
              </a:rPr>
              <a:t> </a:t>
            </a:r>
            <a:r>
              <a:rPr lang="en-US" spc="-23" dirty="0">
                <a:cs typeface="Verdana"/>
              </a:rPr>
              <a:t>designing,</a:t>
            </a:r>
            <a:r>
              <a:rPr lang="en-US" spc="23" dirty="0">
                <a:cs typeface="Verdana"/>
              </a:rPr>
              <a:t> </a:t>
            </a:r>
            <a:r>
              <a:rPr lang="en-US" spc="-23" dirty="0">
                <a:cs typeface="Verdana"/>
              </a:rPr>
              <a:t>building,</a:t>
            </a:r>
            <a:r>
              <a:rPr lang="en-US" spc="15" dirty="0">
                <a:cs typeface="Verdana"/>
              </a:rPr>
              <a:t> </a:t>
            </a:r>
            <a:r>
              <a:rPr lang="en-US" spc="64" dirty="0">
                <a:cs typeface="Verdana"/>
              </a:rPr>
              <a:t>and</a:t>
            </a:r>
            <a:r>
              <a:rPr lang="en-US" spc="38" dirty="0">
                <a:cs typeface="Verdana"/>
              </a:rPr>
              <a:t> </a:t>
            </a:r>
            <a:r>
              <a:rPr lang="en-US" spc="-41" dirty="0">
                <a:cs typeface="Verdana"/>
              </a:rPr>
              <a:t>testing</a:t>
            </a:r>
            <a:r>
              <a:rPr lang="en-US" spc="34" dirty="0">
                <a:cs typeface="Verdana"/>
              </a:rPr>
              <a:t> </a:t>
            </a:r>
            <a:r>
              <a:rPr lang="en-US" dirty="0">
                <a:cs typeface="Verdana"/>
              </a:rPr>
              <a:t>the</a:t>
            </a:r>
            <a:r>
              <a:rPr lang="en-US" spc="26" dirty="0">
                <a:cs typeface="Verdana"/>
              </a:rPr>
              <a:t> </a:t>
            </a:r>
            <a:r>
              <a:rPr lang="en-US" spc="-75" dirty="0">
                <a:cs typeface="Verdana"/>
              </a:rPr>
              <a:t>tiniest</a:t>
            </a:r>
            <a:r>
              <a:rPr lang="en-US" spc="26" dirty="0">
                <a:cs typeface="Verdana"/>
              </a:rPr>
              <a:t> </a:t>
            </a:r>
            <a:r>
              <a:rPr lang="en-US" spc="-34" dirty="0">
                <a:cs typeface="Verdana"/>
              </a:rPr>
              <a:t>version </a:t>
            </a:r>
            <a:r>
              <a:rPr lang="en-US" dirty="0">
                <a:cs typeface="Verdana"/>
              </a:rPr>
              <a:t>of</a:t>
            </a:r>
            <a:r>
              <a:rPr lang="en-US" spc="-75" dirty="0">
                <a:cs typeface="Verdana"/>
              </a:rPr>
              <a:t> </a:t>
            </a:r>
            <a:r>
              <a:rPr lang="en-US" dirty="0">
                <a:cs typeface="Verdana"/>
              </a:rPr>
              <a:t>what</a:t>
            </a:r>
            <a:r>
              <a:rPr lang="en-US" spc="-60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56" dirty="0">
                <a:cs typeface="Verdana"/>
              </a:rPr>
              <a:t> </a:t>
            </a:r>
            <a:r>
              <a:rPr lang="en-US" dirty="0">
                <a:cs typeface="Verdana"/>
              </a:rPr>
              <a:t>have</a:t>
            </a:r>
            <a:r>
              <a:rPr lang="en-US" spc="-75" dirty="0">
                <a:cs typeface="Verdana"/>
              </a:rPr>
              <a:t> </a:t>
            </a:r>
            <a:r>
              <a:rPr lang="en-US" spc="-49" dirty="0">
                <a:cs typeface="Verdana"/>
              </a:rPr>
              <a:t>in</a:t>
            </a:r>
            <a:r>
              <a:rPr lang="en-US" spc="-60" dirty="0">
                <a:cs typeface="Verdana"/>
              </a:rPr>
              <a:t> </a:t>
            </a:r>
            <a:r>
              <a:rPr lang="en-US" spc="-45" dirty="0">
                <a:cs typeface="Verdana"/>
              </a:rPr>
              <a:t>mind.</a:t>
            </a:r>
            <a:r>
              <a:rPr lang="en-US" spc="-56" dirty="0">
                <a:cs typeface="Verdana"/>
              </a:rPr>
              <a:t> </a:t>
            </a:r>
            <a:r>
              <a:rPr lang="en-US" dirty="0">
                <a:cs typeface="Verdana"/>
              </a:rPr>
              <a:t>When</a:t>
            </a:r>
            <a:r>
              <a:rPr lang="en-US" spc="-64" dirty="0">
                <a:cs typeface="Verdana"/>
              </a:rPr>
              <a:t> </a:t>
            </a:r>
            <a:r>
              <a:rPr lang="en-US" dirty="0">
                <a:cs typeface="Verdana"/>
              </a:rPr>
              <a:t>you’re</a:t>
            </a:r>
            <a:r>
              <a:rPr lang="en-US" spc="-64" dirty="0">
                <a:cs typeface="Verdana"/>
              </a:rPr>
              <a:t> </a:t>
            </a:r>
            <a:r>
              <a:rPr lang="en-US" dirty="0">
                <a:cs typeface="Verdana"/>
              </a:rPr>
              <a:t>happy,</a:t>
            </a:r>
            <a:r>
              <a:rPr lang="en-US" spc="-64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60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show</a:t>
            </a:r>
            <a:r>
              <a:rPr lang="en-US" spc="-53" dirty="0">
                <a:cs typeface="Verdana"/>
              </a:rPr>
              <a:t> </a:t>
            </a:r>
            <a:r>
              <a:rPr lang="en-US" spc="-105" dirty="0">
                <a:cs typeface="Verdana"/>
              </a:rPr>
              <a:t>it</a:t>
            </a:r>
            <a:r>
              <a:rPr lang="en-US" spc="-53" dirty="0">
                <a:cs typeface="Verdana"/>
              </a:rPr>
              <a:t> </a:t>
            </a:r>
            <a:r>
              <a:rPr lang="en-US" spc="45" dirty="0">
                <a:cs typeface="Verdana"/>
              </a:rPr>
              <a:t>and </a:t>
            </a:r>
            <a:r>
              <a:rPr lang="en-US" spc="34" dirty="0">
                <a:cs typeface="Verdana"/>
              </a:rPr>
              <a:t>collect</a:t>
            </a:r>
            <a:r>
              <a:rPr lang="en-US" spc="-135" dirty="0">
                <a:cs typeface="Verdana"/>
              </a:rPr>
              <a:t> </a:t>
            </a:r>
            <a:r>
              <a:rPr lang="en-US" spc="60" dirty="0">
                <a:cs typeface="Verdana"/>
              </a:rPr>
              <a:t>feedback</a:t>
            </a:r>
            <a:r>
              <a:rPr lang="en-US" spc="-131" dirty="0">
                <a:cs typeface="Verdana"/>
              </a:rPr>
              <a:t> </a:t>
            </a:r>
            <a:r>
              <a:rPr lang="en-US" spc="-75" dirty="0">
                <a:cs typeface="Verdana"/>
              </a:rPr>
              <a:t>from</a:t>
            </a:r>
            <a:r>
              <a:rPr lang="en-US" spc="-139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everybody</a:t>
            </a:r>
            <a:r>
              <a:rPr lang="en-US" spc="-124" dirty="0">
                <a:cs typeface="Verdana"/>
              </a:rPr>
              <a:t> </a:t>
            </a:r>
            <a:r>
              <a:rPr lang="en-US" spc="-68" dirty="0">
                <a:cs typeface="Verdana"/>
              </a:rPr>
              <a:t>with</a:t>
            </a:r>
            <a:r>
              <a:rPr lang="en-US" spc="-150" dirty="0">
                <a:cs typeface="Verdana"/>
              </a:rPr>
              <a:t> </a:t>
            </a:r>
            <a:r>
              <a:rPr lang="en-US" spc="139" dirty="0">
                <a:cs typeface="Verdana"/>
              </a:rPr>
              <a:t>a</a:t>
            </a:r>
            <a:r>
              <a:rPr lang="en-US" spc="-143" dirty="0">
                <a:cs typeface="Verdana"/>
              </a:rPr>
              <a:t> </a:t>
            </a:r>
            <a:r>
              <a:rPr lang="en-US" spc="-56" dirty="0">
                <a:cs typeface="Verdana"/>
              </a:rPr>
              <a:t>stake</a:t>
            </a:r>
            <a:r>
              <a:rPr lang="en-US" spc="-135" dirty="0">
                <a:cs typeface="Verdana"/>
              </a:rPr>
              <a:t> </a:t>
            </a:r>
            <a:r>
              <a:rPr lang="en-US" spc="-86" dirty="0">
                <a:cs typeface="Verdana"/>
              </a:rPr>
              <a:t>in</a:t>
            </a:r>
            <a:r>
              <a:rPr lang="en-US" spc="-153" dirty="0">
                <a:cs typeface="Verdana"/>
              </a:rPr>
              <a:t> </a:t>
            </a:r>
            <a:r>
              <a:rPr lang="en-US" spc="-26" dirty="0">
                <a:cs typeface="Verdana"/>
              </a:rPr>
              <a:t>the</a:t>
            </a:r>
            <a:r>
              <a:rPr lang="en-US" spc="-135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product.</a:t>
            </a:r>
            <a:endParaRPr lang="en-US" dirty="0" smtClean="0">
              <a:cs typeface="Verdana"/>
            </a:endParaRPr>
          </a:p>
          <a:p>
            <a:pPr marL="266700" marR="3810" indent="-257175" algn="just">
              <a:spcBef>
                <a:spcPts val="720"/>
              </a:spcBef>
            </a:pPr>
            <a:r>
              <a:rPr lang="en-US" spc="-307" dirty="0">
                <a:cs typeface="Verdana"/>
              </a:rPr>
              <a:t>If</a:t>
            </a:r>
            <a:r>
              <a:rPr lang="en-US" spc="150" dirty="0">
                <a:cs typeface="Verdana"/>
              </a:rPr>
              <a:t> </a:t>
            </a:r>
            <a:r>
              <a:rPr lang="en-US" dirty="0">
                <a:cs typeface="Verdana"/>
              </a:rPr>
              <a:t>what</a:t>
            </a:r>
            <a:r>
              <a:rPr lang="en-US" spc="-23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15" dirty="0">
                <a:cs typeface="Verdana"/>
              </a:rPr>
              <a:t> </a:t>
            </a:r>
            <a:r>
              <a:rPr lang="en-US" spc="41" dirty="0">
                <a:cs typeface="Verdana"/>
              </a:rPr>
              <a:t>created</a:t>
            </a:r>
            <a:r>
              <a:rPr lang="en-US" spc="-11" dirty="0">
                <a:cs typeface="Verdana"/>
              </a:rPr>
              <a:t> </a:t>
            </a:r>
            <a:r>
              <a:rPr lang="en-US" dirty="0">
                <a:cs typeface="Verdana"/>
              </a:rPr>
              <a:t>was</a:t>
            </a:r>
            <a:r>
              <a:rPr lang="en-US" spc="-11" dirty="0">
                <a:cs typeface="Verdana"/>
              </a:rPr>
              <a:t> </a:t>
            </a:r>
            <a:r>
              <a:rPr lang="en-US" spc="-19" dirty="0">
                <a:cs typeface="Verdana"/>
              </a:rPr>
              <a:t>well</a:t>
            </a:r>
            <a:r>
              <a:rPr lang="en-US" spc="-23" dirty="0">
                <a:cs typeface="Verdana"/>
              </a:rPr>
              <a:t> </a:t>
            </a:r>
            <a:r>
              <a:rPr lang="en-US" dirty="0">
                <a:cs typeface="Verdana"/>
              </a:rPr>
              <a:t>received,</a:t>
            </a:r>
            <a:r>
              <a:rPr lang="en-US" spc="-26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-26" dirty="0">
                <a:cs typeface="Verdana"/>
              </a:rPr>
              <a:t> </a:t>
            </a:r>
            <a:r>
              <a:rPr lang="en-US" dirty="0">
                <a:cs typeface="Verdana"/>
              </a:rPr>
              <a:t>keep</a:t>
            </a:r>
            <a:r>
              <a:rPr lang="en-US" spc="-15" dirty="0">
                <a:cs typeface="Verdana"/>
              </a:rPr>
              <a:t> </a:t>
            </a:r>
            <a:r>
              <a:rPr lang="en-US" spc="-105" dirty="0">
                <a:cs typeface="Verdana"/>
              </a:rPr>
              <a:t>it</a:t>
            </a:r>
            <a:r>
              <a:rPr lang="en-US" spc="-34" dirty="0">
                <a:cs typeface="Verdana"/>
              </a:rPr>
              <a:t> </a:t>
            </a:r>
            <a:r>
              <a:rPr lang="en-US" spc="64" dirty="0">
                <a:cs typeface="Verdana"/>
              </a:rPr>
              <a:t>and</a:t>
            </a:r>
            <a:r>
              <a:rPr lang="en-US" spc="-19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expand </a:t>
            </a:r>
            <a:r>
              <a:rPr lang="en-US" dirty="0">
                <a:cs typeface="Verdana"/>
              </a:rPr>
              <a:t>on</a:t>
            </a:r>
            <a:r>
              <a:rPr lang="en-US" spc="83" dirty="0">
                <a:cs typeface="Verdana"/>
              </a:rPr>
              <a:t> </a:t>
            </a:r>
            <a:r>
              <a:rPr lang="en-US" dirty="0">
                <a:cs typeface="Verdana"/>
              </a:rPr>
              <a:t>it</a:t>
            </a:r>
            <a:r>
              <a:rPr lang="en-US" spc="83" dirty="0">
                <a:cs typeface="Verdana"/>
              </a:rPr>
              <a:t> </a:t>
            </a:r>
            <a:r>
              <a:rPr lang="en-US" dirty="0">
                <a:cs typeface="Verdana"/>
              </a:rPr>
              <a:t>in</a:t>
            </a:r>
            <a:r>
              <a:rPr lang="en-US" spc="83" dirty="0">
                <a:cs typeface="Verdana"/>
              </a:rPr>
              <a:t> </a:t>
            </a:r>
            <a:r>
              <a:rPr lang="en-US" dirty="0">
                <a:cs typeface="Verdana"/>
              </a:rPr>
              <a:t>the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next</a:t>
            </a:r>
            <a:r>
              <a:rPr lang="en-US" spc="86" dirty="0">
                <a:cs typeface="Verdana"/>
              </a:rPr>
              <a:t> </a:t>
            </a:r>
            <a:r>
              <a:rPr lang="en-US" spc="-34" dirty="0">
                <a:cs typeface="Verdana"/>
              </a:rPr>
              <a:t>iteration.</a:t>
            </a:r>
            <a:r>
              <a:rPr lang="en-US" spc="79" dirty="0">
                <a:cs typeface="Verdana"/>
              </a:rPr>
              <a:t> </a:t>
            </a:r>
            <a:r>
              <a:rPr lang="en-US" spc="-221" dirty="0">
                <a:cs typeface="Verdana"/>
              </a:rPr>
              <a:t>If</a:t>
            </a:r>
            <a:r>
              <a:rPr lang="en-US" spc="98" dirty="0">
                <a:cs typeface="Verdana"/>
              </a:rPr>
              <a:t> </a:t>
            </a:r>
            <a:r>
              <a:rPr lang="en-US" dirty="0">
                <a:cs typeface="Verdana"/>
              </a:rPr>
              <a:t>what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you</a:t>
            </a:r>
            <a:r>
              <a:rPr lang="en-US" spc="90" dirty="0">
                <a:cs typeface="Verdana"/>
              </a:rPr>
              <a:t> </a:t>
            </a:r>
            <a:r>
              <a:rPr lang="en-US" spc="41" dirty="0">
                <a:cs typeface="Verdana"/>
              </a:rPr>
              <a:t>created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got</a:t>
            </a:r>
            <a:r>
              <a:rPr lang="en-US" spc="94" dirty="0">
                <a:cs typeface="Verdana"/>
              </a:rPr>
              <a:t> </a:t>
            </a:r>
            <a:r>
              <a:rPr lang="en-US" dirty="0">
                <a:cs typeface="Verdana"/>
              </a:rPr>
              <a:t>the</a:t>
            </a:r>
            <a:r>
              <a:rPr lang="en-US" spc="94" dirty="0">
                <a:cs typeface="Verdana"/>
              </a:rPr>
              <a:t> </a:t>
            </a:r>
            <a:r>
              <a:rPr lang="en-US" spc="-30" dirty="0">
                <a:cs typeface="Verdana"/>
              </a:rPr>
              <a:t>thumbs </a:t>
            </a:r>
            <a:r>
              <a:rPr lang="en-US" dirty="0">
                <a:cs typeface="Verdana"/>
              </a:rPr>
              <a:t>down,</a:t>
            </a:r>
            <a:r>
              <a:rPr lang="en-US" spc="-120" dirty="0">
                <a:cs typeface="Verdana"/>
              </a:rPr>
              <a:t> </a:t>
            </a:r>
            <a:r>
              <a:rPr lang="en-US" spc="-23" dirty="0">
                <a:cs typeface="Verdana"/>
              </a:rPr>
              <a:t>you</a:t>
            </a:r>
            <a:r>
              <a:rPr lang="en-US" spc="-127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discard</a:t>
            </a:r>
            <a:r>
              <a:rPr lang="en-US" spc="-143" dirty="0">
                <a:cs typeface="Verdana"/>
              </a:rPr>
              <a:t> </a:t>
            </a:r>
            <a:r>
              <a:rPr lang="en-US" spc="-120" dirty="0">
                <a:cs typeface="Verdana"/>
              </a:rPr>
              <a:t>it</a:t>
            </a:r>
            <a:r>
              <a:rPr lang="en-US" spc="-150" dirty="0">
                <a:cs typeface="Verdana"/>
              </a:rPr>
              <a:t> </a:t>
            </a:r>
            <a:r>
              <a:rPr lang="en-US" spc="64" dirty="0">
                <a:cs typeface="Verdana"/>
              </a:rPr>
              <a:t>and</a:t>
            </a:r>
            <a:r>
              <a:rPr lang="en-US" spc="-124" dirty="0">
                <a:cs typeface="Verdana"/>
              </a:rPr>
              <a:t> </a:t>
            </a:r>
            <a:r>
              <a:rPr lang="en-US" spc="79" dirty="0">
                <a:cs typeface="Verdana"/>
              </a:rPr>
              <a:t>go</a:t>
            </a:r>
            <a:r>
              <a:rPr lang="en-US" spc="-131" dirty="0">
                <a:cs typeface="Verdana"/>
              </a:rPr>
              <a:t> </a:t>
            </a:r>
            <a:r>
              <a:rPr lang="en-US" spc="71" dirty="0">
                <a:cs typeface="Verdana"/>
              </a:rPr>
              <a:t>back</a:t>
            </a:r>
            <a:r>
              <a:rPr lang="en-US" spc="-135" dirty="0">
                <a:cs typeface="Verdana"/>
              </a:rPr>
              <a:t> </a:t>
            </a:r>
            <a:r>
              <a:rPr lang="en-US" dirty="0">
                <a:cs typeface="Verdana"/>
              </a:rPr>
              <a:t>to</a:t>
            </a:r>
            <a:r>
              <a:rPr lang="en-US" spc="-131" dirty="0">
                <a:cs typeface="Verdana"/>
              </a:rPr>
              <a:t> </a:t>
            </a:r>
            <a:r>
              <a:rPr lang="en-US" spc="-26" dirty="0">
                <a:cs typeface="Verdana"/>
              </a:rPr>
              <a:t>the</a:t>
            </a:r>
            <a:r>
              <a:rPr lang="en-US" spc="-127" dirty="0">
                <a:cs typeface="Verdana"/>
              </a:rPr>
              <a:t> </a:t>
            </a:r>
            <a:r>
              <a:rPr lang="en-US" spc="-15" dirty="0">
                <a:cs typeface="Verdana"/>
              </a:rPr>
              <a:t>drawing</a:t>
            </a:r>
            <a:r>
              <a:rPr lang="en-US" spc="-143" dirty="0">
                <a:cs typeface="Verdana"/>
              </a:rPr>
              <a:t> </a:t>
            </a:r>
            <a:r>
              <a:rPr lang="en-US" spc="-8" dirty="0">
                <a:cs typeface="Verdana"/>
              </a:rPr>
              <a:t>board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8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Example: </a:t>
            </a:r>
            <a:r>
              <a:rPr lang="en-US" b="1" dirty="0" smtClean="0"/>
              <a:t>Ecommerce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Assume </a:t>
            </a:r>
            <a:r>
              <a:rPr lang="en-US" dirty="0"/>
              <a:t>a team building the same ecommerce website using an iterative process.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first release has a really stripped back version of all the required functionality; namely search, product information, a shopping basket, checkout, </a:t>
            </a:r>
            <a:r>
              <a:rPr lang="en-US" dirty="0" err="1"/>
              <a:t>favourites</a:t>
            </a:r>
            <a:r>
              <a:rPr lang="en-US" dirty="0"/>
              <a:t>, and customer reviews.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For the second iterative release, the team would improve some of the existing basic functionality, taking into account feedback from stakeholders or customer, or other inputs such as analytics.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On every subsequent iterative release, new ideas and requirements are added or low value/usage areas may be removed.</a:t>
            </a:r>
          </a:p>
        </p:txBody>
      </p:sp>
    </p:spTree>
    <p:extLst>
      <p:ext uri="{BB962C8B-B14F-4D97-AF65-F5344CB8AC3E}">
        <p14:creationId xmlns:p14="http://schemas.microsoft.com/office/powerpoint/2010/main" val="42172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Example: </a:t>
            </a:r>
            <a:r>
              <a:rPr lang="en-US" b="1" dirty="0" smtClean="0"/>
              <a:t>Ecommerce website</a:t>
            </a:r>
            <a:endParaRPr lang="en-US" dirty="0"/>
          </a:p>
        </p:txBody>
      </p:sp>
      <p:pic>
        <p:nvPicPr>
          <p:cNvPr id="4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348" y="2417445"/>
            <a:ext cx="8172450" cy="238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Example: Artist </a:t>
            </a:r>
            <a:r>
              <a:rPr lang="en-US" dirty="0"/>
              <a:t>painting a picture</a:t>
            </a:r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376" y="1948916"/>
            <a:ext cx="7054082" cy="387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4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0480" y="3429000"/>
            <a:ext cx="5898159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Coping</a:t>
            </a:r>
            <a:r>
              <a:rPr spc="-35" dirty="0"/>
              <a:t> </a:t>
            </a:r>
            <a:r>
              <a:rPr spc="5" dirty="0"/>
              <a:t>with</a:t>
            </a:r>
            <a:r>
              <a:rPr spc="-75" dirty="0"/>
              <a:t> </a:t>
            </a:r>
            <a:r>
              <a:rPr spc="-5" dirty="0"/>
              <a:t>change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378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2915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Coping</a:t>
            </a:r>
            <a:r>
              <a:rPr spc="-35" dirty="0"/>
              <a:t> </a:t>
            </a:r>
            <a:r>
              <a:rPr spc="5" dirty="0"/>
              <a:t>with</a:t>
            </a:r>
            <a:r>
              <a:rPr spc="-75" dirty="0"/>
              <a:t> </a:t>
            </a:r>
            <a:r>
              <a:rPr spc="-5" dirty="0"/>
              <a:t>change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8141"/>
            <a:ext cx="7795259" cy="3532504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8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inevitable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all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large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software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756285" marR="118745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Business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lead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changed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technologies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open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up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0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possibilities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improving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implementations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Changing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platforms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application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changes</a:t>
            </a:r>
            <a:endParaRPr sz="2000"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9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 leads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rework so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 costs of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 include </a:t>
            </a:r>
            <a:r>
              <a:rPr sz="2400" spc="-6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both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rework (e.g.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re-analysing requirements)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well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 </a:t>
            </a:r>
            <a:r>
              <a:rPr sz="2400" spc="-6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costs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of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implementing</a:t>
            </a:r>
            <a:r>
              <a:rPr sz="2400" spc="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new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3692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7786370" cy="408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6424D"/>
                </a:solidFill>
                <a:latin typeface="Arial"/>
                <a:cs typeface="Arial"/>
              </a:rPr>
              <a:t>Coping</a:t>
            </a:r>
            <a:r>
              <a:rPr sz="2400" b="1" spc="-2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46424D"/>
                </a:solidFill>
                <a:latin typeface="Arial"/>
                <a:cs typeface="Arial"/>
              </a:rPr>
              <a:t>with</a:t>
            </a:r>
            <a:r>
              <a:rPr sz="2400" b="1" spc="-6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6424D"/>
                </a:solidFill>
                <a:latin typeface="Arial"/>
                <a:cs typeface="Arial"/>
              </a:rPr>
              <a:t>changing</a:t>
            </a:r>
            <a:r>
              <a:rPr sz="2400" b="1" spc="-2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requirements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 dirty="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prototyping,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version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 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part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developed</a:t>
            </a:r>
            <a:r>
              <a:rPr sz="2400" spc="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quickly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check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customer’s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feasibility</a:t>
            </a:r>
            <a:r>
              <a:rPr sz="2400" spc="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design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decisions.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approach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supports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anticipation.</a:t>
            </a:r>
            <a:endParaRPr sz="2400" dirty="0">
              <a:latin typeface="Arial MT"/>
              <a:cs typeface="Arial MT"/>
            </a:endParaRPr>
          </a:p>
          <a:p>
            <a:pPr marL="355600" marR="23495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Incremental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delivery,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where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increments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are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delivered</a:t>
            </a:r>
            <a:r>
              <a:rPr sz="2400" spc="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 the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customer for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comment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experimentation.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This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supports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both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avoidance </a:t>
            </a:r>
            <a:r>
              <a:rPr sz="2400" spc="-6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change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tolerance.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19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087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75" dirty="0"/>
              <a:t> </a:t>
            </a:r>
            <a:r>
              <a:rPr spc="-5" dirty="0"/>
              <a:t>prototyping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25130" cy="276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prototype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is an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initial</a:t>
            </a:r>
            <a:r>
              <a:rPr sz="2400" spc="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version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to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demonstrate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concepts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try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out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options.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prototype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can be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used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in: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engineering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help</a:t>
            </a:r>
            <a:r>
              <a:rPr sz="20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with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elicitation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validation;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processes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explore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options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develop a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UI design;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testing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process</a:t>
            </a:r>
            <a:r>
              <a:rPr sz="2000" spc="-5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run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back-to-back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tests.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581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254"/>
            <a:ext cx="5184775" cy="344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6424D"/>
                </a:solidFill>
                <a:latin typeface="Arial"/>
                <a:cs typeface="Arial"/>
              </a:rPr>
              <a:t>Benefits</a:t>
            </a:r>
            <a:r>
              <a:rPr sz="2400" b="1" spc="-15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6424D"/>
                </a:solidFill>
                <a:latin typeface="Arial"/>
                <a:cs typeface="Arial"/>
              </a:rPr>
              <a:t>of</a:t>
            </a:r>
            <a:r>
              <a:rPr sz="2400" b="1" spc="-10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6424D"/>
                </a:solidFill>
                <a:latin typeface="Arial"/>
                <a:cs typeface="Arial"/>
              </a:rPr>
              <a:t>prototyping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75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Improved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6424D"/>
                </a:solidFill>
                <a:latin typeface="Arial MT"/>
                <a:cs typeface="Arial MT"/>
              </a:rPr>
              <a:t>usability.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closer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match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users’</a:t>
            </a:r>
            <a:r>
              <a:rPr sz="2400" spc="-9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real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needs.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Improved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design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46424D"/>
                </a:solidFill>
                <a:latin typeface="Arial MT"/>
                <a:cs typeface="Arial MT"/>
              </a:rPr>
              <a:t>quality.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Improved</a:t>
            </a:r>
            <a:r>
              <a:rPr sz="24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maintainability.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Reduced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effort.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90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0375"/>
            <a:ext cx="564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spc="-5" dirty="0"/>
              <a:t>process</a:t>
            </a:r>
            <a:r>
              <a:rPr spc="5" dirty="0"/>
              <a:t> </a:t>
            </a:r>
            <a:r>
              <a:rPr dirty="0"/>
              <a:t>of</a:t>
            </a:r>
            <a:r>
              <a:rPr spc="-5" dirty="0"/>
              <a:t> prototype</a:t>
            </a:r>
            <a:r>
              <a:rPr spc="5" dirty="0"/>
              <a:t> </a:t>
            </a:r>
            <a:r>
              <a:rPr spc="-5" dirty="0"/>
              <a:t>development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756" y="2598829"/>
            <a:ext cx="7610475" cy="2141855"/>
            <a:chOff x="982756" y="2598829"/>
            <a:chExt cx="7610475" cy="2141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756" y="2598829"/>
              <a:ext cx="7610306" cy="14671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8025" y="4074461"/>
              <a:ext cx="1392867" cy="666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1480" y="4074462"/>
              <a:ext cx="1392767" cy="6660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7505" y="4074462"/>
              <a:ext cx="1394499" cy="6660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5034" y="4074462"/>
              <a:ext cx="1392904" cy="66608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2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411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Prototype</a:t>
            </a:r>
            <a:r>
              <a:rPr spc="-15" dirty="0"/>
              <a:t> </a:t>
            </a:r>
            <a:r>
              <a:rPr spc="-5" dirty="0"/>
              <a:t>development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2676"/>
            <a:ext cx="7973059" cy="315976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based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rapid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prototyping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languages</a:t>
            </a:r>
            <a:r>
              <a:rPr sz="2400" spc="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or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tools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 involve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leaving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out</a:t>
            </a:r>
            <a:r>
              <a:rPr sz="24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functionality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Prototype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focus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areas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product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that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spc="5" dirty="0">
                <a:solidFill>
                  <a:srgbClr val="46424D"/>
                </a:solidFill>
                <a:latin typeface="Arial MT"/>
                <a:cs typeface="Arial MT"/>
              </a:rPr>
              <a:t>well-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understood;</a:t>
            </a:r>
            <a:endParaRPr sz="2000">
              <a:latin typeface="Arial MT"/>
              <a:cs typeface="Arial MT"/>
            </a:endParaRPr>
          </a:p>
          <a:p>
            <a:pPr marL="756285" marR="1003300" lvl="1" indent="-2870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Error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checking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recovery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included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in </a:t>
            </a:r>
            <a:r>
              <a:rPr sz="2000" spc="-5" dirty="0">
                <a:solidFill>
                  <a:srgbClr val="46424D"/>
                </a:solidFill>
                <a:latin typeface="Arial MT"/>
                <a:cs typeface="Arial MT"/>
              </a:rPr>
              <a:t>the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prototype;</a:t>
            </a:r>
            <a:endParaRPr sz="2000">
              <a:latin typeface="Arial MT"/>
              <a:cs typeface="Arial MT"/>
            </a:endParaRPr>
          </a:p>
          <a:p>
            <a:pPr marL="756285" marR="48895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Focus</a:t>
            </a:r>
            <a:r>
              <a:rPr sz="2000" spc="-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functional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rather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than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non-functional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such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reliability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security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856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3254"/>
            <a:ext cx="3441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Throw-away</a:t>
            </a:r>
            <a:r>
              <a:rPr spc="-95" dirty="0"/>
              <a:t> </a:t>
            </a:r>
            <a:r>
              <a:rPr spc="-5" dirty="0"/>
              <a:t>prototypes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3</a:t>
            </a:r>
            <a:r>
              <a:rPr spc="5" dirty="0"/>
              <a:t>0</a:t>
            </a:r>
            <a:r>
              <a:rPr dirty="0"/>
              <a:t>/1</a:t>
            </a:r>
            <a:r>
              <a:rPr spc="5" dirty="0"/>
              <a:t>0</a:t>
            </a:r>
            <a:r>
              <a:rPr dirty="0"/>
              <a:t>/2</a:t>
            </a:r>
            <a:r>
              <a:rPr spc="5" dirty="0"/>
              <a:t>0</a:t>
            </a:r>
            <a:r>
              <a:rPr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Chapter</a:t>
            </a:r>
            <a:r>
              <a:rPr spc="-50" dirty="0"/>
              <a:t> </a:t>
            </a:r>
            <a:r>
              <a:rPr dirty="0"/>
              <a:t>2</a:t>
            </a:r>
            <a:r>
              <a:rPr spc="-5" dirty="0"/>
              <a:t> Software</a:t>
            </a:r>
            <a:r>
              <a:rPr spc="-3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806690" cy="323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"/>
              <a:tabLst>
                <a:tab pos="356235" algn="l"/>
              </a:tabLst>
            </a:pP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Prototypes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should</a:t>
            </a:r>
            <a:r>
              <a:rPr sz="24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discarded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after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development</a:t>
            </a:r>
            <a:r>
              <a:rPr sz="2400" spc="2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they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not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good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basis</a:t>
            </a:r>
            <a:r>
              <a:rPr sz="2400" spc="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for</a:t>
            </a:r>
            <a:r>
              <a:rPr sz="2400" spc="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6424D"/>
                </a:solidFill>
                <a:latin typeface="Arial MT"/>
                <a:cs typeface="Arial MT"/>
              </a:rPr>
              <a:t>production</a:t>
            </a:r>
            <a:r>
              <a:rPr sz="2400" spc="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6424D"/>
                </a:solidFill>
                <a:latin typeface="Arial MT"/>
                <a:cs typeface="Arial MT"/>
              </a:rPr>
              <a:t>system: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It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may</a:t>
            </a:r>
            <a:r>
              <a:rPr sz="2000" spc="-1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impossible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tune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meet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non-functional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requirements;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Prototypes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are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normally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undocumented;</a:t>
            </a:r>
            <a:endParaRPr sz="2000">
              <a:latin typeface="Arial MT"/>
              <a:cs typeface="Arial MT"/>
            </a:endParaRPr>
          </a:p>
          <a:p>
            <a:pPr marL="756285" marR="597535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prototype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structure</a:t>
            </a:r>
            <a:r>
              <a:rPr sz="2000" spc="-4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usually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degraded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through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rapid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change;</a:t>
            </a:r>
            <a:endParaRPr sz="2000">
              <a:latin typeface="Arial MT"/>
              <a:cs typeface="Arial MT"/>
            </a:endParaRPr>
          </a:p>
          <a:p>
            <a:pPr marL="756285" marR="450850" lvl="1" indent="-2870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prototype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probably</a:t>
            </a:r>
            <a:r>
              <a:rPr sz="2000" spc="-3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will</a:t>
            </a:r>
            <a:r>
              <a:rPr sz="2000" spc="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not</a:t>
            </a:r>
            <a:r>
              <a:rPr sz="2000" spc="-2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meet</a:t>
            </a:r>
            <a:r>
              <a:rPr sz="2000" spc="-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normal</a:t>
            </a:r>
            <a:r>
              <a:rPr sz="2000" spc="-3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organisational </a:t>
            </a:r>
            <a:r>
              <a:rPr sz="2000" spc="-540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quality</a:t>
            </a:r>
            <a:r>
              <a:rPr sz="2000" spc="-15" dirty="0">
                <a:solidFill>
                  <a:srgbClr val="46424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6424D"/>
                </a:solidFill>
                <a:latin typeface="Arial MT"/>
                <a:cs typeface="Arial MT"/>
              </a:rPr>
              <a:t>standards.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1007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18"/>
          <p:cNvGrpSpPr/>
          <p:nvPr/>
        </p:nvGrpSpPr>
        <p:grpSpPr>
          <a:xfrm>
            <a:off x="446912" y="1215010"/>
            <a:ext cx="8370516" cy="4500086"/>
            <a:chOff x="595883" y="477012"/>
            <a:chExt cx="7249795" cy="6000115"/>
          </a:xfrm>
        </p:grpSpPr>
        <p:pic>
          <p:nvPicPr>
            <p:cNvPr id="5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883" y="477012"/>
              <a:ext cx="7249668" cy="5999988"/>
            </a:xfrm>
            <a:prstGeom prst="rect">
              <a:avLst/>
            </a:prstGeom>
          </p:spPr>
        </p:pic>
        <p:pic>
          <p:nvPicPr>
            <p:cNvPr id="6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223" y="480060"/>
              <a:ext cx="7147559" cy="5897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793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7747" y="880108"/>
            <a:ext cx="4307967" cy="50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4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395" y="1484268"/>
            <a:ext cx="7837714" cy="40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1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940" y="1625549"/>
            <a:ext cx="8007350" cy="369332"/>
          </a:xfrm>
        </p:spPr>
        <p:txBody>
          <a:bodyPr/>
          <a:lstStyle/>
          <a:p>
            <a:r>
              <a:rPr lang="en-US" smtClean="0"/>
              <a:t>Figma</a:t>
            </a:r>
          </a:p>
        </p:txBody>
      </p:sp>
    </p:spTree>
    <p:extLst>
      <p:ext uri="{BB962C8B-B14F-4D97-AF65-F5344CB8AC3E}">
        <p14:creationId xmlns:p14="http://schemas.microsoft.com/office/powerpoint/2010/main" val="221167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/>
              <a:t>Boehm’s </a:t>
            </a:r>
            <a:r>
              <a:rPr lang="en-US" dirty="0" smtClean="0"/>
              <a:t> 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pc="-116" dirty="0">
                <a:latin typeface="Verdana"/>
                <a:cs typeface="Verdana"/>
              </a:rPr>
              <a:t>P</a:t>
            </a:r>
            <a:r>
              <a:rPr lang="en-US" spc="-79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19" dirty="0">
                <a:latin typeface="Verdana"/>
                <a:cs typeface="Verdana"/>
              </a:rPr>
              <a:t>ce</a:t>
            </a:r>
            <a:r>
              <a:rPr lang="en-US" spc="11" dirty="0">
                <a:latin typeface="Verdana"/>
                <a:cs typeface="Verdana"/>
              </a:rPr>
              <a:t>s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53" dirty="0">
                <a:latin typeface="Verdana"/>
                <a:cs typeface="Verdana"/>
              </a:rPr>
              <a:t>re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41" dirty="0">
                <a:latin typeface="Verdana"/>
                <a:cs typeface="Verdana"/>
              </a:rPr>
              <a:t>r</a:t>
            </a:r>
            <a:r>
              <a:rPr lang="en-US" spc="-19" dirty="0">
                <a:latin typeface="Verdana"/>
                <a:cs typeface="Verdana"/>
              </a:rPr>
              <a:t>ese</a:t>
            </a:r>
            <a:r>
              <a:rPr lang="en-US" spc="-30" dirty="0">
                <a:latin typeface="Verdana"/>
                <a:cs typeface="Verdana"/>
              </a:rPr>
              <a:t>n</a:t>
            </a:r>
            <a:r>
              <a:rPr lang="en-US" spc="-4" dirty="0">
                <a:latin typeface="Verdana"/>
                <a:cs typeface="Verdana"/>
              </a:rPr>
              <a:t>te</a:t>
            </a:r>
            <a:r>
              <a:rPr lang="en-US" spc="86" dirty="0">
                <a:latin typeface="Verdana"/>
                <a:cs typeface="Verdana"/>
              </a:rPr>
              <a:t>d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13" dirty="0">
                <a:latin typeface="Verdana"/>
                <a:cs typeface="Verdana"/>
              </a:rPr>
              <a:t> </a:t>
            </a:r>
            <a:r>
              <a:rPr lang="en-US" spc="116" dirty="0">
                <a:latin typeface="Verdana"/>
                <a:cs typeface="Verdana"/>
              </a:rPr>
              <a:t>a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90" dirty="0">
                <a:latin typeface="Verdana"/>
                <a:cs typeface="Verdana"/>
              </a:rPr>
              <a:t>sp</a:t>
            </a:r>
            <a:r>
              <a:rPr lang="en-US" spc="-34" dirty="0">
                <a:latin typeface="Verdana"/>
                <a:cs typeface="Verdana"/>
              </a:rPr>
              <a:t>i</a:t>
            </a:r>
            <a:r>
              <a:rPr lang="en-US" spc="-60" dirty="0">
                <a:latin typeface="Verdana"/>
                <a:cs typeface="Verdana"/>
              </a:rPr>
              <a:t>ral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53" dirty="0">
                <a:latin typeface="Verdana"/>
                <a:cs typeface="Verdana"/>
              </a:rPr>
              <a:t>ra</a:t>
            </a:r>
            <a:r>
              <a:rPr lang="en-US" spc="-38" dirty="0">
                <a:latin typeface="Verdana"/>
                <a:cs typeface="Verdana"/>
              </a:rPr>
              <a:t>t</a:t>
            </a:r>
            <a:r>
              <a:rPr lang="en-US" spc="-41" dirty="0">
                <a:latin typeface="Verdana"/>
                <a:cs typeface="Verdana"/>
              </a:rPr>
              <a:t>h</a:t>
            </a:r>
            <a:r>
              <a:rPr lang="en-US" spc="-45" dirty="0">
                <a:latin typeface="Verdana"/>
                <a:cs typeface="Verdana"/>
              </a:rPr>
              <a:t>er  </a:t>
            </a:r>
            <a:r>
              <a:rPr lang="en-US" spc="-11" dirty="0">
                <a:latin typeface="Verdana"/>
                <a:cs typeface="Verdana"/>
              </a:rPr>
              <a:t>than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113" dirty="0">
                <a:latin typeface="Verdana"/>
                <a:cs typeface="Verdana"/>
              </a:rPr>
              <a:t>a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se</a:t>
            </a:r>
            <a:r>
              <a:rPr lang="en-US" spc="-11" dirty="0">
                <a:latin typeface="Verdana"/>
                <a:cs typeface="Verdana"/>
              </a:rPr>
              <a:t>q</a:t>
            </a:r>
            <a:r>
              <a:rPr lang="en-US" spc="49" dirty="0">
                <a:latin typeface="Verdana"/>
                <a:cs typeface="Verdana"/>
              </a:rPr>
              <a:t>uence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56" dirty="0">
                <a:latin typeface="Verdana"/>
                <a:cs typeface="Verdana"/>
              </a:rPr>
              <a:t>f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26" dirty="0">
                <a:latin typeface="Verdana"/>
                <a:cs typeface="Verdana"/>
              </a:rPr>
              <a:t>acti</a:t>
            </a:r>
            <a:r>
              <a:rPr lang="en-US" spc="-49" dirty="0">
                <a:latin typeface="Verdana"/>
                <a:cs typeface="Verdana"/>
              </a:rPr>
              <a:t>viti</a:t>
            </a:r>
            <a:r>
              <a:rPr lang="en-US" spc="-86" dirty="0">
                <a:latin typeface="Verdana"/>
                <a:cs typeface="Verdana"/>
              </a:rPr>
              <a:t>e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7" dirty="0">
                <a:latin typeface="Verdana"/>
                <a:cs typeface="Verdana"/>
              </a:rPr>
              <a:t> </a:t>
            </a:r>
            <a:r>
              <a:rPr lang="en-US" spc="-75" dirty="0">
                <a:latin typeface="Verdana"/>
                <a:cs typeface="Verdana"/>
              </a:rPr>
              <a:t>w</a:t>
            </a:r>
            <a:r>
              <a:rPr lang="en-US" spc="-19" dirty="0">
                <a:latin typeface="Verdana"/>
                <a:cs typeface="Verdana"/>
              </a:rPr>
              <a:t>i</a:t>
            </a:r>
            <a:r>
              <a:rPr lang="en-US" spc="-49" dirty="0">
                <a:latin typeface="Verdana"/>
                <a:cs typeface="Verdana"/>
              </a:rPr>
              <a:t>th  </a:t>
            </a:r>
            <a:r>
              <a:rPr lang="en-US" spc="-8" dirty="0">
                <a:latin typeface="Verdana"/>
                <a:cs typeface="Verdana"/>
              </a:rPr>
              <a:t>backtracking.</a:t>
            </a:r>
            <a:endParaRPr lang="en-US" dirty="0" smtClean="0">
              <a:latin typeface="Verdana"/>
              <a:cs typeface="Verdana"/>
            </a:endParaRPr>
          </a:p>
          <a:p>
            <a:pPr marL="9525" algn="just">
              <a:lnSpc>
                <a:spcPct val="150000"/>
              </a:lnSpc>
              <a:spcBef>
                <a:spcPts val="71"/>
              </a:spcBef>
            </a:pPr>
            <a:r>
              <a:rPr lang="en-US" spc="23" dirty="0">
                <a:latin typeface="Verdana"/>
                <a:cs typeface="Verdana"/>
              </a:rPr>
              <a:t>Eac</a:t>
            </a:r>
            <a:r>
              <a:rPr lang="en-US" spc="30" dirty="0">
                <a:latin typeface="Verdana"/>
                <a:cs typeface="Verdana"/>
              </a:rPr>
              <a:t>h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116" dirty="0">
                <a:latin typeface="Verdana"/>
                <a:cs typeface="Verdana"/>
              </a:rPr>
              <a:t>l</a:t>
            </a:r>
            <a:r>
              <a:rPr lang="en-US" spc="56" dirty="0">
                <a:latin typeface="Verdana"/>
                <a:cs typeface="Verdana"/>
              </a:rPr>
              <a:t>oo</a:t>
            </a:r>
            <a:r>
              <a:rPr lang="en-US" spc="79" dirty="0">
                <a:latin typeface="Verdana"/>
                <a:cs typeface="Verdana"/>
              </a:rPr>
              <a:t>p</a:t>
            </a:r>
            <a:r>
              <a:rPr lang="en-US" spc="-86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sp</a:t>
            </a:r>
            <a:r>
              <a:rPr lang="en-US" spc="-38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ra</a:t>
            </a:r>
            <a:r>
              <a:rPr lang="en-US" spc="-109" dirty="0">
                <a:latin typeface="Verdana"/>
                <a:cs typeface="Verdana"/>
              </a:rPr>
              <a:t>l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esents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113" dirty="0">
                <a:latin typeface="Verdana"/>
                <a:cs typeface="Verdana"/>
              </a:rPr>
              <a:t>a</a:t>
            </a:r>
            <a:r>
              <a:rPr lang="en-US" dirty="0" smtClean="0">
                <a:latin typeface="Verdana"/>
                <a:cs typeface="Verdana"/>
              </a:rPr>
              <a:t> </a:t>
            </a:r>
            <a:r>
              <a:rPr lang="en-US" spc="-11" dirty="0">
                <a:latin typeface="Verdana"/>
                <a:cs typeface="Verdana"/>
              </a:rPr>
              <a:t>pha</a:t>
            </a:r>
            <a:r>
              <a:rPr lang="en-US" spc="-15" dirty="0">
                <a:latin typeface="Verdana"/>
                <a:cs typeface="Verdana"/>
              </a:rPr>
              <a:t>s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19" dirty="0">
                <a:latin typeface="Verdana"/>
                <a:cs typeface="Verdana"/>
              </a:rPr>
              <a:t>ce</a:t>
            </a:r>
            <a:r>
              <a:rPr lang="en-US" spc="11" dirty="0">
                <a:latin typeface="Verdana"/>
                <a:cs typeface="Verdana"/>
              </a:rPr>
              <a:t>s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127" dirty="0">
                <a:latin typeface="Verdana"/>
                <a:cs typeface="Verdana"/>
              </a:rPr>
              <a:t>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r>
              <a:rPr lang="en-US" spc="23" dirty="0">
                <a:latin typeface="Verdana"/>
                <a:cs typeface="Verdana"/>
              </a:rPr>
              <a:t>No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f</a:t>
            </a:r>
            <a:r>
              <a:rPr lang="en-US" spc="-60" dirty="0">
                <a:latin typeface="Verdana"/>
                <a:cs typeface="Verdana"/>
              </a:rPr>
              <a:t>i</a:t>
            </a:r>
            <a:r>
              <a:rPr lang="en-US" dirty="0" smtClean="0">
                <a:latin typeface="Verdana"/>
                <a:cs typeface="Verdana"/>
              </a:rPr>
              <a:t>xed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30" dirty="0">
                <a:latin typeface="Verdana"/>
                <a:cs typeface="Verdana"/>
              </a:rPr>
              <a:t>phase</a:t>
            </a:r>
            <a:r>
              <a:rPr lang="en-US" spc="-23" dirty="0">
                <a:latin typeface="Verdana"/>
                <a:cs typeface="Verdana"/>
              </a:rPr>
              <a:t>s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-23" dirty="0">
                <a:latin typeface="Verdana"/>
                <a:cs typeface="Verdana"/>
              </a:rPr>
              <a:t>su</a:t>
            </a:r>
            <a:r>
              <a:rPr lang="en-US" spc="-26" dirty="0">
                <a:latin typeface="Verdana"/>
                <a:cs typeface="Verdana"/>
              </a:rPr>
              <a:t>c</a:t>
            </a:r>
            <a:r>
              <a:rPr lang="en-US" spc="-38" dirty="0">
                <a:latin typeface="Verdana"/>
                <a:cs typeface="Verdana"/>
              </a:rPr>
              <a:t>h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4" dirty="0">
                <a:latin typeface="Verdana"/>
                <a:cs typeface="Verdana"/>
              </a:rPr>
              <a:t>spec</a:t>
            </a:r>
            <a:r>
              <a:rPr lang="en-US" spc="11" dirty="0">
                <a:latin typeface="Verdana"/>
                <a:cs typeface="Verdana"/>
              </a:rPr>
              <a:t>i</a:t>
            </a:r>
            <a:r>
              <a:rPr lang="en-US" spc="-94" dirty="0">
                <a:latin typeface="Verdana"/>
                <a:cs typeface="Verdana"/>
              </a:rPr>
              <a:t>f</a:t>
            </a:r>
            <a:r>
              <a:rPr lang="en-US" spc="-60" dirty="0">
                <a:latin typeface="Verdana"/>
                <a:cs typeface="Verdana"/>
              </a:rPr>
              <a:t>i</a:t>
            </a:r>
            <a:r>
              <a:rPr lang="en-US" spc="30" dirty="0">
                <a:latin typeface="Verdana"/>
                <a:cs typeface="Verdana"/>
              </a:rPr>
              <a:t>cat</a:t>
            </a:r>
            <a:r>
              <a:rPr lang="en-US" spc="19" dirty="0">
                <a:latin typeface="Verdana"/>
                <a:cs typeface="Verdana"/>
              </a:rPr>
              <a:t>i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161" dirty="0">
                <a:latin typeface="Verdana"/>
                <a:cs typeface="Verdana"/>
              </a:rPr>
              <a:t>r  </a:t>
            </a:r>
            <a:r>
              <a:rPr lang="en-US" spc="-45" dirty="0">
                <a:latin typeface="Verdana"/>
                <a:cs typeface="Verdana"/>
              </a:rPr>
              <a:t>des</a:t>
            </a:r>
            <a:r>
              <a:rPr lang="en-US" spc="-11" dirty="0">
                <a:latin typeface="Verdana"/>
                <a:cs typeface="Verdana"/>
              </a:rPr>
              <a:t>i</a:t>
            </a:r>
            <a:r>
              <a:rPr lang="en-US" spc="15" dirty="0">
                <a:latin typeface="Verdana"/>
                <a:cs typeface="Verdana"/>
              </a:rPr>
              <a:t>gn</a:t>
            </a:r>
            <a:r>
              <a:rPr lang="en-US" spc="-116" dirty="0">
                <a:latin typeface="Verdana"/>
                <a:cs typeface="Verdana"/>
              </a:rPr>
              <a:t> </a:t>
            </a:r>
            <a:r>
              <a:rPr lang="en-US" spc="-19" dirty="0">
                <a:latin typeface="Verdana"/>
                <a:cs typeface="Verdana"/>
              </a:rPr>
              <a:t>l</a:t>
            </a:r>
            <a:r>
              <a:rPr lang="en-US" spc="-38" dirty="0">
                <a:latin typeface="Verdana"/>
                <a:cs typeface="Verdana"/>
              </a:rPr>
              <a:t>o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53" dirty="0">
                <a:latin typeface="Verdana"/>
                <a:cs typeface="Verdana"/>
              </a:rPr>
              <a:t>s</a:t>
            </a:r>
            <a:r>
              <a:rPr lang="en-US" spc="-83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sp</a:t>
            </a:r>
            <a:r>
              <a:rPr lang="en-US" spc="-38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ra</a:t>
            </a:r>
            <a:r>
              <a:rPr lang="en-US" spc="-109" dirty="0">
                <a:latin typeface="Verdana"/>
                <a:cs typeface="Verdana"/>
              </a:rPr>
              <a:t>l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0" dirty="0">
                <a:latin typeface="Verdana"/>
                <a:cs typeface="Verdana"/>
              </a:rPr>
              <a:t>r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64" dirty="0">
                <a:latin typeface="Verdana"/>
                <a:cs typeface="Verdana"/>
              </a:rPr>
              <a:t>c</a:t>
            </a:r>
            <a:r>
              <a:rPr lang="en-US" spc="68" dirty="0">
                <a:latin typeface="Verdana"/>
                <a:cs typeface="Verdana"/>
              </a:rPr>
              <a:t>h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49" dirty="0">
                <a:latin typeface="Verdana"/>
                <a:cs typeface="Verdana"/>
              </a:rPr>
              <a:t>sen  </a:t>
            </a:r>
            <a:r>
              <a:rPr lang="en-US" spc="75" dirty="0">
                <a:latin typeface="Verdana"/>
                <a:cs typeface="Verdana"/>
              </a:rPr>
              <a:t>dep</a:t>
            </a:r>
            <a:r>
              <a:rPr lang="en-US" spc="79" dirty="0">
                <a:latin typeface="Verdana"/>
                <a:cs typeface="Verdana"/>
              </a:rPr>
              <a:t>e</a:t>
            </a:r>
            <a:r>
              <a:rPr lang="en-US" spc="23" dirty="0">
                <a:latin typeface="Verdana"/>
                <a:cs typeface="Verdana"/>
              </a:rPr>
              <a:t>n</a:t>
            </a:r>
            <a:r>
              <a:rPr lang="en-US" spc="15" dirty="0">
                <a:latin typeface="Verdana"/>
                <a:cs typeface="Verdana"/>
              </a:rPr>
              <a:t>d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15" dirty="0">
                <a:latin typeface="Verdana"/>
                <a:cs typeface="Verdana"/>
              </a:rPr>
              <a:t>ng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w</a:t>
            </a:r>
            <a:r>
              <a:rPr lang="en-US" spc="-19" dirty="0">
                <a:latin typeface="Verdana"/>
                <a:cs typeface="Verdana"/>
              </a:rPr>
              <a:t>h</a:t>
            </a:r>
            <a:r>
              <a:rPr lang="en-US" spc="15" dirty="0">
                <a:latin typeface="Verdana"/>
                <a:cs typeface="Verdana"/>
              </a:rPr>
              <a:t>a</a:t>
            </a:r>
            <a:r>
              <a:rPr lang="en-US" spc="11" dirty="0">
                <a:latin typeface="Verdana"/>
                <a:cs typeface="Verdana"/>
              </a:rPr>
              <a:t>t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30" dirty="0">
                <a:latin typeface="Verdana"/>
                <a:cs typeface="Verdana"/>
              </a:rPr>
              <a:t>qu</a:t>
            </a:r>
            <a:r>
              <a:rPr lang="en-US" dirty="0" smtClean="0">
                <a:latin typeface="Verdana"/>
                <a:cs typeface="Verdana"/>
              </a:rPr>
              <a:t>i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26" dirty="0">
                <a:latin typeface="Verdana"/>
                <a:cs typeface="Verdana"/>
              </a:rPr>
              <a:t>d.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r>
              <a:rPr lang="en-US" spc="-169" dirty="0">
                <a:latin typeface="Verdana"/>
                <a:cs typeface="Verdana"/>
              </a:rPr>
              <a:t>R</a:t>
            </a:r>
            <a:r>
              <a:rPr lang="en-US" spc="-56" dirty="0">
                <a:latin typeface="Verdana"/>
                <a:cs typeface="Verdana"/>
              </a:rPr>
              <a:t>i</a:t>
            </a:r>
            <a:r>
              <a:rPr lang="en-US" spc="-153" dirty="0">
                <a:latin typeface="Verdana"/>
                <a:cs typeface="Verdana"/>
              </a:rPr>
              <a:t>s</a:t>
            </a:r>
            <a:r>
              <a:rPr lang="en-US" spc="-180" dirty="0">
                <a:latin typeface="Verdana"/>
                <a:cs typeface="Verdana"/>
              </a:rPr>
              <a:t>k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4" dirty="0">
                <a:latin typeface="Verdana"/>
                <a:cs typeface="Verdana"/>
              </a:rPr>
              <a:t>ar</a:t>
            </a:r>
            <a:r>
              <a:rPr lang="en-US" spc="4" dirty="0">
                <a:latin typeface="Verdana"/>
                <a:cs typeface="Verdana"/>
              </a:rPr>
              <a:t>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83" dirty="0">
                <a:latin typeface="Verdana"/>
                <a:cs typeface="Verdana"/>
              </a:rPr>
              <a:t>xpl</a:t>
            </a:r>
            <a:r>
              <a:rPr lang="en-US" spc="-41" dirty="0">
                <a:latin typeface="Verdana"/>
                <a:cs typeface="Verdana"/>
              </a:rPr>
              <a:t>i</a:t>
            </a:r>
            <a:r>
              <a:rPr lang="en-US" spc="45" dirty="0">
                <a:latin typeface="Verdana"/>
                <a:cs typeface="Verdana"/>
              </a:rPr>
              <a:t>c</a:t>
            </a:r>
            <a:r>
              <a:rPr lang="en-US" spc="30" dirty="0">
                <a:latin typeface="Verdana"/>
                <a:cs typeface="Verdana"/>
              </a:rPr>
              <a:t>i</a:t>
            </a:r>
            <a:r>
              <a:rPr lang="en-US" spc="-90" dirty="0">
                <a:latin typeface="Verdana"/>
                <a:cs typeface="Verdana"/>
              </a:rPr>
              <a:t>tly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98" dirty="0">
                <a:latin typeface="Verdana"/>
                <a:cs typeface="Verdana"/>
              </a:rPr>
              <a:t>as</a:t>
            </a:r>
            <a:r>
              <a:rPr lang="en-US" spc="-94" dirty="0">
                <a:latin typeface="Verdana"/>
                <a:cs typeface="Verdana"/>
              </a:rPr>
              <a:t>s</a:t>
            </a:r>
            <a:r>
              <a:rPr lang="en-US" spc="-30" dirty="0">
                <a:latin typeface="Verdana"/>
                <a:cs typeface="Verdana"/>
              </a:rPr>
              <a:t>essed</a:t>
            </a:r>
            <a:r>
              <a:rPr lang="en-US" spc="-90" dirty="0">
                <a:latin typeface="Verdana"/>
                <a:cs typeface="Verdana"/>
              </a:rPr>
              <a:t> </a:t>
            </a:r>
            <a:r>
              <a:rPr lang="en-US" spc="41" dirty="0">
                <a:latin typeface="Verdana"/>
                <a:cs typeface="Verdana"/>
              </a:rPr>
              <a:t>and 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64" dirty="0">
                <a:latin typeface="Verdana"/>
                <a:cs typeface="Verdana"/>
              </a:rPr>
              <a:t>s</a:t>
            </a:r>
            <a:r>
              <a:rPr lang="en-US" spc="-75" dirty="0">
                <a:latin typeface="Verdana"/>
                <a:cs typeface="Verdana"/>
              </a:rPr>
              <a:t>o</a:t>
            </a:r>
            <a:r>
              <a:rPr lang="en-US" spc="-116" dirty="0">
                <a:latin typeface="Verdana"/>
                <a:cs typeface="Verdana"/>
              </a:rPr>
              <a:t>l</a:t>
            </a:r>
            <a:r>
              <a:rPr lang="en-US" spc="-49" dirty="0">
                <a:latin typeface="Verdana"/>
                <a:cs typeface="Verdana"/>
              </a:rPr>
              <a:t>v</a:t>
            </a:r>
            <a:r>
              <a:rPr lang="en-US" spc="79" dirty="0">
                <a:latin typeface="Verdana"/>
                <a:cs typeface="Verdana"/>
              </a:rPr>
              <a:t>ed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79" dirty="0">
                <a:latin typeface="Verdana"/>
                <a:cs typeface="Verdana"/>
              </a:rPr>
              <a:t>t</a:t>
            </a:r>
            <a:r>
              <a:rPr lang="en-US" spc="-45" dirty="0">
                <a:latin typeface="Verdana"/>
                <a:cs typeface="Verdana"/>
              </a:rPr>
              <a:t>hro</a:t>
            </a:r>
            <a:r>
              <a:rPr lang="en-US" spc="-60" dirty="0">
                <a:latin typeface="Verdana"/>
                <a:cs typeface="Verdana"/>
              </a:rPr>
              <a:t>u</a:t>
            </a:r>
            <a:r>
              <a:rPr lang="en-US" spc="15" dirty="0">
                <a:latin typeface="Verdana"/>
                <a:cs typeface="Verdana"/>
              </a:rPr>
              <a:t>g</a:t>
            </a:r>
            <a:r>
              <a:rPr lang="en-US" spc="8" dirty="0">
                <a:latin typeface="Verdana"/>
                <a:cs typeface="Verdana"/>
              </a:rPr>
              <a:t>h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60" dirty="0">
                <a:latin typeface="Verdana"/>
                <a:cs typeface="Verdana"/>
              </a:rPr>
              <a:t>ut</a:t>
            </a:r>
            <a:r>
              <a:rPr lang="en-US" spc="-79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4" dirty="0">
                <a:latin typeface="Verdana"/>
                <a:cs typeface="Verdana"/>
              </a:rPr>
              <a:t>ces</a:t>
            </a:r>
            <a:r>
              <a:rPr lang="en-US" spc="-41" dirty="0">
                <a:latin typeface="Verdana"/>
                <a:cs typeface="Verdana"/>
              </a:rPr>
              <a:t>s</a:t>
            </a:r>
            <a:r>
              <a:rPr lang="en-US" spc="-127" dirty="0">
                <a:latin typeface="Verdana"/>
                <a:cs typeface="Verdana"/>
              </a:rPr>
              <a:t>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4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/>
              <a:t>Boehm’s </a:t>
            </a:r>
            <a:r>
              <a:rPr lang="en-US" dirty="0" smtClean="0"/>
              <a:t> 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pc="-116" dirty="0">
                <a:latin typeface="Verdana"/>
                <a:cs typeface="Verdana"/>
              </a:rPr>
              <a:t>P</a:t>
            </a:r>
            <a:r>
              <a:rPr lang="en-US" spc="-79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19" dirty="0">
                <a:latin typeface="Verdana"/>
                <a:cs typeface="Verdana"/>
              </a:rPr>
              <a:t>ce</a:t>
            </a:r>
            <a:r>
              <a:rPr lang="en-US" spc="11" dirty="0">
                <a:latin typeface="Verdana"/>
                <a:cs typeface="Verdana"/>
              </a:rPr>
              <a:t>s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53" dirty="0">
                <a:latin typeface="Verdana"/>
                <a:cs typeface="Verdana"/>
              </a:rPr>
              <a:t>re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41" dirty="0">
                <a:latin typeface="Verdana"/>
                <a:cs typeface="Verdana"/>
              </a:rPr>
              <a:t>r</a:t>
            </a:r>
            <a:r>
              <a:rPr lang="en-US" spc="-19" dirty="0">
                <a:latin typeface="Verdana"/>
                <a:cs typeface="Verdana"/>
              </a:rPr>
              <a:t>ese</a:t>
            </a:r>
            <a:r>
              <a:rPr lang="en-US" spc="-30" dirty="0">
                <a:latin typeface="Verdana"/>
                <a:cs typeface="Verdana"/>
              </a:rPr>
              <a:t>n</a:t>
            </a:r>
            <a:r>
              <a:rPr lang="en-US" spc="-4" dirty="0">
                <a:latin typeface="Verdana"/>
                <a:cs typeface="Verdana"/>
              </a:rPr>
              <a:t>te</a:t>
            </a:r>
            <a:r>
              <a:rPr lang="en-US" spc="86" dirty="0">
                <a:latin typeface="Verdana"/>
                <a:cs typeface="Verdana"/>
              </a:rPr>
              <a:t>d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13" dirty="0">
                <a:latin typeface="Verdana"/>
                <a:cs typeface="Verdana"/>
              </a:rPr>
              <a:t> </a:t>
            </a:r>
            <a:r>
              <a:rPr lang="en-US" spc="116" dirty="0">
                <a:latin typeface="Verdana"/>
                <a:cs typeface="Verdana"/>
              </a:rPr>
              <a:t>a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90" dirty="0">
                <a:latin typeface="Verdana"/>
                <a:cs typeface="Verdana"/>
              </a:rPr>
              <a:t>sp</a:t>
            </a:r>
            <a:r>
              <a:rPr lang="en-US" spc="-34" dirty="0">
                <a:latin typeface="Verdana"/>
                <a:cs typeface="Verdana"/>
              </a:rPr>
              <a:t>i</a:t>
            </a:r>
            <a:r>
              <a:rPr lang="en-US" spc="-60" dirty="0">
                <a:latin typeface="Verdana"/>
                <a:cs typeface="Verdana"/>
              </a:rPr>
              <a:t>ral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53" dirty="0">
                <a:latin typeface="Verdana"/>
                <a:cs typeface="Verdana"/>
              </a:rPr>
              <a:t>ra</a:t>
            </a:r>
            <a:r>
              <a:rPr lang="en-US" spc="-38" dirty="0">
                <a:latin typeface="Verdana"/>
                <a:cs typeface="Verdana"/>
              </a:rPr>
              <a:t>t</a:t>
            </a:r>
            <a:r>
              <a:rPr lang="en-US" spc="-41" dirty="0">
                <a:latin typeface="Verdana"/>
                <a:cs typeface="Verdana"/>
              </a:rPr>
              <a:t>h</a:t>
            </a:r>
            <a:r>
              <a:rPr lang="en-US" spc="-45" dirty="0">
                <a:latin typeface="Verdana"/>
                <a:cs typeface="Verdana"/>
              </a:rPr>
              <a:t>er  </a:t>
            </a:r>
            <a:r>
              <a:rPr lang="en-US" spc="-11" dirty="0">
                <a:latin typeface="Verdana"/>
                <a:cs typeface="Verdana"/>
              </a:rPr>
              <a:t>than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113" dirty="0">
                <a:latin typeface="Verdana"/>
                <a:cs typeface="Verdana"/>
              </a:rPr>
              <a:t>a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se</a:t>
            </a:r>
            <a:r>
              <a:rPr lang="en-US" spc="-11" dirty="0">
                <a:latin typeface="Verdana"/>
                <a:cs typeface="Verdana"/>
              </a:rPr>
              <a:t>q</a:t>
            </a:r>
            <a:r>
              <a:rPr lang="en-US" spc="49" dirty="0">
                <a:latin typeface="Verdana"/>
                <a:cs typeface="Verdana"/>
              </a:rPr>
              <a:t>uence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56" dirty="0">
                <a:latin typeface="Verdana"/>
                <a:cs typeface="Verdana"/>
              </a:rPr>
              <a:t>f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26" dirty="0">
                <a:latin typeface="Verdana"/>
                <a:cs typeface="Verdana"/>
              </a:rPr>
              <a:t>acti</a:t>
            </a:r>
            <a:r>
              <a:rPr lang="en-US" spc="-49" dirty="0">
                <a:latin typeface="Verdana"/>
                <a:cs typeface="Verdana"/>
              </a:rPr>
              <a:t>viti</a:t>
            </a:r>
            <a:r>
              <a:rPr lang="en-US" spc="-86" dirty="0">
                <a:latin typeface="Verdana"/>
                <a:cs typeface="Verdana"/>
              </a:rPr>
              <a:t>e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7" dirty="0">
                <a:latin typeface="Verdana"/>
                <a:cs typeface="Verdana"/>
              </a:rPr>
              <a:t> </a:t>
            </a:r>
            <a:r>
              <a:rPr lang="en-US" spc="-75" dirty="0">
                <a:latin typeface="Verdana"/>
                <a:cs typeface="Verdana"/>
              </a:rPr>
              <a:t>w</a:t>
            </a:r>
            <a:r>
              <a:rPr lang="en-US" spc="-19" dirty="0">
                <a:latin typeface="Verdana"/>
                <a:cs typeface="Verdana"/>
              </a:rPr>
              <a:t>i</a:t>
            </a:r>
            <a:r>
              <a:rPr lang="en-US" spc="-49" dirty="0">
                <a:latin typeface="Verdana"/>
                <a:cs typeface="Verdana"/>
              </a:rPr>
              <a:t>th  </a:t>
            </a:r>
            <a:r>
              <a:rPr lang="en-US" spc="-8" dirty="0">
                <a:latin typeface="Verdana"/>
                <a:cs typeface="Verdana"/>
              </a:rPr>
              <a:t>backtracking.</a:t>
            </a:r>
            <a:endParaRPr lang="en-US" dirty="0" smtClean="0">
              <a:latin typeface="Verdana"/>
              <a:cs typeface="Verdana"/>
            </a:endParaRPr>
          </a:p>
          <a:p>
            <a:pPr marL="9525" algn="just">
              <a:lnSpc>
                <a:spcPct val="150000"/>
              </a:lnSpc>
              <a:spcBef>
                <a:spcPts val="71"/>
              </a:spcBef>
            </a:pPr>
            <a:r>
              <a:rPr lang="en-US" spc="23" dirty="0">
                <a:latin typeface="Verdana"/>
                <a:cs typeface="Verdana"/>
              </a:rPr>
              <a:t>Eac</a:t>
            </a:r>
            <a:r>
              <a:rPr lang="en-US" spc="30" dirty="0">
                <a:latin typeface="Verdana"/>
                <a:cs typeface="Verdana"/>
              </a:rPr>
              <a:t>h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116" dirty="0">
                <a:latin typeface="Verdana"/>
                <a:cs typeface="Verdana"/>
              </a:rPr>
              <a:t>l</a:t>
            </a:r>
            <a:r>
              <a:rPr lang="en-US" spc="56" dirty="0">
                <a:latin typeface="Verdana"/>
                <a:cs typeface="Verdana"/>
              </a:rPr>
              <a:t>oo</a:t>
            </a:r>
            <a:r>
              <a:rPr lang="en-US" spc="79" dirty="0">
                <a:latin typeface="Verdana"/>
                <a:cs typeface="Verdana"/>
              </a:rPr>
              <a:t>p</a:t>
            </a:r>
            <a:r>
              <a:rPr lang="en-US" spc="-86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sp</a:t>
            </a:r>
            <a:r>
              <a:rPr lang="en-US" spc="-38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ra</a:t>
            </a:r>
            <a:r>
              <a:rPr lang="en-US" spc="-109" dirty="0">
                <a:latin typeface="Verdana"/>
                <a:cs typeface="Verdana"/>
              </a:rPr>
              <a:t>l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esents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113" dirty="0">
                <a:latin typeface="Verdana"/>
                <a:cs typeface="Verdana"/>
              </a:rPr>
              <a:t>a</a:t>
            </a:r>
            <a:r>
              <a:rPr lang="en-US" dirty="0" smtClean="0">
                <a:latin typeface="Verdana"/>
                <a:cs typeface="Verdana"/>
              </a:rPr>
              <a:t> </a:t>
            </a:r>
            <a:r>
              <a:rPr lang="en-US" spc="-11" dirty="0">
                <a:latin typeface="Verdana"/>
                <a:cs typeface="Verdana"/>
              </a:rPr>
              <a:t>pha</a:t>
            </a:r>
            <a:r>
              <a:rPr lang="en-US" spc="-15" dirty="0">
                <a:latin typeface="Verdana"/>
                <a:cs typeface="Verdana"/>
              </a:rPr>
              <a:t>s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19" dirty="0">
                <a:latin typeface="Verdana"/>
                <a:cs typeface="Verdana"/>
              </a:rPr>
              <a:t>ce</a:t>
            </a:r>
            <a:r>
              <a:rPr lang="en-US" spc="11" dirty="0">
                <a:latin typeface="Verdana"/>
                <a:cs typeface="Verdana"/>
              </a:rPr>
              <a:t>s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127" dirty="0">
                <a:latin typeface="Verdana"/>
                <a:cs typeface="Verdana"/>
              </a:rPr>
              <a:t>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r>
              <a:rPr lang="en-US" spc="23" dirty="0">
                <a:latin typeface="Verdana"/>
                <a:cs typeface="Verdana"/>
              </a:rPr>
              <a:t>No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f</a:t>
            </a:r>
            <a:r>
              <a:rPr lang="en-US" spc="-60" dirty="0">
                <a:latin typeface="Verdana"/>
                <a:cs typeface="Verdana"/>
              </a:rPr>
              <a:t>i</a:t>
            </a:r>
            <a:r>
              <a:rPr lang="en-US" dirty="0" smtClean="0">
                <a:latin typeface="Verdana"/>
                <a:cs typeface="Verdana"/>
              </a:rPr>
              <a:t>xed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30" dirty="0">
                <a:latin typeface="Verdana"/>
                <a:cs typeface="Verdana"/>
              </a:rPr>
              <a:t>phase</a:t>
            </a:r>
            <a:r>
              <a:rPr lang="en-US" spc="-23" dirty="0">
                <a:latin typeface="Verdana"/>
                <a:cs typeface="Verdana"/>
              </a:rPr>
              <a:t>s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-23" dirty="0">
                <a:latin typeface="Verdana"/>
                <a:cs typeface="Verdana"/>
              </a:rPr>
              <a:t>su</a:t>
            </a:r>
            <a:r>
              <a:rPr lang="en-US" spc="-26" dirty="0">
                <a:latin typeface="Verdana"/>
                <a:cs typeface="Verdana"/>
              </a:rPr>
              <a:t>c</a:t>
            </a:r>
            <a:r>
              <a:rPr lang="en-US" spc="-38" dirty="0">
                <a:latin typeface="Verdana"/>
                <a:cs typeface="Verdana"/>
              </a:rPr>
              <a:t>h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8" dirty="0">
                <a:latin typeface="Verdana"/>
                <a:cs typeface="Verdana"/>
              </a:rPr>
              <a:t>s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4" dirty="0">
                <a:latin typeface="Verdana"/>
                <a:cs typeface="Verdana"/>
              </a:rPr>
              <a:t>spec</a:t>
            </a:r>
            <a:r>
              <a:rPr lang="en-US" spc="11" dirty="0">
                <a:latin typeface="Verdana"/>
                <a:cs typeface="Verdana"/>
              </a:rPr>
              <a:t>i</a:t>
            </a:r>
            <a:r>
              <a:rPr lang="en-US" spc="-94" dirty="0">
                <a:latin typeface="Verdana"/>
                <a:cs typeface="Verdana"/>
              </a:rPr>
              <a:t>f</a:t>
            </a:r>
            <a:r>
              <a:rPr lang="en-US" spc="-60" dirty="0">
                <a:latin typeface="Verdana"/>
                <a:cs typeface="Verdana"/>
              </a:rPr>
              <a:t>i</a:t>
            </a:r>
            <a:r>
              <a:rPr lang="en-US" spc="30" dirty="0">
                <a:latin typeface="Verdana"/>
                <a:cs typeface="Verdana"/>
              </a:rPr>
              <a:t>cat</a:t>
            </a:r>
            <a:r>
              <a:rPr lang="en-US" spc="19" dirty="0">
                <a:latin typeface="Verdana"/>
                <a:cs typeface="Verdana"/>
              </a:rPr>
              <a:t>i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161" dirty="0">
                <a:latin typeface="Verdana"/>
                <a:cs typeface="Verdana"/>
              </a:rPr>
              <a:t>r  </a:t>
            </a:r>
            <a:r>
              <a:rPr lang="en-US" spc="-45" dirty="0">
                <a:latin typeface="Verdana"/>
                <a:cs typeface="Verdana"/>
              </a:rPr>
              <a:t>des</a:t>
            </a:r>
            <a:r>
              <a:rPr lang="en-US" spc="-11" dirty="0">
                <a:latin typeface="Verdana"/>
                <a:cs typeface="Verdana"/>
              </a:rPr>
              <a:t>i</a:t>
            </a:r>
            <a:r>
              <a:rPr lang="en-US" spc="15" dirty="0">
                <a:latin typeface="Verdana"/>
                <a:cs typeface="Verdana"/>
              </a:rPr>
              <a:t>gn</a:t>
            </a:r>
            <a:r>
              <a:rPr lang="en-US" spc="-116" dirty="0">
                <a:latin typeface="Verdana"/>
                <a:cs typeface="Verdana"/>
              </a:rPr>
              <a:t> </a:t>
            </a:r>
            <a:r>
              <a:rPr lang="en-US" spc="-19" dirty="0">
                <a:latin typeface="Verdana"/>
                <a:cs typeface="Verdana"/>
              </a:rPr>
              <a:t>l</a:t>
            </a:r>
            <a:r>
              <a:rPr lang="en-US" spc="-38" dirty="0">
                <a:latin typeface="Verdana"/>
                <a:cs typeface="Verdana"/>
              </a:rPr>
              <a:t>o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53" dirty="0">
                <a:latin typeface="Verdana"/>
                <a:cs typeface="Verdana"/>
              </a:rPr>
              <a:t>s</a:t>
            </a:r>
            <a:r>
              <a:rPr lang="en-US" spc="-83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94" dirty="0">
                <a:latin typeface="Verdana"/>
                <a:cs typeface="Verdana"/>
              </a:rPr>
              <a:t>sp</a:t>
            </a:r>
            <a:r>
              <a:rPr lang="en-US" spc="-38" dirty="0">
                <a:latin typeface="Verdana"/>
                <a:cs typeface="Verdana"/>
              </a:rPr>
              <a:t>i</a:t>
            </a:r>
            <a:r>
              <a:rPr lang="en-US" spc="-34" dirty="0">
                <a:latin typeface="Verdana"/>
                <a:cs typeface="Verdana"/>
              </a:rPr>
              <a:t>ra</a:t>
            </a:r>
            <a:r>
              <a:rPr lang="en-US" spc="-109" dirty="0">
                <a:latin typeface="Verdana"/>
                <a:cs typeface="Verdana"/>
              </a:rPr>
              <a:t>l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30" dirty="0">
                <a:latin typeface="Verdana"/>
                <a:cs typeface="Verdana"/>
              </a:rPr>
              <a:t>r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64" dirty="0">
                <a:latin typeface="Verdana"/>
                <a:cs typeface="Verdana"/>
              </a:rPr>
              <a:t>c</a:t>
            </a:r>
            <a:r>
              <a:rPr lang="en-US" spc="68" dirty="0">
                <a:latin typeface="Verdana"/>
                <a:cs typeface="Verdana"/>
              </a:rPr>
              <a:t>h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49" dirty="0">
                <a:latin typeface="Verdana"/>
                <a:cs typeface="Verdana"/>
              </a:rPr>
              <a:t>sen  </a:t>
            </a:r>
            <a:r>
              <a:rPr lang="en-US" spc="75" dirty="0">
                <a:latin typeface="Verdana"/>
                <a:cs typeface="Verdana"/>
              </a:rPr>
              <a:t>dep</a:t>
            </a:r>
            <a:r>
              <a:rPr lang="en-US" spc="79" dirty="0">
                <a:latin typeface="Verdana"/>
                <a:cs typeface="Verdana"/>
              </a:rPr>
              <a:t>e</a:t>
            </a:r>
            <a:r>
              <a:rPr lang="en-US" spc="23" dirty="0">
                <a:latin typeface="Verdana"/>
                <a:cs typeface="Verdana"/>
              </a:rPr>
              <a:t>n</a:t>
            </a:r>
            <a:r>
              <a:rPr lang="en-US" spc="15" dirty="0">
                <a:latin typeface="Verdana"/>
                <a:cs typeface="Verdana"/>
              </a:rPr>
              <a:t>d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15" dirty="0">
                <a:latin typeface="Verdana"/>
                <a:cs typeface="Verdana"/>
              </a:rPr>
              <a:t>ng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8" dirty="0">
                <a:latin typeface="Verdana"/>
                <a:cs typeface="Verdana"/>
              </a:rPr>
              <a:t>n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w</a:t>
            </a:r>
            <a:r>
              <a:rPr lang="en-US" spc="-19" dirty="0">
                <a:latin typeface="Verdana"/>
                <a:cs typeface="Verdana"/>
              </a:rPr>
              <a:t>h</a:t>
            </a:r>
            <a:r>
              <a:rPr lang="en-US" spc="15" dirty="0">
                <a:latin typeface="Verdana"/>
                <a:cs typeface="Verdana"/>
              </a:rPr>
              <a:t>a</a:t>
            </a:r>
            <a:r>
              <a:rPr lang="en-US" spc="11" dirty="0">
                <a:latin typeface="Verdana"/>
                <a:cs typeface="Verdana"/>
              </a:rPr>
              <a:t>t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-101" dirty="0">
                <a:latin typeface="Verdana"/>
                <a:cs typeface="Verdana"/>
              </a:rPr>
              <a:t>i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30" dirty="0">
                <a:latin typeface="Verdana"/>
                <a:cs typeface="Verdana"/>
              </a:rPr>
              <a:t>qu</a:t>
            </a:r>
            <a:r>
              <a:rPr lang="en-US" dirty="0" smtClean="0">
                <a:latin typeface="Verdana"/>
                <a:cs typeface="Verdana"/>
              </a:rPr>
              <a:t>i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26" dirty="0">
                <a:latin typeface="Verdana"/>
                <a:cs typeface="Verdana"/>
              </a:rPr>
              <a:t>d.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r>
              <a:rPr lang="en-US" spc="-169" dirty="0">
                <a:latin typeface="Verdana"/>
                <a:cs typeface="Verdana"/>
              </a:rPr>
              <a:t>R</a:t>
            </a:r>
            <a:r>
              <a:rPr lang="en-US" spc="-56" dirty="0">
                <a:latin typeface="Verdana"/>
                <a:cs typeface="Verdana"/>
              </a:rPr>
              <a:t>i</a:t>
            </a:r>
            <a:r>
              <a:rPr lang="en-US" spc="-153" dirty="0">
                <a:latin typeface="Verdana"/>
                <a:cs typeface="Verdana"/>
              </a:rPr>
              <a:t>s</a:t>
            </a:r>
            <a:r>
              <a:rPr lang="en-US" spc="-180" dirty="0">
                <a:latin typeface="Verdana"/>
                <a:cs typeface="Verdana"/>
              </a:rPr>
              <a:t>k</a:t>
            </a:r>
            <a:r>
              <a:rPr lang="en-US" spc="-191" dirty="0">
                <a:latin typeface="Verdana"/>
                <a:cs typeface="Verdana"/>
              </a:rPr>
              <a:t>s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4" dirty="0">
                <a:latin typeface="Verdana"/>
                <a:cs typeface="Verdana"/>
              </a:rPr>
              <a:t>ar</a:t>
            </a:r>
            <a:r>
              <a:rPr lang="en-US" spc="4" dirty="0">
                <a:latin typeface="Verdana"/>
                <a:cs typeface="Verdana"/>
              </a:rPr>
              <a:t>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75" dirty="0">
                <a:latin typeface="Verdana"/>
                <a:cs typeface="Verdana"/>
              </a:rPr>
              <a:t>e</a:t>
            </a:r>
            <a:r>
              <a:rPr lang="en-US" spc="-83" dirty="0">
                <a:latin typeface="Verdana"/>
                <a:cs typeface="Verdana"/>
              </a:rPr>
              <a:t>xpl</a:t>
            </a:r>
            <a:r>
              <a:rPr lang="en-US" spc="-41" dirty="0">
                <a:latin typeface="Verdana"/>
                <a:cs typeface="Verdana"/>
              </a:rPr>
              <a:t>i</a:t>
            </a:r>
            <a:r>
              <a:rPr lang="en-US" spc="45" dirty="0">
                <a:latin typeface="Verdana"/>
                <a:cs typeface="Verdana"/>
              </a:rPr>
              <a:t>c</a:t>
            </a:r>
            <a:r>
              <a:rPr lang="en-US" spc="30" dirty="0">
                <a:latin typeface="Verdana"/>
                <a:cs typeface="Verdana"/>
              </a:rPr>
              <a:t>i</a:t>
            </a:r>
            <a:r>
              <a:rPr lang="en-US" spc="-90" dirty="0">
                <a:latin typeface="Verdana"/>
                <a:cs typeface="Verdana"/>
              </a:rPr>
              <a:t>tly</a:t>
            </a:r>
            <a:r>
              <a:rPr lang="en-US" spc="-124" dirty="0">
                <a:latin typeface="Verdana"/>
                <a:cs typeface="Verdana"/>
              </a:rPr>
              <a:t> </a:t>
            </a:r>
            <a:r>
              <a:rPr lang="en-US" spc="-98" dirty="0">
                <a:latin typeface="Verdana"/>
                <a:cs typeface="Verdana"/>
              </a:rPr>
              <a:t>as</a:t>
            </a:r>
            <a:r>
              <a:rPr lang="en-US" spc="-94" dirty="0">
                <a:latin typeface="Verdana"/>
                <a:cs typeface="Verdana"/>
              </a:rPr>
              <a:t>s</a:t>
            </a:r>
            <a:r>
              <a:rPr lang="en-US" spc="-30" dirty="0">
                <a:latin typeface="Verdana"/>
                <a:cs typeface="Verdana"/>
              </a:rPr>
              <a:t>essed</a:t>
            </a:r>
            <a:r>
              <a:rPr lang="en-US" spc="-90" dirty="0">
                <a:latin typeface="Verdana"/>
                <a:cs typeface="Verdana"/>
              </a:rPr>
              <a:t> </a:t>
            </a:r>
            <a:r>
              <a:rPr lang="en-US" spc="41" dirty="0">
                <a:latin typeface="Verdana"/>
                <a:cs typeface="Verdana"/>
              </a:rPr>
              <a:t>and  </a:t>
            </a:r>
            <a:r>
              <a:rPr lang="en-US" spc="-45" dirty="0">
                <a:latin typeface="Verdana"/>
                <a:cs typeface="Verdana"/>
              </a:rPr>
              <a:t>r</a:t>
            </a:r>
            <a:r>
              <a:rPr lang="en-US" spc="-60" dirty="0">
                <a:latin typeface="Verdana"/>
                <a:cs typeface="Verdana"/>
              </a:rPr>
              <a:t>e</a:t>
            </a:r>
            <a:r>
              <a:rPr lang="en-US" spc="-64" dirty="0">
                <a:latin typeface="Verdana"/>
                <a:cs typeface="Verdana"/>
              </a:rPr>
              <a:t>s</a:t>
            </a:r>
            <a:r>
              <a:rPr lang="en-US" spc="-75" dirty="0">
                <a:latin typeface="Verdana"/>
                <a:cs typeface="Verdana"/>
              </a:rPr>
              <a:t>o</a:t>
            </a:r>
            <a:r>
              <a:rPr lang="en-US" spc="-116" dirty="0">
                <a:latin typeface="Verdana"/>
                <a:cs typeface="Verdana"/>
              </a:rPr>
              <a:t>l</a:t>
            </a:r>
            <a:r>
              <a:rPr lang="en-US" spc="-49" dirty="0">
                <a:latin typeface="Verdana"/>
                <a:cs typeface="Verdana"/>
              </a:rPr>
              <a:t>v</a:t>
            </a:r>
            <a:r>
              <a:rPr lang="en-US" spc="79" dirty="0">
                <a:latin typeface="Verdana"/>
                <a:cs typeface="Verdana"/>
              </a:rPr>
              <a:t>ed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79" dirty="0">
                <a:latin typeface="Verdana"/>
                <a:cs typeface="Verdana"/>
              </a:rPr>
              <a:t>t</a:t>
            </a:r>
            <a:r>
              <a:rPr lang="en-US" spc="-45" dirty="0">
                <a:latin typeface="Verdana"/>
                <a:cs typeface="Verdana"/>
              </a:rPr>
              <a:t>hro</a:t>
            </a:r>
            <a:r>
              <a:rPr lang="en-US" spc="-60" dirty="0">
                <a:latin typeface="Verdana"/>
                <a:cs typeface="Verdana"/>
              </a:rPr>
              <a:t>u</a:t>
            </a:r>
            <a:r>
              <a:rPr lang="en-US" spc="15" dirty="0">
                <a:latin typeface="Verdana"/>
                <a:cs typeface="Verdana"/>
              </a:rPr>
              <a:t>g</a:t>
            </a:r>
            <a:r>
              <a:rPr lang="en-US" spc="8" dirty="0">
                <a:latin typeface="Verdana"/>
                <a:cs typeface="Verdana"/>
              </a:rPr>
              <a:t>h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60" dirty="0">
                <a:latin typeface="Verdana"/>
                <a:cs typeface="Verdana"/>
              </a:rPr>
              <a:t>ut</a:t>
            </a:r>
            <a:r>
              <a:rPr lang="en-US" spc="-79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the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64" dirty="0">
                <a:latin typeface="Verdana"/>
                <a:cs typeface="Verdana"/>
              </a:rPr>
              <a:t>p</a:t>
            </a:r>
            <a:r>
              <a:rPr lang="en-US" spc="-38" dirty="0">
                <a:latin typeface="Verdana"/>
                <a:cs typeface="Verdana"/>
              </a:rPr>
              <a:t>r</a:t>
            </a:r>
            <a:r>
              <a:rPr lang="en-US" spc="56" dirty="0">
                <a:latin typeface="Verdana"/>
                <a:cs typeface="Verdana"/>
              </a:rPr>
              <a:t>o</a:t>
            </a:r>
            <a:r>
              <a:rPr lang="en-US" spc="-34" dirty="0">
                <a:latin typeface="Verdana"/>
                <a:cs typeface="Verdana"/>
              </a:rPr>
              <a:t>ces</a:t>
            </a:r>
            <a:r>
              <a:rPr lang="en-US" spc="-41" dirty="0">
                <a:latin typeface="Verdana"/>
                <a:cs typeface="Verdana"/>
              </a:rPr>
              <a:t>s</a:t>
            </a:r>
            <a:r>
              <a:rPr lang="en-US" spc="-127" dirty="0">
                <a:latin typeface="Verdana"/>
                <a:cs typeface="Verdana"/>
              </a:rPr>
              <a:t>.</a:t>
            </a:r>
            <a:endParaRPr lang="en-US" dirty="0" smtClean="0">
              <a:latin typeface="Verdana"/>
              <a:cs typeface="Verdana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6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2312099" cy="738664"/>
          </a:xfrm>
        </p:spPr>
        <p:txBody>
          <a:bodyPr/>
          <a:lstStyle/>
          <a:p>
            <a:r>
              <a:rPr lang="en-US" dirty="0"/>
              <a:t>Boehm’s  </a:t>
            </a:r>
            <a:r>
              <a:rPr lang="en-US" dirty="0" smtClean="0"/>
              <a:t>Spiral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/>
              <a:t>Model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076450"/>
            <a:ext cx="5512746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6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09600"/>
            <a:ext cx="5898159" cy="369332"/>
          </a:xfrm>
        </p:spPr>
        <p:txBody>
          <a:bodyPr/>
          <a:lstStyle/>
          <a:p>
            <a:r>
              <a:rPr lang="en-US" dirty="0" smtClean="0"/>
              <a:t>Spiral Model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025" y="1676400"/>
            <a:ext cx="6005513" cy="4080604"/>
          </a:xfrm>
        </p:spPr>
        <p:txBody>
          <a:bodyPr/>
          <a:lstStyle/>
          <a:p>
            <a:pPr marL="352425" marR="3810" indent="-342900">
              <a:spcBef>
                <a:spcPts val="75"/>
              </a:spcBef>
              <a:tabLst>
                <a:tab pos="266224" algn="l"/>
              </a:tabLst>
            </a:pPr>
            <a:r>
              <a:rPr lang="en-US" spc="-75" dirty="0">
                <a:latin typeface="Verdana"/>
                <a:cs typeface="Verdana"/>
              </a:rPr>
              <a:t>Spiral </a:t>
            </a:r>
            <a:r>
              <a:rPr lang="en-US" spc="11" dirty="0">
                <a:latin typeface="Verdana"/>
                <a:cs typeface="Verdana"/>
              </a:rPr>
              <a:t>model </a:t>
            </a:r>
            <a:r>
              <a:rPr lang="en-US" spc="-38" dirty="0">
                <a:latin typeface="Verdana"/>
                <a:cs typeface="Verdana"/>
              </a:rPr>
              <a:t>has </a:t>
            </a:r>
            <a:r>
              <a:rPr lang="en-US" spc="41" dirty="0">
                <a:latin typeface="Verdana"/>
                <a:cs typeface="Verdana"/>
              </a:rPr>
              <a:t>been </a:t>
            </a:r>
            <a:r>
              <a:rPr lang="en-US" spc="-56" dirty="0">
                <a:latin typeface="Verdana"/>
                <a:cs typeface="Verdana"/>
              </a:rPr>
              <a:t>very </a:t>
            </a:r>
            <a:r>
              <a:rPr lang="en-US" spc="-41" dirty="0">
                <a:latin typeface="Verdana"/>
                <a:cs typeface="Verdana"/>
              </a:rPr>
              <a:t>influential </a:t>
            </a:r>
            <a:r>
              <a:rPr lang="en-US" spc="-60" dirty="0">
                <a:latin typeface="Verdana"/>
                <a:cs typeface="Verdana"/>
              </a:rPr>
              <a:t>in </a:t>
            </a:r>
            <a:r>
              <a:rPr lang="en-US" spc="-56" dirty="0">
                <a:latin typeface="Verdana"/>
                <a:cs typeface="Verdana"/>
              </a:rPr>
              <a:t> </a:t>
            </a:r>
            <a:r>
              <a:rPr lang="en-US" spc="-41" dirty="0">
                <a:latin typeface="Verdana"/>
                <a:cs typeface="Verdana"/>
              </a:rPr>
              <a:t>h</a:t>
            </a:r>
            <a:r>
              <a:rPr lang="en-US" spc="64" dirty="0">
                <a:latin typeface="Verdana"/>
                <a:cs typeface="Verdana"/>
              </a:rPr>
              <a:t>e</a:t>
            </a:r>
            <a:r>
              <a:rPr lang="en-US" spc="-94" dirty="0">
                <a:latin typeface="Verdana"/>
                <a:cs typeface="Verdana"/>
              </a:rPr>
              <a:t>l</a:t>
            </a:r>
            <a:r>
              <a:rPr lang="en-US" spc="-19" dirty="0">
                <a:latin typeface="Verdana"/>
                <a:cs typeface="Verdana"/>
              </a:rPr>
              <a:t>p</a:t>
            </a:r>
            <a:r>
              <a:rPr lang="en-US" spc="4" dirty="0">
                <a:latin typeface="Verdana"/>
                <a:cs typeface="Verdana"/>
              </a:rPr>
              <a:t>i</a:t>
            </a:r>
            <a:r>
              <a:rPr lang="en-US" spc="-41" dirty="0">
                <a:latin typeface="Verdana"/>
                <a:cs typeface="Verdana"/>
              </a:rPr>
              <a:t>n</a:t>
            </a:r>
            <a:r>
              <a:rPr lang="en-US" spc="64" dirty="0">
                <a:latin typeface="Verdana"/>
                <a:cs typeface="Verdana"/>
              </a:rPr>
              <a:t>g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71" dirty="0">
                <a:latin typeface="Verdana"/>
                <a:cs typeface="Verdana"/>
              </a:rPr>
              <a:t>p</a:t>
            </a:r>
            <a:r>
              <a:rPr lang="en-US" spc="64" dirty="0">
                <a:latin typeface="Verdana"/>
                <a:cs typeface="Verdana"/>
              </a:rPr>
              <a:t>e</a:t>
            </a:r>
            <a:r>
              <a:rPr lang="en-US" spc="71" dirty="0">
                <a:latin typeface="Verdana"/>
                <a:cs typeface="Verdana"/>
              </a:rPr>
              <a:t>o</a:t>
            </a:r>
            <a:r>
              <a:rPr lang="en-US" spc="64" dirty="0">
                <a:latin typeface="Verdana"/>
                <a:cs typeface="Verdana"/>
              </a:rPr>
              <a:t>p</a:t>
            </a:r>
            <a:r>
              <a:rPr lang="en-US" spc="-94" dirty="0">
                <a:latin typeface="Verdana"/>
                <a:cs typeface="Verdana"/>
              </a:rPr>
              <a:t>l</a:t>
            </a:r>
            <a:r>
              <a:rPr lang="en-US" spc="71" dirty="0">
                <a:latin typeface="Verdana"/>
                <a:cs typeface="Verdana"/>
              </a:rPr>
              <a:t>e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-86" dirty="0">
                <a:latin typeface="Verdana"/>
                <a:cs typeface="Verdana"/>
              </a:rPr>
              <a:t>t</a:t>
            </a:r>
            <a:r>
              <a:rPr lang="en-US" spc="-41" dirty="0">
                <a:latin typeface="Verdana"/>
                <a:cs typeface="Verdana"/>
              </a:rPr>
              <a:t>h</a:t>
            </a:r>
            <a:r>
              <a:rPr lang="en-US" spc="-86" dirty="0">
                <a:latin typeface="Verdana"/>
                <a:cs typeface="Verdana"/>
              </a:rPr>
              <a:t>i</a:t>
            </a:r>
            <a:r>
              <a:rPr lang="en-US" spc="-41" dirty="0">
                <a:latin typeface="Verdana"/>
                <a:cs typeface="Verdana"/>
              </a:rPr>
              <a:t>n</a:t>
            </a:r>
            <a:r>
              <a:rPr lang="en-US" spc="-124" dirty="0">
                <a:latin typeface="Verdana"/>
                <a:cs typeface="Verdana"/>
              </a:rPr>
              <a:t>k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101" dirty="0">
                <a:latin typeface="Verdana"/>
                <a:cs typeface="Verdana"/>
              </a:rPr>
              <a:t>a</a:t>
            </a:r>
            <a:r>
              <a:rPr lang="en-US" spc="68" dirty="0">
                <a:latin typeface="Verdana"/>
                <a:cs typeface="Verdana"/>
              </a:rPr>
              <a:t>b</a:t>
            </a:r>
            <a:r>
              <a:rPr lang="en-US" spc="64" dirty="0">
                <a:latin typeface="Verdana"/>
                <a:cs typeface="Verdana"/>
              </a:rPr>
              <a:t>o</a:t>
            </a:r>
            <a:r>
              <a:rPr lang="en-US" spc="-56" dirty="0">
                <a:latin typeface="Verdana"/>
                <a:cs typeface="Verdana"/>
              </a:rPr>
              <a:t>ut</a:t>
            </a:r>
            <a:r>
              <a:rPr lang="en-US" spc="-101" dirty="0">
                <a:latin typeface="Verdana"/>
                <a:cs typeface="Verdana"/>
              </a:rPr>
              <a:t> </a:t>
            </a:r>
            <a:r>
              <a:rPr lang="en-US" spc="-86" dirty="0">
                <a:latin typeface="Verdana"/>
                <a:cs typeface="Verdana"/>
              </a:rPr>
              <a:t>it</a:t>
            </a:r>
            <a:r>
              <a:rPr lang="en-US" spc="64" dirty="0">
                <a:latin typeface="Verdana"/>
                <a:cs typeface="Verdana"/>
              </a:rPr>
              <a:t>e</a:t>
            </a:r>
            <a:r>
              <a:rPr lang="en-US" spc="-26" dirty="0">
                <a:latin typeface="Verdana"/>
                <a:cs typeface="Verdana"/>
              </a:rPr>
              <a:t>r</a:t>
            </a:r>
            <a:r>
              <a:rPr lang="en-US" spc="-45" dirty="0">
                <a:latin typeface="Verdana"/>
                <a:cs typeface="Verdana"/>
              </a:rPr>
              <a:t>a</a:t>
            </a:r>
            <a:r>
              <a:rPr lang="en-US" spc="-86" dirty="0">
                <a:latin typeface="Verdana"/>
                <a:cs typeface="Verdana"/>
              </a:rPr>
              <a:t>ti</a:t>
            </a:r>
            <a:r>
              <a:rPr lang="en-US" spc="15" dirty="0">
                <a:latin typeface="Verdana"/>
                <a:cs typeface="Verdana"/>
              </a:rPr>
              <a:t>on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83" dirty="0">
                <a:latin typeface="Verdana"/>
                <a:cs typeface="Verdana"/>
              </a:rPr>
              <a:t>i</a:t>
            </a:r>
            <a:r>
              <a:rPr lang="en-US" spc="-23" dirty="0">
                <a:latin typeface="Verdana"/>
                <a:cs typeface="Verdana"/>
              </a:rPr>
              <a:t>n  </a:t>
            </a:r>
            <a:r>
              <a:rPr lang="en-US" spc="-60" dirty="0">
                <a:latin typeface="Verdana"/>
                <a:cs typeface="Verdana"/>
              </a:rPr>
              <a:t>s</a:t>
            </a:r>
            <a:r>
              <a:rPr lang="en-US" spc="-71" dirty="0">
                <a:latin typeface="Verdana"/>
                <a:cs typeface="Verdana"/>
              </a:rPr>
              <a:t>o</a:t>
            </a:r>
            <a:r>
              <a:rPr lang="en-US" spc="-60" dirty="0">
                <a:latin typeface="Verdana"/>
                <a:cs typeface="Verdana"/>
              </a:rPr>
              <a:t>f</a:t>
            </a:r>
            <a:r>
              <a:rPr lang="en-US" spc="-79" dirty="0">
                <a:latin typeface="Verdana"/>
                <a:cs typeface="Verdana"/>
              </a:rPr>
              <a:t>t</a:t>
            </a:r>
            <a:r>
              <a:rPr lang="en-US" spc="-11" dirty="0">
                <a:latin typeface="Verdana"/>
                <a:cs typeface="Verdana"/>
              </a:rPr>
              <a:t>w</a:t>
            </a:r>
            <a:r>
              <a:rPr lang="en-US" spc="101" dirty="0">
                <a:latin typeface="Verdana"/>
                <a:cs typeface="Verdana"/>
              </a:rPr>
              <a:t>a</a:t>
            </a:r>
            <a:r>
              <a:rPr lang="en-US" spc="-49" dirty="0">
                <a:latin typeface="Verdana"/>
                <a:cs typeface="Verdana"/>
              </a:rPr>
              <a:t>re</a:t>
            </a:r>
            <a:r>
              <a:rPr lang="en-US" spc="-60" dirty="0">
                <a:latin typeface="Verdana"/>
                <a:cs typeface="Verdana"/>
              </a:rPr>
              <a:t> </a:t>
            </a:r>
            <a:r>
              <a:rPr lang="en-US" spc="-15" dirty="0">
                <a:latin typeface="Verdana"/>
                <a:cs typeface="Verdana"/>
              </a:rPr>
              <a:t>pr</a:t>
            </a:r>
            <a:r>
              <a:rPr lang="en-US" spc="-19" dirty="0">
                <a:latin typeface="Verdana"/>
                <a:cs typeface="Verdana"/>
              </a:rPr>
              <a:t>o</a:t>
            </a:r>
            <a:r>
              <a:rPr lang="en-US" spc="113" dirty="0">
                <a:latin typeface="Verdana"/>
                <a:cs typeface="Verdana"/>
              </a:rPr>
              <a:t>c</a:t>
            </a:r>
            <a:r>
              <a:rPr lang="en-US" spc="120" dirty="0">
                <a:latin typeface="Verdana"/>
                <a:cs typeface="Verdana"/>
              </a:rPr>
              <a:t>e</a:t>
            </a:r>
            <a:r>
              <a:rPr lang="en-US" spc="-98" dirty="0">
                <a:latin typeface="Verdana"/>
                <a:cs typeface="Verdana"/>
              </a:rPr>
              <a:t>ss</a:t>
            </a:r>
            <a:r>
              <a:rPr lang="en-US" spc="-116" dirty="0">
                <a:latin typeface="Verdana"/>
                <a:cs typeface="Verdana"/>
              </a:rPr>
              <a:t>e</a:t>
            </a:r>
            <a:r>
              <a:rPr lang="en-US" spc="-180" dirty="0">
                <a:latin typeface="Verdana"/>
                <a:cs typeface="Verdana"/>
              </a:rPr>
              <a:t>s</a:t>
            </a:r>
            <a:r>
              <a:rPr lang="en-US" spc="-83" dirty="0">
                <a:latin typeface="Verdana"/>
                <a:cs typeface="Verdana"/>
              </a:rPr>
              <a:t> </a:t>
            </a:r>
            <a:r>
              <a:rPr lang="en-US" spc="101" dirty="0">
                <a:latin typeface="Verdana"/>
                <a:cs typeface="Verdana"/>
              </a:rPr>
              <a:t>a</a:t>
            </a:r>
            <a:r>
              <a:rPr lang="en-US" spc="-41" dirty="0">
                <a:latin typeface="Verdana"/>
                <a:cs typeface="Verdana"/>
              </a:rPr>
              <a:t>n</a:t>
            </a:r>
            <a:r>
              <a:rPr lang="en-US" spc="83" dirty="0">
                <a:latin typeface="Verdana"/>
                <a:cs typeface="Verdana"/>
              </a:rPr>
              <a:t>d</a:t>
            </a:r>
            <a:r>
              <a:rPr lang="en-US" spc="-98" dirty="0">
                <a:latin typeface="Verdana"/>
                <a:cs typeface="Verdana"/>
              </a:rPr>
              <a:t> </a:t>
            </a:r>
            <a:r>
              <a:rPr lang="en-US" spc="-86" dirty="0">
                <a:latin typeface="Verdana"/>
                <a:cs typeface="Verdana"/>
              </a:rPr>
              <a:t>i</a:t>
            </a:r>
            <a:r>
              <a:rPr lang="en-US" spc="-41" dirty="0">
                <a:latin typeface="Verdana"/>
                <a:cs typeface="Verdana"/>
              </a:rPr>
              <a:t>n</a:t>
            </a:r>
            <a:r>
              <a:rPr lang="en-US" spc="-86" dirty="0">
                <a:latin typeface="Verdana"/>
                <a:cs typeface="Verdana"/>
              </a:rPr>
              <a:t>t</a:t>
            </a:r>
            <a:r>
              <a:rPr lang="en-US" dirty="0">
                <a:latin typeface="Verdana"/>
                <a:cs typeface="Verdana"/>
              </a:rPr>
              <a:t>roduc</a:t>
            </a:r>
            <a:r>
              <a:rPr lang="en-US" spc="11" dirty="0">
                <a:latin typeface="Verdana"/>
                <a:cs typeface="Verdana"/>
              </a:rPr>
              <a:t>i</a:t>
            </a:r>
            <a:r>
              <a:rPr lang="en-US" spc="-41" dirty="0">
                <a:latin typeface="Verdana"/>
                <a:cs typeface="Verdana"/>
              </a:rPr>
              <a:t>n</a:t>
            </a:r>
            <a:r>
              <a:rPr lang="en-US" spc="64" dirty="0">
                <a:latin typeface="Verdana"/>
                <a:cs typeface="Verdana"/>
              </a:rPr>
              <a:t>g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86" dirty="0">
                <a:latin typeface="Verdana"/>
                <a:cs typeface="Verdana"/>
              </a:rPr>
              <a:t>t</a:t>
            </a:r>
            <a:r>
              <a:rPr lang="en-US" spc="-41" dirty="0">
                <a:latin typeface="Verdana"/>
                <a:cs typeface="Verdana"/>
              </a:rPr>
              <a:t>h</a:t>
            </a:r>
            <a:r>
              <a:rPr lang="en-US" spc="71" dirty="0">
                <a:latin typeface="Verdana"/>
                <a:cs typeface="Verdana"/>
              </a:rPr>
              <a:t>e</a:t>
            </a:r>
            <a:r>
              <a:rPr lang="en-US" spc="-75" dirty="0">
                <a:latin typeface="Verdana"/>
                <a:cs typeface="Verdana"/>
              </a:rPr>
              <a:t> </a:t>
            </a:r>
            <a:r>
              <a:rPr lang="en-US" spc="-165" dirty="0">
                <a:latin typeface="Verdana"/>
                <a:cs typeface="Verdana"/>
              </a:rPr>
              <a:t>r</a:t>
            </a:r>
            <a:r>
              <a:rPr lang="en-US" spc="-94" dirty="0">
                <a:latin typeface="Verdana"/>
                <a:cs typeface="Verdana"/>
              </a:rPr>
              <a:t>i</a:t>
            </a:r>
            <a:r>
              <a:rPr lang="en-US" spc="-127" dirty="0">
                <a:latin typeface="Verdana"/>
                <a:cs typeface="Verdana"/>
              </a:rPr>
              <a:t>sk  </a:t>
            </a:r>
            <a:r>
              <a:rPr lang="en-US" spc="-79" dirty="0">
                <a:latin typeface="Verdana"/>
                <a:cs typeface="Verdana"/>
              </a:rPr>
              <a:t>dr</a:t>
            </a:r>
            <a:r>
              <a:rPr lang="en-US" spc="-26" dirty="0">
                <a:latin typeface="Verdana"/>
                <a:cs typeface="Verdana"/>
              </a:rPr>
              <a:t>i</a:t>
            </a:r>
            <a:r>
              <a:rPr lang="en-US" spc="-49" dirty="0">
                <a:latin typeface="Verdana"/>
                <a:cs typeface="Verdana"/>
              </a:rPr>
              <a:t>v</a:t>
            </a:r>
            <a:r>
              <a:rPr lang="en-US" spc="64" dirty="0">
                <a:latin typeface="Verdana"/>
                <a:cs typeface="Verdana"/>
              </a:rPr>
              <a:t>e</a:t>
            </a:r>
            <a:r>
              <a:rPr lang="en-US" spc="-34" dirty="0">
                <a:latin typeface="Verdana"/>
                <a:cs typeface="Verdana"/>
              </a:rPr>
              <a:t>n</a:t>
            </a:r>
            <a:r>
              <a:rPr lang="en-US" spc="-113" dirty="0">
                <a:latin typeface="Verdana"/>
                <a:cs typeface="Verdana"/>
              </a:rPr>
              <a:t> </a:t>
            </a:r>
            <a:r>
              <a:rPr lang="en-US" spc="101" dirty="0">
                <a:latin typeface="Verdana"/>
                <a:cs typeface="Verdana"/>
              </a:rPr>
              <a:t>a</a:t>
            </a:r>
            <a:r>
              <a:rPr lang="en-US" spc="75" dirty="0">
                <a:latin typeface="Verdana"/>
                <a:cs typeface="Verdana"/>
              </a:rPr>
              <a:t>p</a:t>
            </a:r>
            <a:r>
              <a:rPr lang="en-US" spc="71" dirty="0">
                <a:latin typeface="Verdana"/>
                <a:cs typeface="Verdana"/>
              </a:rPr>
              <a:t>p</a:t>
            </a:r>
            <a:r>
              <a:rPr lang="en-US" dirty="0">
                <a:latin typeface="Verdana"/>
                <a:cs typeface="Verdana"/>
              </a:rPr>
              <a:t>ro</a:t>
            </a:r>
            <a:r>
              <a:rPr lang="en-US" spc="-11" dirty="0">
                <a:latin typeface="Verdana"/>
                <a:cs typeface="Verdana"/>
              </a:rPr>
              <a:t>a</a:t>
            </a:r>
            <a:r>
              <a:rPr lang="en-US" spc="68" dirty="0">
                <a:latin typeface="Verdana"/>
                <a:cs typeface="Verdana"/>
              </a:rPr>
              <a:t>ch</a:t>
            </a:r>
            <a:r>
              <a:rPr lang="en-US" spc="-109" dirty="0">
                <a:latin typeface="Verdana"/>
                <a:cs typeface="Verdana"/>
              </a:rPr>
              <a:t> </a:t>
            </a:r>
            <a:r>
              <a:rPr lang="en-US" spc="-8" dirty="0">
                <a:latin typeface="Verdana"/>
                <a:cs typeface="Verdana"/>
              </a:rPr>
              <a:t>to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30" dirty="0">
                <a:latin typeface="Verdana"/>
                <a:cs typeface="Verdana"/>
              </a:rPr>
              <a:t>de</a:t>
            </a:r>
            <a:r>
              <a:rPr lang="en-US" spc="45" dirty="0">
                <a:latin typeface="Verdana"/>
                <a:cs typeface="Verdana"/>
              </a:rPr>
              <a:t>v</a:t>
            </a:r>
            <a:r>
              <a:rPr lang="en-US" spc="64" dirty="0">
                <a:latin typeface="Verdana"/>
                <a:cs typeface="Verdana"/>
              </a:rPr>
              <a:t>e</a:t>
            </a:r>
            <a:r>
              <a:rPr lang="en-US" spc="-94" dirty="0">
                <a:latin typeface="Verdana"/>
                <a:cs typeface="Verdana"/>
              </a:rPr>
              <a:t>l</a:t>
            </a:r>
            <a:r>
              <a:rPr lang="en-US" spc="71" dirty="0">
                <a:latin typeface="Verdana"/>
                <a:cs typeface="Verdana"/>
              </a:rPr>
              <a:t>o</a:t>
            </a:r>
            <a:r>
              <a:rPr lang="en-US" spc="64" dirty="0">
                <a:latin typeface="Verdana"/>
                <a:cs typeface="Verdana"/>
              </a:rPr>
              <a:t>p</a:t>
            </a:r>
            <a:r>
              <a:rPr lang="en-US" spc="-4" dirty="0">
                <a:latin typeface="Verdana"/>
                <a:cs typeface="Verdana"/>
              </a:rPr>
              <a:t>me</a:t>
            </a:r>
            <a:r>
              <a:rPr lang="en-US" spc="-11" dirty="0">
                <a:latin typeface="Verdana"/>
                <a:cs typeface="Verdana"/>
              </a:rPr>
              <a:t>n</a:t>
            </a:r>
            <a:r>
              <a:rPr lang="en-US" spc="-86" dirty="0">
                <a:latin typeface="Verdana"/>
                <a:cs typeface="Verdana"/>
              </a:rPr>
              <a:t>t</a:t>
            </a:r>
            <a:r>
              <a:rPr lang="en-US" spc="-120" dirty="0">
                <a:latin typeface="Verdana"/>
                <a:cs typeface="Verdana"/>
              </a:rPr>
              <a:t>.</a:t>
            </a:r>
            <a:endParaRPr lang="en-US" dirty="0">
              <a:latin typeface="Verdana"/>
              <a:cs typeface="Verdana"/>
            </a:endParaRPr>
          </a:p>
          <a:p>
            <a:pPr>
              <a:tabLst>
                <a:tab pos="266224" algn="l"/>
              </a:tabLst>
            </a:pPr>
            <a:r>
              <a:rPr lang="en-US" spc="-139" dirty="0">
                <a:latin typeface="Verdana"/>
                <a:cs typeface="Verdana"/>
              </a:rPr>
              <a:t>In</a:t>
            </a:r>
            <a:r>
              <a:rPr lang="en-US" spc="-113" dirty="0">
                <a:latin typeface="Verdana"/>
                <a:cs typeface="Verdana"/>
              </a:rPr>
              <a:t> </a:t>
            </a:r>
            <a:r>
              <a:rPr lang="en-US" spc="11" dirty="0">
                <a:latin typeface="Verdana"/>
                <a:cs typeface="Verdana"/>
              </a:rPr>
              <a:t>practice,</a:t>
            </a:r>
            <a:r>
              <a:rPr lang="en-US" spc="-105" dirty="0">
                <a:latin typeface="Verdana"/>
                <a:cs typeface="Verdana"/>
              </a:rPr>
              <a:t> </a:t>
            </a:r>
            <a:r>
              <a:rPr lang="en-US" spc="-23" dirty="0">
                <a:latin typeface="Verdana"/>
                <a:cs typeface="Verdana"/>
              </a:rPr>
              <a:t>however,</a:t>
            </a:r>
            <a:r>
              <a:rPr lang="en-US" spc="-71" dirty="0">
                <a:latin typeface="Verdana"/>
                <a:cs typeface="Verdana"/>
              </a:rPr>
              <a:t> </a:t>
            </a:r>
            <a:r>
              <a:rPr lang="en-US" spc="-19" dirty="0">
                <a:latin typeface="Verdana"/>
                <a:cs typeface="Verdana"/>
              </a:rPr>
              <a:t>the</a:t>
            </a:r>
            <a:r>
              <a:rPr lang="en-US" spc="-86" dirty="0">
                <a:latin typeface="Verdana"/>
                <a:cs typeface="Verdana"/>
              </a:rPr>
              <a:t> </a:t>
            </a:r>
            <a:r>
              <a:rPr lang="en-US" spc="11" dirty="0">
                <a:latin typeface="Verdana"/>
                <a:cs typeface="Verdana"/>
              </a:rPr>
              <a:t>model</a:t>
            </a:r>
            <a:r>
              <a:rPr lang="en-US" spc="-94" dirty="0">
                <a:latin typeface="Verdana"/>
                <a:cs typeface="Verdana"/>
              </a:rPr>
              <a:t> </a:t>
            </a:r>
            <a:r>
              <a:rPr lang="en-US" spc="-131" dirty="0">
                <a:latin typeface="Verdana"/>
                <a:cs typeface="Verdana"/>
              </a:rPr>
              <a:t>is</a:t>
            </a:r>
            <a:r>
              <a:rPr lang="en-US" spc="-120" dirty="0">
                <a:latin typeface="Verdana"/>
                <a:cs typeface="Verdana"/>
              </a:rPr>
              <a:t> </a:t>
            </a:r>
            <a:r>
              <a:rPr lang="en-US" spc="-60" dirty="0">
                <a:latin typeface="Verdana"/>
                <a:cs typeface="Verdana"/>
              </a:rPr>
              <a:t>rarely</a:t>
            </a:r>
            <a:r>
              <a:rPr lang="en-US" dirty="0" smtClean="0">
                <a:latin typeface="Verdana"/>
                <a:cs typeface="Verdana"/>
              </a:rPr>
              <a:t> </a:t>
            </a:r>
            <a:r>
              <a:rPr lang="en-US" spc="-64" dirty="0">
                <a:latin typeface="Verdana"/>
                <a:cs typeface="Verdana"/>
              </a:rPr>
              <a:t>used:</a:t>
            </a:r>
            <a:endParaRPr lang="en-US" dirty="0">
              <a:latin typeface="Verdana"/>
              <a:cs typeface="Verdana"/>
            </a:endParaRPr>
          </a:p>
          <a:p>
            <a:pPr marL="352425">
              <a:spcBef>
                <a:spcPts val="754"/>
              </a:spcBef>
              <a:tabLst>
                <a:tab pos="567214" algn="l"/>
              </a:tabLst>
            </a:pPr>
            <a:r>
              <a:rPr lang="en-US" sz="1800" spc="68" dirty="0">
                <a:latin typeface="Verdana"/>
                <a:cs typeface="Verdana"/>
              </a:rPr>
              <a:t>Can</a:t>
            </a:r>
            <a:r>
              <a:rPr lang="en-US" sz="1800" spc="-94" dirty="0">
                <a:latin typeface="Verdana"/>
                <a:cs typeface="Verdana"/>
              </a:rPr>
              <a:t> </a:t>
            </a:r>
            <a:r>
              <a:rPr lang="en-US" sz="1800" spc="60" dirty="0">
                <a:latin typeface="Verdana"/>
                <a:cs typeface="Verdana"/>
              </a:rPr>
              <a:t>b</a:t>
            </a:r>
            <a:r>
              <a:rPr lang="en-US" sz="1800" spc="64" dirty="0">
                <a:latin typeface="Verdana"/>
                <a:cs typeface="Verdana"/>
              </a:rPr>
              <a:t>e</a:t>
            </a:r>
            <a:r>
              <a:rPr lang="en-US" sz="1800" spc="-101" dirty="0">
                <a:latin typeface="Verdana"/>
                <a:cs typeface="Verdana"/>
              </a:rPr>
              <a:t> </a:t>
            </a:r>
            <a:r>
              <a:rPr lang="en-US" sz="1800" spc="94" dirty="0">
                <a:latin typeface="Verdana"/>
                <a:cs typeface="Verdana"/>
              </a:rPr>
              <a:t>a</a:t>
            </a:r>
            <a:r>
              <a:rPr lang="en-US" sz="1800" spc="-98" dirty="0">
                <a:latin typeface="Verdana"/>
                <a:cs typeface="Verdana"/>
              </a:rPr>
              <a:t> </a:t>
            </a:r>
            <a:r>
              <a:rPr lang="en-US" sz="1800" spc="-8" dirty="0">
                <a:latin typeface="Verdana"/>
                <a:cs typeface="Verdana"/>
              </a:rPr>
              <a:t>cos</a:t>
            </a:r>
            <a:r>
              <a:rPr lang="en-US" sz="1800" spc="-15" dirty="0">
                <a:latin typeface="Verdana"/>
                <a:cs typeface="Verdana"/>
              </a:rPr>
              <a:t>t</a:t>
            </a:r>
            <a:r>
              <a:rPr lang="en-US" sz="1800" spc="-79" dirty="0">
                <a:latin typeface="Verdana"/>
                <a:cs typeface="Verdana"/>
              </a:rPr>
              <a:t>l</a:t>
            </a:r>
            <a:r>
              <a:rPr lang="en-US" sz="1800" spc="-71" dirty="0">
                <a:latin typeface="Verdana"/>
                <a:cs typeface="Verdana"/>
              </a:rPr>
              <a:t>y</a:t>
            </a:r>
            <a:r>
              <a:rPr lang="en-US" sz="1800" spc="-79" dirty="0">
                <a:latin typeface="Verdana"/>
                <a:cs typeface="Verdana"/>
              </a:rPr>
              <a:t> </a:t>
            </a:r>
            <a:r>
              <a:rPr lang="en-US" sz="1800" spc="38" dirty="0">
                <a:latin typeface="Verdana"/>
                <a:cs typeface="Verdana"/>
              </a:rPr>
              <a:t>mod</a:t>
            </a:r>
            <a:r>
              <a:rPr lang="en-US" sz="1800" spc="26" dirty="0">
                <a:latin typeface="Verdana"/>
                <a:cs typeface="Verdana"/>
              </a:rPr>
              <a:t>e</a:t>
            </a:r>
            <a:r>
              <a:rPr lang="en-US" sz="1800" spc="-90" dirty="0">
                <a:latin typeface="Verdana"/>
                <a:cs typeface="Verdana"/>
              </a:rPr>
              <a:t>l</a:t>
            </a:r>
            <a:r>
              <a:rPr lang="en-US" sz="1800" spc="-79" dirty="0">
                <a:latin typeface="Verdana"/>
                <a:cs typeface="Verdana"/>
              </a:rPr>
              <a:t> t</a:t>
            </a:r>
            <a:r>
              <a:rPr lang="en-US" sz="1800" spc="53" dirty="0">
                <a:latin typeface="Verdana"/>
                <a:cs typeface="Verdana"/>
              </a:rPr>
              <a:t>o</a:t>
            </a:r>
            <a:r>
              <a:rPr lang="en-US" sz="1800" spc="-90" dirty="0">
                <a:latin typeface="Verdana"/>
                <a:cs typeface="Verdana"/>
              </a:rPr>
              <a:t> </a:t>
            </a:r>
            <a:r>
              <a:rPr lang="en-US" sz="1800" spc="-98" dirty="0">
                <a:latin typeface="Verdana"/>
                <a:cs typeface="Verdana"/>
              </a:rPr>
              <a:t>us</a:t>
            </a:r>
            <a:r>
              <a:rPr lang="en-US" sz="1800" spc="60" dirty="0">
                <a:latin typeface="Verdana"/>
                <a:cs typeface="Verdana"/>
              </a:rPr>
              <a:t>e</a:t>
            </a:r>
            <a:endParaRPr lang="en-US" sz="1800" dirty="0">
              <a:latin typeface="Verdana"/>
              <a:cs typeface="Verdana"/>
            </a:endParaRPr>
          </a:p>
          <a:p>
            <a:pPr marL="352425">
              <a:spcBef>
                <a:spcPts val="746"/>
              </a:spcBef>
              <a:tabLst>
                <a:tab pos="567214" algn="l"/>
              </a:tabLst>
            </a:pPr>
            <a:r>
              <a:rPr lang="en-US" sz="1800" spc="-120" dirty="0">
                <a:latin typeface="Verdana"/>
                <a:cs typeface="Verdana"/>
              </a:rPr>
              <a:t>Risk</a:t>
            </a:r>
            <a:r>
              <a:rPr lang="en-US" sz="1800" spc="-86" dirty="0">
                <a:latin typeface="Verdana"/>
                <a:cs typeface="Verdana"/>
              </a:rPr>
              <a:t> </a:t>
            </a:r>
            <a:r>
              <a:rPr lang="en-US" sz="1800" spc="-53" dirty="0">
                <a:latin typeface="Verdana"/>
                <a:cs typeface="Verdana"/>
              </a:rPr>
              <a:t>analysis</a:t>
            </a:r>
            <a:r>
              <a:rPr lang="en-US" sz="1800" spc="-105" dirty="0">
                <a:latin typeface="Verdana"/>
                <a:cs typeface="Verdana"/>
              </a:rPr>
              <a:t> </a:t>
            </a:r>
            <a:r>
              <a:rPr lang="en-US" sz="1800" spc="-53" dirty="0">
                <a:latin typeface="Verdana"/>
                <a:cs typeface="Verdana"/>
              </a:rPr>
              <a:t>requires</a:t>
            </a:r>
            <a:r>
              <a:rPr lang="en-US" sz="1800" spc="-79" dirty="0">
                <a:latin typeface="Verdana"/>
                <a:cs typeface="Verdana"/>
              </a:rPr>
              <a:t> </a:t>
            </a:r>
            <a:r>
              <a:rPr lang="en-US" sz="1800" spc="-41" dirty="0">
                <a:latin typeface="Verdana"/>
                <a:cs typeface="Verdana"/>
              </a:rPr>
              <a:t>highly</a:t>
            </a:r>
            <a:r>
              <a:rPr lang="en-US" sz="1800" spc="-86" dirty="0">
                <a:latin typeface="Verdana"/>
                <a:cs typeface="Verdana"/>
              </a:rPr>
              <a:t> </a:t>
            </a:r>
            <a:r>
              <a:rPr lang="en-US" sz="1800" dirty="0">
                <a:latin typeface="Verdana"/>
                <a:cs typeface="Verdana"/>
              </a:rPr>
              <a:t>specific</a:t>
            </a:r>
            <a:r>
              <a:rPr lang="en-US" sz="1800" spc="-90" dirty="0">
                <a:latin typeface="Verdana"/>
                <a:cs typeface="Verdana"/>
              </a:rPr>
              <a:t> </a:t>
            </a:r>
            <a:r>
              <a:rPr lang="en-US" sz="1800" spc="-41" dirty="0">
                <a:latin typeface="Verdana"/>
                <a:cs typeface="Verdana"/>
              </a:rPr>
              <a:t>expertise</a:t>
            </a:r>
            <a:endParaRPr lang="en-US" sz="1800" dirty="0">
              <a:latin typeface="Verdana"/>
              <a:cs typeface="Verdana"/>
            </a:endParaRPr>
          </a:p>
          <a:p>
            <a:pPr marL="352425">
              <a:spcBef>
                <a:spcPts val="758"/>
              </a:spcBef>
              <a:tabLst>
                <a:tab pos="567214" algn="l"/>
              </a:tabLst>
            </a:pPr>
            <a:r>
              <a:rPr lang="en-US" sz="1800" spc="23" dirty="0">
                <a:latin typeface="Verdana"/>
                <a:cs typeface="Verdana"/>
              </a:rPr>
              <a:t>Do</a:t>
            </a:r>
            <a:r>
              <a:rPr lang="en-US" sz="1800" spc="15" dirty="0">
                <a:latin typeface="Verdana"/>
                <a:cs typeface="Verdana"/>
              </a:rPr>
              <a:t>e</a:t>
            </a:r>
            <a:r>
              <a:rPr lang="en-US" sz="1800" spc="-41" dirty="0">
                <a:latin typeface="Verdana"/>
                <a:cs typeface="Verdana"/>
              </a:rPr>
              <a:t>sn</a:t>
            </a:r>
            <a:r>
              <a:rPr lang="en-US" sz="1800" spc="-19" dirty="0">
                <a:latin typeface="Verdana"/>
                <a:cs typeface="Verdana"/>
              </a:rPr>
              <a:t>’</a:t>
            </a:r>
            <a:r>
              <a:rPr lang="en-US" sz="1800" spc="-68" dirty="0">
                <a:latin typeface="Verdana"/>
                <a:cs typeface="Verdana"/>
              </a:rPr>
              <a:t>t</a:t>
            </a:r>
            <a:r>
              <a:rPr lang="en-US" sz="1800" spc="-94" dirty="0">
                <a:latin typeface="Verdana"/>
                <a:cs typeface="Verdana"/>
              </a:rPr>
              <a:t> </a:t>
            </a:r>
            <a:r>
              <a:rPr lang="en-US" sz="1800" spc="-15" dirty="0">
                <a:latin typeface="Verdana"/>
                <a:cs typeface="Verdana"/>
              </a:rPr>
              <a:t>w</a:t>
            </a:r>
            <a:r>
              <a:rPr lang="en-US" sz="1800" spc="-71" dirty="0">
                <a:latin typeface="Verdana"/>
                <a:cs typeface="Verdana"/>
              </a:rPr>
              <a:t>ork</a:t>
            </a:r>
            <a:r>
              <a:rPr lang="en-US" sz="1800" spc="-64" dirty="0">
                <a:latin typeface="Verdana"/>
                <a:cs typeface="Verdana"/>
              </a:rPr>
              <a:t> </a:t>
            </a:r>
            <a:r>
              <a:rPr lang="en-US" sz="1800" spc="-15" dirty="0">
                <a:latin typeface="Verdana"/>
                <a:cs typeface="Verdana"/>
              </a:rPr>
              <a:t>w</a:t>
            </a:r>
            <a:r>
              <a:rPr lang="en-US" sz="1800" spc="56" dirty="0">
                <a:latin typeface="Verdana"/>
                <a:cs typeface="Verdana"/>
              </a:rPr>
              <a:t>e</a:t>
            </a:r>
            <a:r>
              <a:rPr lang="en-US" sz="1800" spc="-79" dirty="0">
                <a:latin typeface="Verdana"/>
                <a:cs typeface="Verdana"/>
              </a:rPr>
              <a:t>l</a:t>
            </a:r>
            <a:r>
              <a:rPr lang="en-US" sz="1800" spc="-90" dirty="0">
                <a:latin typeface="Verdana"/>
                <a:cs typeface="Verdana"/>
              </a:rPr>
              <a:t>l</a:t>
            </a:r>
            <a:r>
              <a:rPr lang="en-US" sz="1800" spc="-71" dirty="0">
                <a:latin typeface="Verdana"/>
                <a:cs typeface="Verdana"/>
              </a:rPr>
              <a:t> </a:t>
            </a:r>
            <a:r>
              <a:rPr lang="en-US" sz="1800" spc="-49" dirty="0">
                <a:latin typeface="Verdana"/>
                <a:cs typeface="Verdana"/>
              </a:rPr>
              <a:t>for</a:t>
            </a:r>
            <a:r>
              <a:rPr lang="en-US" sz="1800" spc="-94" dirty="0">
                <a:latin typeface="Verdana"/>
                <a:cs typeface="Verdana"/>
              </a:rPr>
              <a:t> </a:t>
            </a:r>
            <a:r>
              <a:rPr lang="en-US" sz="1800" spc="-158" dirty="0">
                <a:latin typeface="Verdana"/>
                <a:cs typeface="Verdana"/>
              </a:rPr>
              <a:t>s</a:t>
            </a:r>
            <a:r>
              <a:rPr lang="en-US" sz="1800" spc="26" dirty="0">
                <a:latin typeface="Verdana"/>
                <a:cs typeface="Verdana"/>
              </a:rPr>
              <a:t>ma</a:t>
            </a:r>
            <a:r>
              <a:rPr lang="en-US" sz="1800" spc="-79" dirty="0">
                <a:latin typeface="Verdana"/>
                <a:cs typeface="Verdana"/>
              </a:rPr>
              <a:t>ll</a:t>
            </a:r>
            <a:r>
              <a:rPr lang="en-US" sz="1800" spc="56" dirty="0">
                <a:latin typeface="Verdana"/>
                <a:cs typeface="Verdana"/>
              </a:rPr>
              <a:t>e</a:t>
            </a:r>
            <a:r>
              <a:rPr lang="en-US" sz="1800" spc="-153" dirty="0">
                <a:latin typeface="Verdana"/>
                <a:cs typeface="Verdana"/>
              </a:rPr>
              <a:t>r</a:t>
            </a:r>
            <a:r>
              <a:rPr lang="en-US" sz="1800" spc="-109" dirty="0">
                <a:latin typeface="Verdana"/>
                <a:cs typeface="Verdana"/>
              </a:rPr>
              <a:t> </a:t>
            </a:r>
            <a:r>
              <a:rPr lang="en-US" sz="1800" spc="-15" dirty="0">
                <a:latin typeface="Verdana"/>
                <a:cs typeface="Verdana"/>
              </a:rPr>
              <a:t>projec</a:t>
            </a:r>
            <a:r>
              <a:rPr lang="en-US" sz="1800" spc="-23" dirty="0">
                <a:latin typeface="Verdana"/>
                <a:cs typeface="Verdana"/>
              </a:rPr>
              <a:t>t</a:t>
            </a:r>
            <a:r>
              <a:rPr lang="en-US" sz="1800" spc="-139" dirty="0">
                <a:latin typeface="Verdana"/>
                <a:cs typeface="Verdana"/>
              </a:rPr>
              <a:t>s.</a:t>
            </a:r>
            <a:endParaRPr lang="en-US" sz="1800" dirty="0">
              <a:latin typeface="Verdana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0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dirty="0" smtClean="0"/>
              <a:t>When to use 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 fontAlgn="base"/>
            <a:r>
              <a:rPr lang="en-US" dirty="0"/>
              <a:t>The following pointers explain the typical uses of a Spiral Model </a:t>
            </a:r>
            <a:r>
              <a:rPr lang="en-US" dirty="0" smtClean="0"/>
              <a:t>−</a:t>
            </a:r>
            <a:endParaRPr lang="en-US" dirty="0"/>
          </a:p>
          <a:p>
            <a:pPr algn="just" fontAlgn="base"/>
            <a:r>
              <a:rPr lang="en-US" dirty="0"/>
              <a:t>For medium to high-risk projects.</a:t>
            </a:r>
          </a:p>
          <a:p>
            <a:pPr algn="just" fontAlgn="base"/>
            <a:r>
              <a:rPr lang="en-US" dirty="0"/>
              <a:t>Long-term project commitment because of potential changes to economic priorities as the requirements change with time.</a:t>
            </a:r>
          </a:p>
          <a:p>
            <a:pPr algn="just" fontAlgn="base"/>
            <a:r>
              <a:rPr lang="en-US" dirty="0"/>
              <a:t>Customer is not sure of their requirements which is usually the case.</a:t>
            </a:r>
          </a:p>
          <a:p>
            <a:pPr algn="just" fontAlgn="base"/>
            <a:r>
              <a:rPr lang="en-US" dirty="0"/>
              <a:t>Requirements are complex and need evaluation to get clarity.</a:t>
            </a:r>
          </a:p>
          <a:p>
            <a:pPr algn="just" fontAlgn="base"/>
            <a:r>
              <a:rPr lang="en-US" dirty="0"/>
              <a:t>New product line which should be released in phases to get enough customer feedback.</a:t>
            </a:r>
          </a:p>
          <a:p>
            <a:pPr algn="just" fontAlgn="base"/>
            <a:r>
              <a:rPr lang="en-US" dirty="0"/>
              <a:t>Significant changes are expected in the product during the development cycle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3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025" y="460375"/>
            <a:ext cx="5898159" cy="369332"/>
          </a:xfrm>
        </p:spPr>
        <p:txBody>
          <a:bodyPr/>
          <a:lstStyle/>
          <a:p>
            <a:r>
              <a:rPr lang="en-US" smtClean="0"/>
              <a:t>Advantages &amp; Disadvantages</a:t>
            </a:r>
            <a:endParaRPr lang="en-US"/>
          </a:p>
        </p:txBody>
      </p:sp>
      <p:graphicFrame>
        <p:nvGraphicFramePr>
          <p:cNvPr id="4" name="object 17"/>
          <p:cNvGraphicFramePr>
            <a:graphicFrameLocks noGrp="1"/>
          </p:cNvGraphicFramePr>
          <p:nvPr>
            <p:extLst/>
          </p:nvPr>
        </p:nvGraphicFramePr>
        <p:xfrm>
          <a:off x="827561" y="2431351"/>
          <a:ext cx="7294270" cy="27366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26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16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729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spc="-1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Benefits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3476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Drawbacks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T="3476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1912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00" spc="-1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ll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ows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he</a:t>
                      </a:r>
                      <a:r>
                        <a:rPr sz="15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spc="-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pr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ping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333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0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nagem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nt</a:t>
                      </a:r>
                      <a:r>
                        <a:rPr sz="1500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mo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</a:t>
                      </a:r>
                      <a:endParaRPr sz="1500">
                        <a:latin typeface="Verdana"/>
                        <a:cs typeface="Verdana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500" spc="20" dirty="0">
                          <a:latin typeface="Verdana"/>
                          <a:cs typeface="Verdana"/>
                        </a:rPr>
                        <a:t>complex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333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2032">
                <a:tc>
                  <a:txBody>
                    <a:bodyPr/>
                    <a:lstStyle/>
                    <a:p>
                      <a:pPr marL="99060" marR="3327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dirty="0">
                          <a:latin typeface="Verdana"/>
                          <a:cs typeface="Verdana"/>
                        </a:rPr>
                        <a:t>C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ien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5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spc="-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he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sys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em  ear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on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38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A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47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spc="-5" dirty="0">
                          <a:latin typeface="Verdana"/>
                          <a:cs typeface="Verdana"/>
                        </a:rPr>
                        <a:t>Shou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500" spc="-1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1500" spc="-1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spc="-1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ed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r 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ll</a:t>
                      </a:r>
                      <a:r>
                        <a:rPr sz="15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pr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j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ec</a:t>
                      </a:r>
                      <a:r>
                        <a:rPr sz="1500" spc="10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38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5405">
                <a:tc>
                  <a:txBody>
                    <a:bodyPr/>
                    <a:lstStyle/>
                    <a:p>
                      <a:pPr marL="99060" marR="401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dirty="0">
                          <a:latin typeface="Verdana"/>
                          <a:cs typeface="Verdana"/>
                        </a:rPr>
                        <a:t>Changes</a:t>
                      </a:r>
                      <a:r>
                        <a:rPr sz="1500" spc="-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5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q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eme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ts  can</a:t>
                      </a:r>
                      <a:r>
                        <a:rPr sz="15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spc="-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made</a:t>
                      </a:r>
                      <a:r>
                        <a:rPr sz="15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ea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ily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338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CD2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752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500" dirty="0">
                          <a:latin typeface="Verdana"/>
                          <a:cs typeface="Verdana"/>
                        </a:rPr>
                        <a:t>This</a:t>
                      </a:r>
                      <a:r>
                        <a:rPr sz="15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me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hod</a:t>
                      </a:r>
                      <a:r>
                        <a:rPr sz="15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req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15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es</a:t>
                      </a:r>
                      <a:r>
                        <a:rPr sz="1500" spc="-1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a  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ot</a:t>
                      </a:r>
                      <a:r>
                        <a:rPr sz="1500" spc="-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5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latin typeface="Verdana"/>
                          <a:cs typeface="Verdana"/>
                        </a:rPr>
                        <a:t>d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ocum</a:t>
                      </a:r>
                      <a:r>
                        <a:rPr sz="15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1500" spc="1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1500" spc="-1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500" dirty="0">
                          <a:latin typeface="Verdana"/>
                          <a:cs typeface="Verdana"/>
                        </a:rPr>
                        <a:t>tion</a:t>
                      </a:r>
                    </a:p>
                  </a:txBody>
                  <a:tcPr marL="0" marR="0" marT="338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47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761883"/>
              </p:ext>
            </p:extLst>
          </p:nvPr>
        </p:nvGraphicFramePr>
        <p:xfrm>
          <a:off x="955964" y="443344"/>
          <a:ext cx="7273636" cy="5957454"/>
        </p:xfrm>
        <a:graphic>
          <a:graphicData uri="http://schemas.openxmlformats.org/drawingml/2006/table">
            <a:tbl>
              <a:tblPr/>
              <a:tblGrid>
                <a:gridCol w="1818409">
                  <a:extLst>
                    <a:ext uri="{9D8B030D-6E8A-4147-A177-3AD203B41FA5}">
                      <a16:colId xmlns:a16="http://schemas.microsoft.com/office/drawing/2014/main" xmlns="" val="1174119188"/>
                    </a:ext>
                  </a:extLst>
                </a:gridCol>
                <a:gridCol w="1818409">
                  <a:extLst>
                    <a:ext uri="{9D8B030D-6E8A-4147-A177-3AD203B41FA5}">
                      <a16:colId xmlns:a16="http://schemas.microsoft.com/office/drawing/2014/main" xmlns="" val="2583673360"/>
                    </a:ext>
                  </a:extLst>
                </a:gridCol>
                <a:gridCol w="1818409">
                  <a:extLst>
                    <a:ext uri="{9D8B030D-6E8A-4147-A177-3AD203B41FA5}">
                      <a16:colId xmlns:a16="http://schemas.microsoft.com/office/drawing/2014/main" xmlns="" val="1271023430"/>
                    </a:ext>
                  </a:extLst>
                </a:gridCol>
                <a:gridCol w="1818409">
                  <a:extLst>
                    <a:ext uri="{9D8B030D-6E8A-4147-A177-3AD203B41FA5}">
                      <a16:colId xmlns:a16="http://schemas.microsoft.com/office/drawing/2014/main" xmlns="" val="1427112598"/>
                    </a:ext>
                  </a:extLst>
                </a:gridCol>
              </a:tblGrid>
              <a:tr h="361057">
                <a:tc>
                  <a:txBody>
                    <a:bodyPr/>
                    <a:lstStyle/>
                    <a:p>
                      <a:r>
                        <a:rPr lang="en-US" sz="1300" b="1" dirty="0"/>
                        <a:t>Aspect</a:t>
                      </a:r>
                      <a:endParaRPr lang="en-US" sz="1300" dirty="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Waterfall Model</a:t>
                      </a:r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V-Model</a:t>
                      </a:r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Spiral Model</a:t>
                      </a:r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6343154"/>
                  </a:ext>
                </a:extLst>
              </a:tr>
              <a:tr h="1173438">
                <a:tc>
                  <a:txBody>
                    <a:bodyPr/>
                    <a:lstStyle/>
                    <a:p>
                      <a:r>
                        <a:rPr lang="en-US" sz="1300" b="1"/>
                        <a:t>When to Use</a:t>
                      </a:r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Clear, stable requirements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 Projects requiring rigorous testing and validation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 Complex, high-risk projects with evolving requirements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51761704"/>
                  </a:ext>
                </a:extLst>
              </a:tr>
              <a:tr h="902645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</a:t>
                      </a:r>
                      <a:r>
                        <a:rPr lang="en-US" sz="1300" dirty="0" smtClean="0"/>
                        <a:t>Large </a:t>
                      </a:r>
                      <a:r>
                        <a:rPr lang="en-US" sz="1300" dirty="0"/>
                        <a:t>projects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 Safety-critical systems (e.g., medical, aviation)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 Projects requiring frequent revisions and risk analysis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46927484"/>
                  </a:ext>
                </a:extLst>
              </a:tr>
              <a:tr h="1173438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Well-defined technology and tools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Where defect detection at every stage is crucial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Large-scale projects with uncertain requirements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21993858"/>
                  </a:ext>
                </a:extLst>
              </a:tr>
              <a:tr h="1444231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- Minimal changes expected after the project starts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When thorough documentation and traceability are needed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Projects where flexibility and iterative development are essential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85763260"/>
                  </a:ext>
                </a:extLst>
              </a:tr>
              <a:tr h="902645">
                <a:tc>
                  <a:txBody>
                    <a:bodyPr/>
                    <a:lstStyle/>
                    <a:p>
                      <a:r>
                        <a:rPr lang="en-US" sz="1300" b="1"/>
                        <a:t>Examples</a:t>
                      </a:r>
                      <a:endParaRPr lang="en-US" sz="1300"/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/>
                        <a:t>- </a:t>
                      </a:r>
                      <a:r>
                        <a:rPr lang="en-US" sz="1300" dirty="0" err="1" smtClean="0"/>
                        <a:t>Govt</a:t>
                      </a:r>
                      <a:r>
                        <a:rPr lang="en-US" sz="1300" dirty="0" smtClean="0"/>
                        <a:t> </a:t>
                      </a:r>
                      <a:r>
                        <a:rPr lang="en-US" sz="1300" dirty="0"/>
                        <a:t>Payroll management systems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Medical device software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- Aerospace or defense systems</a:t>
                      </a:r>
                    </a:p>
                  </a:txBody>
                  <a:tcPr marL="68311" marR="68311" marT="34155" marB="34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0012812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49400" y="1625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4415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3015</Words>
  <Application>Microsoft Office PowerPoint</Application>
  <PresentationFormat>On-screen Show (4:3)</PresentationFormat>
  <Paragraphs>447</Paragraphs>
  <Slides>62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Arial MT</vt:lpstr>
      <vt:lpstr>Calibri</vt:lpstr>
      <vt:lpstr>Tahoma</vt:lpstr>
      <vt:lpstr>Verdana</vt:lpstr>
      <vt:lpstr>Wingdings</vt:lpstr>
      <vt:lpstr>Office Theme</vt:lpstr>
      <vt:lpstr>Chapter 2 – Software Processes</vt:lpstr>
      <vt:lpstr>PowerPoint Presentation</vt:lpstr>
      <vt:lpstr>The software process</vt:lpstr>
      <vt:lpstr>PowerPoint Presentation</vt:lpstr>
      <vt:lpstr>Process activities</vt:lpstr>
      <vt:lpstr>Process activities</vt:lpstr>
      <vt:lpstr>Software specification</vt:lpstr>
      <vt:lpstr>Software design and implementation</vt:lpstr>
      <vt:lpstr>System implementation</vt:lpstr>
      <vt:lpstr>Software validation</vt:lpstr>
      <vt:lpstr>Stages of testing</vt:lpstr>
      <vt:lpstr>Testing stages</vt:lpstr>
      <vt:lpstr>PowerPoint Presentation</vt:lpstr>
      <vt:lpstr>System evolution</vt:lpstr>
      <vt:lpstr>Software process models</vt:lpstr>
      <vt:lpstr>Software process models</vt:lpstr>
      <vt:lpstr>Waterfall</vt:lpstr>
      <vt:lpstr>Waterfall Model</vt:lpstr>
      <vt:lpstr>Waterfall model phases</vt:lpstr>
      <vt:lpstr>Waterfall model problems</vt:lpstr>
      <vt:lpstr>Waterfall</vt:lpstr>
      <vt:lpstr>When to use waterfall model?</vt:lpstr>
      <vt:lpstr>Waterfall</vt:lpstr>
      <vt:lpstr>The modern waterfall model</vt:lpstr>
      <vt:lpstr>Waterfall with feedback</vt:lpstr>
      <vt:lpstr>Waterfall </vt:lpstr>
      <vt:lpstr>PowerPoint Presentation</vt:lpstr>
      <vt:lpstr>PowerPoint Presentation</vt:lpstr>
      <vt:lpstr>V-Model</vt:lpstr>
      <vt:lpstr>V-Model</vt:lpstr>
      <vt:lpstr>Structure of the V-Model</vt:lpstr>
      <vt:lpstr>Phases of the V-Model</vt:lpstr>
      <vt:lpstr>Phases of the V-Model</vt:lpstr>
      <vt:lpstr>Benefits and Drawbacks if V-Model</vt:lpstr>
      <vt:lpstr>When to Use the V-Model </vt:lpstr>
      <vt:lpstr>PowerPoint Presentation</vt:lpstr>
      <vt:lpstr>Definitions</vt:lpstr>
      <vt:lpstr>Incremental Development</vt:lpstr>
      <vt:lpstr>Example: Ecommerce website</vt:lpstr>
      <vt:lpstr>Iterative Development</vt:lpstr>
      <vt:lpstr>Example: Ecommerce website</vt:lpstr>
      <vt:lpstr>Example: Ecommerce website</vt:lpstr>
      <vt:lpstr>Example: Artist painting a picture</vt:lpstr>
      <vt:lpstr>Coping with change</vt:lpstr>
      <vt:lpstr>Coping with change</vt:lpstr>
      <vt:lpstr>PowerPoint Presentation</vt:lpstr>
      <vt:lpstr>Software prototyping</vt:lpstr>
      <vt:lpstr>PowerPoint Presentation</vt:lpstr>
      <vt:lpstr>The process of prototype development</vt:lpstr>
      <vt:lpstr>Prototype development</vt:lpstr>
      <vt:lpstr>Throw-away prototypes</vt:lpstr>
      <vt:lpstr>PowerPoint Presentation</vt:lpstr>
      <vt:lpstr>PowerPoint Presentation</vt:lpstr>
      <vt:lpstr>PowerPoint Presentation</vt:lpstr>
      <vt:lpstr>Tools</vt:lpstr>
      <vt:lpstr>Boehm’s  Spiral Model</vt:lpstr>
      <vt:lpstr>Boehm’s  Spiral Model</vt:lpstr>
      <vt:lpstr>Boehm’s  Spiral  Model</vt:lpstr>
      <vt:lpstr>Spiral Model Usage</vt:lpstr>
      <vt:lpstr>When to use spiral model</vt:lpstr>
      <vt:lpstr>Advantages &amp; Disadvantages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Ansa Liaqat</cp:lastModifiedBy>
  <cp:revision>39</cp:revision>
  <dcterms:created xsi:type="dcterms:W3CDTF">2023-08-31T13:52:30Z</dcterms:created>
  <dcterms:modified xsi:type="dcterms:W3CDTF">2026-01-21T10:31:56Z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2023-08-31T00:00:00Z</vt:filetime>
  </property>
  <property fmtid="{D5CDD505-2E9C-101B-9397-08002B2CF9AE}" pid="5" name="Producer">
    <vt:lpwstr>Microsoft® PowerPoint® 2016</vt:lpwstr>
  </property>
</Properties>
</file>